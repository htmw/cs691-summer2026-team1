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Montserrat"/>
      <p:regular r:id="rId40"/>
      <p:bold r:id="rId41"/>
      <p:italic r:id="rId42"/>
      <p:boldItalic r:id="rId43"/>
    </p:embeddedFont>
    <p:embeddedFont>
      <p:font typeface="Lato"/>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346E1EF-3642-4084-95C9-17A1F96B7006}">
  <a:tblStyle styleId="{4346E1EF-3642-4084-95C9-17A1F96B700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regular.fntdata"/><Relationship Id="rId20" Type="http://schemas.openxmlformats.org/officeDocument/2006/relationships/slide" Target="slides/slide14.xml"/><Relationship Id="rId42" Type="http://schemas.openxmlformats.org/officeDocument/2006/relationships/font" Target="fonts/Montserrat-italic.fntdata"/><Relationship Id="rId41" Type="http://schemas.openxmlformats.org/officeDocument/2006/relationships/font" Target="fonts/Montserrat-bold.fntdata"/><Relationship Id="rId22" Type="http://schemas.openxmlformats.org/officeDocument/2006/relationships/slide" Target="slides/slide16.xml"/><Relationship Id="rId44" Type="http://schemas.openxmlformats.org/officeDocument/2006/relationships/font" Target="fonts/Lato-regular.fntdata"/><Relationship Id="rId21" Type="http://schemas.openxmlformats.org/officeDocument/2006/relationships/slide" Target="slides/slide15.xml"/><Relationship Id="rId43" Type="http://schemas.openxmlformats.org/officeDocument/2006/relationships/font" Target="fonts/Montserrat-boldItalic.fntdata"/><Relationship Id="rId24" Type="http://schemas.openxmlformats.org/officeDocument/2006/relationships/slide" Target="slides/slide18.xml"/><Relationship Id="rId46" Type="http://schemas.openxmlformats.org/officeDocument/2006/relationships/font" Target="fonts/Lato-italic.fntdata"/><Relationship Id="rId23" Type="http://schemas.openxmlformats.org/officeDocument/2006/relationships/slide" Target="slides/slide17.xml"/><Relationship Id="rId45" Type="http://schemas.openxmlformats.org/officeDocument/2006/relationships/font" Target="fonts/La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font" Target="fonts/Lato-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6d31be972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f6d31be972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6d31be972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f6d31be972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6d31be972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f6d31be972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6d31be972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f6d31be972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Tara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6d31be972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6d31be972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6d31be972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f6d31be972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Anndeen &amp; Bella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f6d31be972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f6d31be972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Charles &amp; Tara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f6d31be972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f6d31be972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Younnes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6d31be972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f6d31be972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Bella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6d6278cc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f6d6278cc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Charles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f6d31be972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f6d31be972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Anndeen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f6d31be972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f6d31be972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6d31be972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6d31be972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f6d31be972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f6d31be972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f6d31be972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f6d31be972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f6d7bc9f81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f6d7bc9f81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James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f6d7bc9f8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f6d7bc9f8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James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f6d7bc9f81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f6d7bc9f81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Tara</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6d7bc9f81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f6d7bc9f81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Charles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f6d7bc9f81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f6d7bc9f8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Younnes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f6d7bc9f81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f6d7bc9f81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Bella</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f6d7bc9f8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f6d7bc9f8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Anndeen</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f6d7bc9f8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f6d7bc9f8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James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f6d31be972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f6d31be972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Tara</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f6d7bc9f81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f6d7bc9f81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Younnes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f6d7bc9f81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f6d7bc9f8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f6d7bc9f81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f6d7bc9f81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f6d7bc9f81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f6d7bc9f81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f6d7bc9f81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f6d7bc9f81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f6d7bc9f81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f6d7bc9f81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f6d7bc9f81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f6d7bc9f81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f6d7bc9f81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f6d7bc9f81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hyperlink" Target="https://2026-paceu-capstone.github.io/intelligent-academic-path-optimizer"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7.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claude.ai"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github.com/htmw/CS691-Summer2026-Team1/wiki" TargetMode="External"/><Relationship Id="rId4" Type="http://schemas.openxmlformats.org/officeDocument/2006/relationships/hyperlink" Target="https://2026-paceu-capstone.github.io/intelligent-academic-path-optimize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Sprint 2 Presentation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Agenda</a:t>
            </a:r>
            <a:endParaRPr/>
          </a:p>
        </p:txBody>
      </p:sp>
      <p:sp>
        <p:nvSpPr>
          <p:cNvPr id="140" name="Google Shape;140;p14"/>
          <p:cNvSpPr txBox="1"/>
          <p:nvPr>
            <p:ph idx="1" type="body"/>
          </p:nvPr>
        </p:nvSpPr>
        <p:spPr>
          <a:xfrm>
            <a:off x="829500" y="1567550"/>
            <a:ext cx="3742500" cy="33333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Introduction</a:t>
            </a:r>
            <a:br>
              <a:rPr lang="en"/>
            </a:br>
            <a:r>
              <a:rPr lang="en"/>
              <a:t>	-Team Roles &amp; Responsibilities</a:t>
            </a:r>
            <a:br>
              <a:rPr lang="en"/>
            </a:br>
            <a:r>
              <a:rPr lang="en"/>
              <a:t>	-Feedback</a:t>
            </a:r>
            <a:br>
              <a:rPr lang="en"/>
            </a:br>
            <a:r>
              <a:rPr lang="en"/>
              <a:t>	-Product Description</a:t>
            </a:r>
            <a:br>
              <a:rPr lang="en"/>
            </a:br>
            <a:r>
              <a:rPr lang="en"/>
              <a:t>	-Team Working Agreement</a:t>
            </a:r>
            <a:br>
              <a:rPr lang="en"/>
            </a:br>
            <a:r>
              <a:rPr lang="en"/>
              <a:t>	-Personas</a:t>
            </a:r>
            <a:br>
              <a:rPr lang="en"/>
            </a:br>
            <a:r>
              <a:rPr lang="en"/>
              <a:t>	-MVP</a:t>
            </a:r>
            <a:endParaRPr/>
          </a:p>
          <a:p>
            <a:pPr indent="-311150" lvl="0" marL="457200" rtl="0" algn="l">
              <a:spcBef>
                <a:spcPts val="0"/>
              </a:spcBef>
              <a:spcAft>
                <a:spcPts val="0"/>
              </a:spcAft>
              <a:buSzPts val="1300"/>
              <a:buChar char="●"/>
            </a:pPr>
            <a:r>
              <a:rPr lang="en"/>
              <a:t>Technical</a:t>
            </a:r>
            <a:br>
              <a:rPr lang="en"/>
            </a:br>
            <a:r>
              <a:rPr lang="en"/>
              <a:t>	-Technologies Used</a:t>
            </a:r>
            <a:br>
              <a:rPr lang="en"/>
            </a:br>
            <a:r>
              <a:rPr lang="en"/>
              <a:t>	-Algorithms</a:t>
            </a:r>
            <a:br>
              <a:rPr lang="en"/>
            </a:br>
            <a:r>
              <a:rPr lang="en"/>
              <a:t>	-Diagrams</a:t>
            </a:r>
            <a:endParaRPr/>
          </a:p>
        </p:txBody>
      </p:sp>
      <p:sp>
        <p:nvSpPr>
          <p:cNvPr id="141" name="Google Shape;141;p14"/>
          <p:cNvSpPr txBox="1"/>
          <p:nvPr>
            <p:ph idx="1" type="body"/>
          </p:nvPr>
        </p:nvSpPr>
        <p:spPr>
          <a:xfrm>
            <a:off x="4464600" y="1567550"/>
            <a:ext cx="2907300" cy="33333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Sprint 2 Recap</a:t>
            </a:r>
            <a:endParaRPr/>
          </a:p>
          <a:p>
            <a:pPr indent="-311150" lvl="0" marL="457200" rtl="0" algn="l">
              <a:spcBef>
                <a:spcPts val="0"/>
              </a:spcBef>
              <a:spcAft>
                <a:spcPts val="0"/>
              </a:spcAft>
              <a:buSzPts val="1300"/>
              <a:buChar char="●"/>
            </a:pPr>
            <a:r>
              <a:rPr lang="en"/>
              <a:t>Product Backlog</a:t>
            </a:r>
            <a:endParaRPr/>
          </a:p>
          <a:p>
            <a:pPr indent="-311150" lvl="0" marL="457200" rtl="0" algn="l">
              <a:spcBef>
                <a:spcPts val="0"/>
              </a:spcBef>
              <a:spcAft>
                <a:spcPts val="0"/>
              </a:spcAft>
              <a:buSzPts val="1300"/>
              <a:buChar char="●"/>
            </a:pPr>
            <a:r>
              <a:rPr lang="en"/>
              <a:t>Sprint Summary</a:t>
            </a:r>
            <a:br>
              <a:rPr lang="en"/>
            </a:br>
            <a:r>
              <a:rPr lang="en"/>
              <a:t>-Sprint 1</a:t>
            </a:r>
            <a:br>
              <a:rPr lang="en"/>
            </a:br>
            <a:r>
              <a:rPr lang="en"/>
              <a:t>-Sprint 2</a:t>
            </a:r>
            <a:endParaRPr/>
          </a:p>
          <a:p>
            <a:pPr indent="-311150" lvl="0" marL="457200" rtl="0" algn="l">
              <a:spcBef>
                <a:spcPts val="0"/>
              </a:spcBef>
              <a:spcAft>
                <a:spcPts val="0"/>
              </a:spcAft>
              <a:buSzPts val="1300"/>
              <a:buChar char="●"/>
            </a:pPr>
            <a:r>
              <a:rPr lang="en"/>
              <a:t>Sprint 2 Backlog</a:t>
            </a:r>
            <a:endParaRPr/>
          </a:p>
          <a:p>
            <a:pPr indent="-311150" lvl="0" marL="457200" rtl="0" algn="l">
              <a:spcBef>
                <a:spcPts val="0"/>
              </a:spcBef>
              <a:spcAft>
                <a:spcPts val="0"/>
              </a:spcAft>
              <a:buSzPts val="1300"/>
              <a:buChar char="●"/>
            </a:pPr>
            <a:r>
              <a:rPr lang="en"/>
              <a:t>Metrics</a:t>
            </a:r>
            <a:br>
              <a:rPr lang="en"/>
            </a:br>
            <a:r>
              <a:rPr lang="en"/>
              <a:t>-Team Velocity</a:t>
            </a:r>
            <a:br>
              <a:rPr lang="en"/>
            </a:br>
            <a:r>
              <a:rPr lang="en"/>
              <a:t>-Burndown Charts</a:t>
            </a:r>
            <a:br>
              <a:rPr lang="en"/>
            </a:br>
            <a:r>
              <a:rPr lang="en"/>
              <a:t>-Ratios</a:t>
            </a:r>
            <a:endParaRPr/>
          </a:p>
          <a:p>
            <a:pPr indent="-311150" lvl="0" marL="457200" rtl="0" algn="l">
              <a:spcBef>
                <a:spcPts val="0"/>
              </a:spcBef>
              <a:spcAft>
                <a:spcPts val="0"/>
              </a:spcAft>
              <a:buSzPts val="1300"/>
              <a:buChar char="●"/>
            </a:pPr>
            <a:r>
              <a:rPr lang="en"/>
              <a:t>Sprint 2 Demo Slides</a:t>
            </a:r>
            <a:br>
              <a:rPr lang="en"/>
            </a:br>
            <a:br>
              <a:rPr lang="en"/>
            </a:b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Team Roles &amp; Responsibilities</a:t>
            </a:r>
            <a:endParaRPr/>
          </a:p>
        </p:txBody>
      </p:sp>
      <p:sp>
        <p:nvSpPr>
          <p:cNvPr id="147" name="Google Shape;147;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Charles Varga - DevOps/Tech Architect</a:t>
            </a:r>
            <a:endParaRPr/>
          </a:p>
          <a:p>
            <a:pPr indent="0" lvl="0" marL="0" rtl="0" algn="l">
              <a:spcBef>
                <a:spcPts val="1200"/>
              </a:spcBef>
              <a:spcAft>
                <a:spcPts val="0"/>
              </a:spcAft>
              <a:buNone/>
            </a:pPr>
            <a:r>
              <a:rPr lang="en"/>
              <a:t>Tara Edney - Frontend</a:t>
            </a:r>
            <a:endParaRPr/>
          </a:p>
          <a:p>
            <a:pPr indent="0" lvl="0" marL="0" rtl="0" algn="l">
              <a:spcBef>
                <a:spcPts val="1200"/>
              </a:spcBef>
              <a:spcAft>
                <a:spcPts val="0"/>
              </a:spcAft>
              <a:buNone/>
            </a:pPr>
            <a:r>
              <a:rPr lang="en"/>
              <a:t>Anndeen Daley - Data Engineer/Database</a:t>
            </a:r>
            <a:endParaRPr/>
          </a:p>
          <a:p>
            <a:pPr indent="0" lvl="0" marL="0" rtl="0" algn="l">
              <a:spcBef>
                <a:spcPts val="1200"/>
              </a:spcBef>
              <a:spcAft>
                <a:spcPts val="0"/>
              </a:spcAft>
              <a:buNone/>
            </a:pPr>
            <a:r>
              <a:rPr lang="en"/>
              <a:t>Younes Roumila - Backend</a:t>
            </a:r>
            <a:endParaRPr/>
          </a:p>
          <a:p>
            <a:pPr indent="0" lvl="0" marL="0" rtl="0" algn="l">
              <a:spcBef>
                <a:spcPts val="1200"/>
              </a:spcBef>
              <a:spcAft>
                <a:spcPts val="0"/>
              </a:spcAft>
              <a:buNone/>
            </a:pPr>
            <a:r>
              <a:rPr lang="en"/>
              <a:t>Bella Gerken - AI/NLP Integration</a:t>
            </a:r>
            <a:endParaRPr/>
          </a:p>
          <a:p>
            <a:pPr indent="0" lvl="0" marL="0" rtl="0" algn="l">
              <a:spcBef>
                <a:spcPts val="1200"/>
              </a:spcBef>
              <a:spcAft>
                <a:spcPts val="0"/>
              </a:spcAft>
              <a:buNone/>
            </a:pPr>
            <a:r>
              <a:rPr lang="en"/>
              <a:t>James Simpson - PO/SCRUM Master</a:t>
            </a:r>
            <a:br>
              <a:rPr lang="en"/>
            </a:br>
            <a:endParaRPr/>
          </a:p>
          <a:p>
            <a:pPr indent="0" lvl="0" marL="0" rtl="0" algn="l">
              <a:spcBef>
                <a:spcPts val="1200"/>
              </a:spcBef>
              <a:spcAft>
                <a:spcPts val="0"/>
              </a:spcAft>
              <a:buNone/>
            </a:pPr>
            <a:r>
              <a:rPr lang="en"/>
              <a:t>QA/QC 1 - Charles Varga</a:t>
            </a:r>
            <a:endParaRPr/>
          </a:p>
          <a:p>
            <a:pPr indent="0" lvl="0" marL="0" rtl="0" algn="l">
              <a:spcBef>
                <a:spcPts val="1200"/>
              </a:spcBef>
              <a:spcAft>
                <a:spcPts val="1200"/>
              </a:spcAft>
              <a:buNone/>
            </a:pPr>
            <a:r>
              <a:rPr lang="en"/>
              <a:t>QA/QC 2 - James Simpson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52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Feedback</a:t>
            </a:r>
            <a:endParaRPr/>
          </a:p>
        </p:txBody>
      </p:sp>
      <p:sp>
        <p:nvSpPr>
          <p:cNvPr id="153" name="Google Shape;153;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-Extensive work on Wiki (from 1am meeting)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Project Description</a:t>
            </a:r>
            <a:endParaRPr/>
          </a:p>
        </p:txBody>
      </p:sp>
      <p:sp>
        <p:nvSpPr>
          <p:cNvPr id="159" name="Google Shape;159;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lnSpc>
                <a:spcPct val="110000"/>
              </a:lnSpc>
              <a:spcBef>
                <a:spcPts val="0"/>
              </a:spcBef>
              <a:spcAft>
                <a:spcPts val="0"/>
              </a:spcAft>
              <a:buClr>
                <a:srgbClr val="000000"/>
              </a:buClr>
              <a:buSzPts val="1800"/>
              <a:buFont typeface="Arial"/>
              <a:buNone/>
            </a:pPr>
            <a:r>
              <a:rPr lang="en" sz="1800">
                <a:latin typeface="Arial"/>
                <a:ea typeface="Arial"/>
                <a:cs typeface="Arial"/>
                <a:sym typeface="Arial"/>
              </a:rPr>
              <a:t>The Intelligent Academic Path Optimizer is an application which will streamline the academic advising workflow. The app is designed to use AI to facilitate decision making when generating a conflict-free academic schedule for students. By utilizing the Constraint Satisfaction Problem algorithms and predictive modeling, the application will dynamically output the most efficient path to graduation based on specific student parameters.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Team Working Agreement</a:t>
            </a:r>
            <a:endParaRPr/>
          </a:p>
        </p:txBody>
      </p:sp>
      <p:sp>
        <p:nvSpPr>
          <p:cNvPr id="165" name="Google Shape;165;p18"/>
          <p:cNvSpPr txBox="1"/>
          <p:nvPr/>
        </p:nvSpPr>
        <p:spPr>
          <a:xfrm>
            <a:off x="1297500" y="1567550"/>
            <a:ext cx="7038900" cy="2911200"/>
          </a:xfrm>
          <a:prstGeom prst="rect">
            <a:avLst/>
          </a:prstGeom>
          <a:noFill/>
          <a:ln>
            <a:noFill/>
          </a:ln>
        </p:spPr>
        <p:txBody>
          <a:bodyPr anchorCtr="0" anchor="t" bIns="91425" lIns="91425" spcFirstLastPara="1" rIns="91425" wrap="square" tIns="91425">
            <a:normAutofit/>
          </a:bodyPr>
          <a:lstStyle/>
          <a:p>
            <a:pPr indent="0" lvl="0" marL="0" rtl="0" algn="l">
              <a:lnSpc>
                <a:spcPct val="115833"/>
              </a:lnSpc>
              <a:spcBef>
                <a:spcPts val="0"/>
              </a:spcBef>
              <a:spcAft>
                <a:spcPts val="0"/>
              </a:spcAft>
              <a:buNone/>
            </a:pPr>
            <a:r>
              <a:t/>
            </a:r>
            <a:endParaRPr sz="1200">
              <a:solidFill>
                <a:srgbClr val="FFFFFF"/>
              </a:solidFill>
              <a:latin typeface="Aptos"/>
              <a:ea typeface="Aptos"/>
              <a:cs typeface="Aptos"/>
              <a:sym typeface="Aptos"/>
            </a:endParaRPr>
          </a:p>
          <a:p>
            <a:pPr indent="-304800" lvl="0" marL="457200" rtl="0" algn="l">
              <a:lnSpc>
                <a:spcPct val="115833"/>
              </a:lnSpc>
              <a:spcBef>
                <a:spcPts val="800"/>
              </a:spcBef>
              <a:spcAft>
                <a:spcPts val="0"/>
              </a:spcAft>
              <a:buClr>
                <a:srgbClr val="FFFFFF"/>
              </a:buClr>
              <a:buSzPts val="1200"/>
              <a:buFont typeface="Aptos"/>
              <a:buChar char="●"/>
            </a:pPr>
            <a:r>
              <a:rPr lang="en" sz="1200">
                <a:solidFill>
                  <a:srgbClr val="FFFFFF"/>
                </a:solidFill>
                <a:latin typeface="Aptos"/>
                <a:ea typeface="Aptos"/>
                <a:cs typeface="Aptos"/>
                <a:sym typeface="Aptos"/>
              </a:rPr>
              <a:t>Decision Making – Consensus, voting when necessary.  Most decisions thus far have been reached by consensus, and the only vote that was taken was for the Project Logo, which was unanimous anyway.</a:t>
            </a:r>
            <a:endParaRPr sz="1200">
              <a:solidFill>
                <a:srgbClr val="FFFFFF"/>
              </a:solidFill>
              <a:latin typeface="Aptos"/>
              <a:ea typeface="Aptos"/>
              <a:cs typeface="Aptos"/>
              <a:sym typeface="Aptos"/>
            </a:endParaRPr>
          </a:p>
          <a:p>
            <a:pPr indent="-304800" lvl="0" marL="457200" rtl="0" algn="l">
              <a:lnSpc>
                <a:spcPct val="115833"/>
              </a:lnSpc>
              <a:spcBef>
                <a:spcPts val="0"/>
              </a:spcBef>
              <a:spcAft>
                <a:spcPts val="0"/>
              </a:spcAft>
              <a:buClr>
                <a:srgbClr val="FFFFFF"/>
              </a:buClr>
              <a:buSzPts val="1200"/>
              <a:buFont typeface="Aptos"/>
              <a:buChar char="●"/>
            </a:pPr>
            <a:r>
              <a:rPr lang="en" sz="1200">
                <a:solidFill>
                  <a:srgbClr val="FFFFFF"/>
                </a:solidFill>
                <a:latin typeface="Aptos"/>
                <a:ea typeface="Aptos"/>
                <a:cs typeface="Aptos"/>
                <a:sym typeface="Aptos"/>
              </a:rPr>
              <a:t>Team meetings – Decided using When2Meet on a weekly basis.  Team has varying schedules week on week, so this is the best as opposed to a set meeting time.</a:t>
            </a:r>
            <a:endParaRPr sz="1200">
              <a:solidFill>
                <a:srgbClr val="FFFFFF"/>
              </a:solidFill>
              <a:latin typeface="Aptos"/>
              <a:ea typeface="Aptos"/>
              <a:cs typeface="Aptos"/>
              <a:sym typeface="Aptos"/>
            </a:endParaRPr>
          </a:p>
          <a:p>
            <a:pPr indent="-304800" lvl="0" marL="457200" rtl="0" algn="l">
              <a:lnSpc>
                <a:spcPct val="115833"/>
              </a:lnSpc>
              <a:spcBef>
                <a:spcPts val="0"/>
              </a:spcBef>
              <a:spcAft>
                <a:spcPts val="0"/>
              </a:spcAft>
              <a:buClr>
                <a:srgbClr val="FFFFFF"/>
              </a:buClr>
              <a:buSzPts val="1200"/>
              <a:buFont typeface="Aptos"/>
              <a:buChar char="●"/>
            </a:pPr>
            <a:r>
              <a:rPr lang="en" sz="1200">
                <a:solidFill>
                  <a:srgbClr val="FFFFFF"/>
                </a:solidFill>
                <a:latin typeface="Aptos"/>
                <a:ea typeface="Aptos"/>
                <a:cs typeface="Aptos"/>
                <a:sym typeface="Aptos"/>
              </a:rPr>
              <a:t>Team keeps team accountable.  We will use group accountability and help remind each other of deadlines.</a:t>
            </a:r>
            <a:endParaRPr sz="1300">
              <a:solidFill>
                <a:srgbClr val="FFFFFF"/>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Personas</a:t>
            </a:r>
            <a:endParaRPr/>
          </a:p>
        </p:txBody>
      </p:sp>
      <p:sp>
        <p:nvSpPr>
          <p:cNvPr id="171" name="Google Shape;171;p19"/>
          <p:cNvSpPr txBox="1"/>
          <p:nvPr/>
        </p:nvSpPr>
        <p:spPr>
          <a:xfrm>
            <a:off x="411480" y="1645920"/>
            <a:ext cx="2331600" cy="3086100"/>
          </a:xfrm>
          <a:prstGeom prst="rect">
            <a:avLst/>
          </a:prstGeom>
          <a:noFill/>
          <a:ln>
            <a:noFill/>
          </a:ln>
        </p:spPr>
        <p:txBody>
          <a:bodyPr anchorCtr="0" anchor="t" bIns="68575" lIns="68575" spcFirstLastPara="1" rIns="68575" wrap="square" tIns="68575">
            <a:noAutofit/>
          </a:bodyPr>
          <a:lstStyle/>
          <a:p>
            <a:pPr indent="0" lvl="0" marL="0" rtl="0" algn="l">
              <a:lnSpc>
                <a:spcPct val="115000"/>
              </a:lnSpc>
              <a:spcBef>
                <a:spcPts val="900"/>
              </a:spcBef>
              <a:spcAft>
                <a:spcPts val="0"/>
              </a:spcAft>
              <a:buNone/>
            </a:pPr>
            <a:r>
              <a:rPr b="1" lang="en" sz="800">
                <a:solidFill>
                  <a:srgbClr val="FFFFFF"/>
                </a:solidFill>
              </a:rPr>
              <a:t>Academic Advisor</a:t>
            </a:r>
            <a:r>
              <a:rPr lang="en" sz="800">
                <a:solidFill>
                  <a:srgbClr val="FFFFFF"/>
                </a:solidFill>
              </a:rPr>
              <a:t>: Isabelle Johnson, 42 · Pace University</a:t>
            </a:r>
            <a:endParaRPr sz="800">
              <a:solidFill>
                <a:srgbClr val="FFFFFF"/>
              </a:solidFill>
            </a:endParaRPr>
          </a:p>
          <a:p>
            <a:pPr indent="0" lvl="0" marL="0" rtl="0" algn="l">
              <a:lnSpc>
                <a:spcPct val="110000"/>
              </a:lnSpc>
              <a:spcBef>
                <a:spcPts val="900"/>
              </a:spcBef>
              <a:spcAft>
                <a:spcPts val="0"/>
              </a:spcAft>
              <a:buNone/>
            </a:pPr>
            <a:r>
              <a:rPr b="1" lang="en" sz="800">
                <a:solidFill>
                  <a:srgbClr val="FFFFFF"/>
                </a:solidFill>
              </a:rPr>
              <a:t>Problem</a:t>
            </a:r>
            <a:endParaRPr b="1" sz="800">
              <a:solidFill>
                <a:srgbClr val="FFFFFF"/>
              </a:solidFill>
            </a:endParaRPr>
          </a:p>
          <a:p>
            <a:pPr indent="-215900" lvl="0" marL="342900" rtl="0" algn="l">
              <a:lnSpc>
                <a:spcPct val="110000"/>
              </a:lnSpc>
              <a:spcBef>
                <a:spcPts val="900"/>
              </a:spcBef>
              <a:spcAft>
                <a:spcPts val="0"/>
              </a:spcAft>
              <a:buClr>
                <a:srgbClr val="FFFFFF"/>
              </a:buClr>
              <a:buSzPts val="800"/>
              <a:buChar char="●"/>
            </a:pPr>
            <a:r>
              <a:rPr lang="en" sz="800">
                <a:solidFill>
                  <a:srgbClr val="FFFFFF"/>
                </a:solidFill>
              </a:rPr>
              <a:t>Manually verifies prereqs and builds schedules for 100+ students</a:t>
            </a:r>
            <a:endParaRPr sz="800">
              <a:solidFill>
                <a:srgbClr val="FFFFFF"/>
              </a:solidFill>
            </a:endParaRPr>
          </a:p>
          <a:p>
            <a:pPr indent="-215900" lvl="0" marL="342900" rtl="0" algn="l">
              <a:lnSpc>
                <a:spcPct val="110000"/>
              </a:lnSpc>
              <a:spcBef>
                <a:spcPts val="0"/>
              </a:spcBef>
              <a:spcAft>
                <a:spcPts val="0"/>
              </a:spcAft>
              <a:buClr>
                <a:srgbClr val="FFFFFF"/>
              </a:buClr>
              <a:buSzPts val="800"/>
              <a:buChar char="●"/>
            </a:pPr>
            <a:r>
              <a:rPr lang="en" sz="800">
                <a:solidFill>
                  <a:srgbClr val="FFFFFF"/>
                </a:solidFill>
              </a:rPr>
              <a:t>Changing requirements risk graduation delays</a:t>
            </a:r>
            <a:endParaRPr sz="800">
              <a:solidFill>
                <a:srgbClr val="FFFFFF"/>
              </a:solidFill>
            </a:endParaRPr>
          </a:p>
          <a:p>
            <a:pPr indent="0" lvl="0" marL="0" rtl="0" algn="l">
              <a:lnSpc>
                <a:spcPct val="110000"/>
              </a:lnSpc>
              <a:spcBef>
                <a:spcPts val="900"/>
              </a:spcBef>
              <a:spcAft>
                <a:spcPts val="0"/>
              </a:spcAft>
              <a:buNone/>
            </a:pPr>
            <a:r>
              <a:rPr b="1" lang="en" sz="800">
                <a:solidFill>
                  <a:srgbClr val="FFFFFF"/>
                </a:solidFill>
              </a:rPr>
              <a:t>Goals</a:t>
            </a:r>
            <a:endParaRPr b="1" sz="800">
              <a:solidFill>
                <a:srgbClr val="FFFFFF"/>
              </a:solidFill>
            </a:endParaRPr>
          </a:p>
          <a:p>
            <a:pPr indent="-215900" lvl="0" marL="342900" rtl="0" algn="l">
              <a:lnSpc>
                <a:spcPct val="110000"/>
              </a:lnSpc>
              <a:spcBef>
                <a:spcPts val="900"/>
              </a:spcBef>
              <a:spcAft>
                <a:spcPts val="0"/>
              </a:spcAft>
              <a:buClr>
                <a:srgbClr val="FFFFFF"/>
              </a:buClr>
              <a:buSzPts val="800"/>
              <a:buChar char="●"/>
            </a:pPr>
            <a:r>
              <a:rPr lang="en" sz="800">
                <a:solidFill>
                  <a:srgbClr val="FFFFFF"/>
                </a:solidFill>
              </a:rPr>
              <a:t>Accurate prereq and degree checks</a:t>
            </a:r>
            <a:endParaRPr sz="800">
              <a:solidFill>
                <a:srgbClr val="FFFFFF"/>
              </a:solidFill>
            </a:endParaRPr>
          </a:p>
          <a:p>
            <a:pPr indent="-215900" lvl="0" marL="342900" rtl="0" algn="l">
              <a:lnSpc>
                <a:spcPct val="110000"/>
              </a:lnSpc>
              <a:spcBef>
                <a:spcPts val="0"/>
              </a:spcBef>
              <a:spcAft>
                <a:spcPts val="0"/>
              </a:spcAft>
              <a:buClr>
                <a:srgbClr val="FFFFFF"/>
              </a:buClr>
              <a:buSzPts val="800"/>
              <a:buChar char="●"/>
            </a:pPr>
            <a:r>
              <a:rPr lang="en" sz="800">
                <a:solidFill>
                  <a:srgbClr val="FFFFFF"/>
                </a:solidFill>
              </a:rPr>
              <a:t>Automated scheduling</a:t>
            </a:r>
            <a:endParaRPr sz="800">
              <a:solidFill>
                <a:srgbClr val="FFFFFF"/>
              </a:solidFill>
            </a:endParaRPr>
          </a:p>
          <a:p>
            <a:pPr indent="-215900" lvl="0" marL="342900" rtl="0" algn="l">
              <a:lnSpc>
                <a:spcPct val="110000"/>
              </a:lnSpc>
              <a:spcBef>
                <a:spcPts val="0"/>
              </a:spcBef>
              <a:spcAft>
                <a:spcPts val="0"/>
              </a:spcAft>
              <a:buClr>
                <a:srgbClr val="FFFFFF"/>
              </a:buClr>
              <a:buSzPts val="800"/>
              <a:buChar char="●"/>
            </a:pPr>
            <a:r>
              <a:rPr lang="en" sz="800">
                <a:solidFill>
                  <a:srgbClr val="FFFFFF"/>
                </a:solidFill>
              </a:rPr>
              <a:t>Earlier risk flags</a:t>
            </a:r>
            <a:endParaRPr sz="800">
              <a:solidFill>
                <a:srgbClr val="FFFFFF"/>
              </a:solidFill>
            </a:endParaRPr>
          </a:p>
          <a:p>
            <a:pPr indent="-215900" lvl="0" marL="342900" rtl="0" algn="l">
              <a:lnSpc>
                <a:spcPct val="110000"/>
              </a:lnSpc>
              <a:spcBef>
                <a:spcPts val="0"/>
              </a:spcBef>
              <a:spcAft>
                <a:spcPts val="0"/>
              </a:spcAft>
              <a:buClr>
                <a:srgbClr val="FFFFFF"/>
              </a:buClr>
              <a:buSzPts val="800"/>
              <a:buChar char="●"/>
            </a:pPr>
            <a:r>
              <a:rPr lang="en" sz="800">
                <a:solidFill>
                  <a:srgbClr val="FFFFFF"/>
                </a:solidFill>
              </a:rPr>
              <a:t>More time to help students</a:t>
            </a:r>
            <a:endParaRPr sz="800">
              <a:solidFill>
                <a:srgbClr val="FFFFFF"/>
              </a:solidFill>
            </a:endParaRPr>
          </a:p>
          <a:p>
            <a:pPr indent="0" lvl="0" marL="0" rtl="0" algn="l">
              <a:lnSpc>
                <a:spcPct val="110000"/>
              </a:lnSpc>
              <a:spcBef>
                <a:spcPts val="900"/>
              </a:spcBef>
              <a:spcAft>
                <a:spcPts val="0"/>
              </a:spcAft>
              <a:buNone/>
            </a:pPr>
            <a:r>
              <a:rPr b="1" lang="en" sz="800">
                <a:solidFill>
                  <a:srgbClr val="FFFFFF"/>
                </a:solidFill>
              </a:rPr>
              <a:t>How IAPO Helps</a:t>
            </a:r>
            <a:endParaRPr b="1" sz="800">
              <a:solidFill>
                <a:srgbClr val="FFFFFF"/>
              </a:solidFill>
            </a:endParaRPr>
          </a:p>
          <a:p>
            <a:pPr indent="-215900" lvl="0" marL="342900" rtl="0" algn="l">
              <a:lnSpc>
                <a:spcPct val="110000"/>
              </a:lnSpc>
              <a:spcBef>
                <a:spcPts val="900"/>
              </a:spcBef>
              <a:spcAft>
                <a:spcPts val="0"/>
              </a:spcAft>
              <a:buClr>
                <a:srgbClr val="FFFFFF"/>
              </a:buClr>
              <a:buSzPts val="800"/>
              <a:buChar char="●"/>
            </a:pPr>
            <a:r>
              <a:rPr lang="en" sz="800">
                <a:solidFill>
                  <a:srgbClr val="FFFFFF"/>
                </a:solidFill>
              </a:rPr>
              <a:t>Generates valid pathways so she can focus on mentorship</a:t>
            </a:r>
            <a:endParaRPr sz="800">
              <a:solidFill>
                <a:srgbClr val="FFFFFF"/>
              </a:solidFill>
            </a:endParaRPr>
          </a:p>
          <a:p>
            <a:pPr indent="0" lvl="0" marL="0" rtl="0" algn="l">
              <a:lnSpc>
                <a:spcPct val="115000"/>
              </a:lnSpc>
              <a:spcBef>
                <a:spcPts val="900"/>
              </a:spcBef>
              <a:spcAft>
                <a:spcPts val="0"/>
              </a:spcAft>
              <a:buClr>
                <a:srgbClr val="1B212C"/>
              </a:buClr>
              <a:buSzPts val="800"/>
              <a:buFont typeface="Arial"/>
              <a:buNone/>
            </a:pPr>
            <a:r>
              <a:t/>
            </a:r>
            <a:endParaRPr b="1" sz="800">
              <a:solidFill>
                <a:srgbClr val="FFFFFF"/>
              </a:solidFill>
            </a:endParaRPr>
          </a:p>
          <a:p>
            <a:pPr indent="0" lvl="0" marL="0" rtl="0" algn="l">
              <a:spcBef>
                <a:spcPts val="900"/>
              </a:spcBef>
              <a:spcAft>
                <a:spcPts val="0"/>
              </a:spcAft>
              <a:buNone/>
            </a:pPr>
            <a:r>
              <a:t/>
            </a:r>
            <a:endParaRPr sz="1400">
              <a:solidFill>
                <a:srgbClr val="FFFFFF"/>
              </a:solidFill>
            </a:endParaRPr>
          </a:p>
        </p:txBody>
      </p:sp>
      <p:sp>
        <p:nvSpPr>
          <p:cNvPr id="172" name="Google Shape;172;p19"/>
          <p:cNvSpPr txBox="1"/>
          <p:nvPr/>
        </p:nvSpPr>
        <p:spPr>
          <a:xfrm>
            <a:off x="3086100" y="1645920"/>
            <a:ext cx="2331600" cy="3086100"/>
          </a:xfrm>
          <a:prstGeom prst="rect">
            <a:avLst/>
          </a:prstGeom>
          <a:noFill/>
          <a:ln>
            <a:noFill/>
          </a:ln>
        </p:spPr>
        <p:txBody>
          <a:bodyPr anchorCtr="0" anchor="t" bIns="68575" lIns="68575" spcFirstLastPara="1" rIns="68575" wrap="square" tIns="68575">
            <a:noAutofit/>
          </a:bodyPr>
          <a:lstStyle/>
          <a:p>
            <a:pPr indent="0" lvl="0" marL="0" rtl="0" algn="l">
              <a:lnSpc>
                <a:spcPct val="115000"/>
              </a:lnSpc>
              <a:spcBef>
                <a:spcPts val="900"/>
              </a:spcBef>
              <a:spcAft>
                <a:spcPts val="0"/>
              </a:spcAft>
              <a:buNone/>
            </a:pPr>
            <a:r>
              <a:rPr b="1" lang="en" sz="800">
                <a:solidFill>
                  <a:srgbClr val="FFFFFF"/>
                </a:solidFill>
              </a:rPr>
              <a:t>Graduate Student</a:t>
            </a:r>
            <a:r>
              <a:rPr lang="en" sz="800">
                <a:solidFill>
                  <a:srgbClr val="FFFFFF"/>
                </a:solidFill>
              </a:rPr>
              <a:t>:  William Court, 24 · CS Major</a:t>
            </a:r>
            <a:endParaRPr sz="800">
              <a:solidFill>
                <a:srgbClr val="FFFFFF"/>
              </a:solidFill>
            </a:endParaRPr>
          </a:p>
          <a:p>
            <a:pPr indent="0" lvl="0" marL="0" rtl="0" algn="l">
              <a:lnSpc>
                <a:spcPct val="110000"/>
              </a:lnSpc>
              <a:spcBef>
                <a:spcPts val="900"/>
              </a:spcBef>
              <a:spcAft>
                <a:spcPts val="0"/>
              </a:spcAft>
              <a:buNone/>
            </a:pPr>
            <a:r>
              <a:rPr b="1" lang="en" sz="800">
                <a:solidFill>
                  <a:srgbClr val="FFFFFF"/>
                </a:solidFill>
              </a:rPr>
              <a:t>Problem</a:t>
            </a:r>
            <a:endParaRPr b="1" sz="800">
              <a:solidFill>
                <a:srgbClr val="FFFFFF"/>
              </a:solidFill>
            </a:endParaRPr>
          </a:p>
          <a:p>
            <a:pPr indent="-215900" lvl="0" marL="342900" rtl="0" algn="l">
              <a:lnSpc>
                <a:spcPct val="110000"/>
              </a:lnSpc>
              <a:spcBef>
                <a:spcPts val="900"/>
              </a:spcBef>
              <a:spcAft>
                <a:spcPts val="0"/>
              </a:spcAft>
              <a:buClr>
                <a:srgbClr val="FFFFFF"/>
              </a:buClr>
              <a:buSzPts val="800"/>
              <a:buChar char="●"/>
            </a:pPr>
            <a:r>
              <a:rPr lang="en" sz="800">
                <a:solidFill>
                  <a:srgbClr val="FFFFFF"/>
                </a:solidFill>
              </a:rPr>
              <a:t>Confused about prereqs and availability each semester</a:t>
            </a:r>
            <a:endParaRPr sz="800">
              <a:solidFill>
                <a:srgbClr val="FFFFFF"/>
              </a:solidFill>
            </a:endParaRPr>
          </a:p>
          <a:p>
            <a:pPr indent="-215900" lvl="0" marL="342900" rtl="0" algn="l">
              <a:lnSpc>
                <a:spcPct val="110000"/>
              </a:lnSpc>
              <a:spcBef>
                <a:spcPts val="0"/>
              </a:spcBef>
              <a:spcAft>
                <a:spcPts val="0"/>
              </a:spcAft>
              <a:buClr>
                <a:srgbClr val="FFFFFF"/>
              </a:buClr>
              <a:buSzPts val="800"/>
              <a:buChar char="●"/>
            </a:pPr>
            <a:r>
              <a:rPr lang="en" sz="800">
                <a:solidFill>
                  <a:srgbClr val="FFFFFF"/>
                </a:solidFill>
              </a:rPr>
              <a:t>Unclear requirements delay graduation and raise costs</a:t>
            </a:r>
            <a:endParaRPr sz="800">
              <a:solidFill>
                <a:srgbClr val="FFFFFF"/>
              </a:solidFill>
            </a:endParaRPr>
          </a:p>
          <a:p>
            <a:pPr indent="0" lvl="0" marL="0" rtl="0" algn="l">
              <a:lnSpc>
                <a:spcPct val="110000"/>
              </a:lnSpc>
              <a:spcBef>
                <a:spcPts val="900"/>
              </a:spcBef>
              <a:spcAft>
                <a:spcPts val="0"/>
              </a:spcAft>
              <a:buNone/>
            </a:pPr>
            <a:r>
              <a:rPr b="1" lang="en" sz="800">
                <a:solidFill>
                  <a:srgbClr val="FFFFFF"/>
                </a:solidFill>
              </a:rPr>
              <a:t>Goals</a:t>
            </a:r>
            <a:endParaRPr b="1" sz="800">
              <a:solidFill>
                <a:srgbClr val="FFFFFF"/>
              </a:solidFill>
            </a:endParaRPr>
          </a:p>
          <a:p>
            <a:pPr indent="-215900" lvl="0" marL="342900" rtl="0" algn="l">
              <a:lnSpc>
                <a:spcPct val="110000"/>
              </a:lnSpc>
              <a:spcBef>
                <a:spcPts val="900"/>
              </a:spcBef>
              <a:spcAft>
                <a:spcPts val="0"/>
              </a:spcAft>
              <a:buClr>
                <a:srgbClr val="FFFFFF"/>
              </a:buClr>
              <a:buSzPts val="800"/>
              <a:buChar char="●"/>
            </a:pPr>
            <a:r>
              <a:rPr lang="en" sz="800">
                <a:solidFill>
                  <a:srgbClr val="FFFFFF"/>
                </a:solidFill>
              </a:rPr>
              <a:t>Fastest path to graduate</a:t>
            </a:r>
            <a:endParaRPr sz="800">
              <a:solidFill>
                <a:srgbClr val="FFFFFF"/>
              </a:solidFill>
            </a:endParaRPr>
          </a:p>
          <a:p>
            <a:pPr indent="-215900" lvl="0" marL="342900" rtl="0" algn="l">
              <a:lnSpc>
                <a:spcPct val="110000"/>
              </a:lnSpc>
              <a:spcBef>
                <a:spcPts val="0"/>
              </a:spcBef>
              <a:spcAft>
                <a:spcPts val="0"/>
              </a:spcAft>
              <a:buClr>
                <a:srgbClr val="FFFFFF"/>
              </a:buClr>
              <a:buSzPts val="800"/>
              <a:buChar char="●"/>
            </a:pPr>
            <a:r>
              <a:rPr lang="en" sz="800">
                <a:solidFill>
                  <a:srgbClr val="FFFFFF"/>
                </a:solidFill>
              </a:rPr>
              <a:t>"What-if" planning before registering</a:t>
            </a:r>
            <a:endParaRPr sz="800">
              <a:solidFill>
                <a:srgbClr val="FFFFFF"/>
              </a:solidFill>
            </a:endParaRPr>
          </a:p>
          <a:p>
            <a:pPr indent="-215900" lvl="0" marL="342900" rtl="0" algn="l">
              <a:lnSpc>
                <a:spcPct val="110000"/>
              </a:lnSpc>
              <a:spcBef>
                <a:spcPts val="0"/>
              </a:spcBef>
              <a:spcAft>
                <a:spcPts val="0"/>
              </a:spcAft>
              <a:buClr>
                <a:srgbClr val="FFFFFF"/>
              </a:buClr>
              <a:buSzPts val="800"/>
              <a:buChar char="●"/>
            </a:pPr>
            <a:r>
              <a:rPr lang="en" sz="800">
                <a:solidFill>
                  <a:srgbClr val="FFFFFF"/>
                </a:solidFill>
              </a:rPr>
              <a:t>Balanced schedule</a:t>
            </a:r>
            <a:endParaRPr sz="800">
              <a:solidFill>
                <a:srgbClr val="FFFFFF"/>
              </a:solidFill>
            </a:endParaRPr>
          </a:p>
          <a:p>
            <a:pPr indent="-215900" lvl="0" marL="342900" rtl="0" algn="l">
              <a:lnSpc>
                <a:spcPct val="110000"/>
              </a:lnSpc>
              <a:spcBef>
                <a:spcPts val="0"/>
              </a:spcBef>
              <a:spcAft>
                <a:spcPts val="0"/>
              </a:spcAft>
              <a:buClr>
                <a:srgbClr val="FFFFFF"/>
              </a:buClr>
              <a:buSzPts val="800"/>
              <a:buChar char="●"/>
            </a:pPr>
            <a:r>
              <a:rPr lang="en" sz="800">
                <a:solidFill>
                  <a:srgbClr val="FFFFFF"/>
                </a:solidFill>
              </a:rPr>
              <a:t>Steady GPA</a:t>
            </a:r>
            <a:endParaRPr sz="800">
              <a:solidFill>
                <a:srgbClr val="FFFFFF"/>
              </a:solidFill>
            </a:endParaRPr>
          </a:p>
          <a:p>
            <a:pPr indent="0" lvl="0" marL="0" rtl="0" algn="l">
              <a:lnSpc>
                <a:spcPct val="110000"/>
              </a:lnSpc>
              <a:spcBef>
                <a:spcPts val="900"/>
              </a:spcBef>
              <a:spcAft>
                <a:spcPts val="0"/>
              </a:spcAft>
              <a:buNone/>
            </a:pPr>
            <a:r>
              <a:rPr b="1" lang="en" sz="800">
                <a:solidFill>
                  <a:srgbClr val="FFFFFF"/>
                </a:solidFill>
              </a:rPr>
              <a:t>How IAPO Helps</a:t>
            </a:r>
            <a:endParaRPr b="1" sz="800">
              <a:solidFill>
                <a:srgbClr val="FFFFFF"/>
              </a:solidFill>
            </a:endParaRPr>
          </a:p>
          <a:p>
            <a:pPr indent="-215900" lvl="0" marL="342900" rtl="0" algn="l">
              <a:lnSpc>
                <a:spcPct val="110000"/>
              </a:lnSpc>
              <a:spcBef>
                <a:spcPts val="900"/>
              </a:spcBef>
              <a:spcAft>
                <a:spcPts val="0"/>
              </a:spcAft>
              <a:buClr>
                <a:srgbClr val="FFFFFF"/>
              </a:buClr>
              <a:buSzPts val="800"/>
              <a:buChar char="●"/>
            </a:pPr>
            <a:r>
              <a:rPr lang="en" sz="800">
                <a:solidFill>
                  <a:srgbClr val="FFFFFF"/>
                </a:solidFill>
              </a:rPr>
              <a:t>Builds an optimized schedule from his credits, goal date, and load</a:t>
            </a:r>
            <a:endParaRPr sz="800">
              <a:solidFill>
                <a:srgbClr val="FFFFFF"/>
              </a:solidFill>
            </a:endParaRPr>
          </a:p>
          <a:p>
            <a:pPr indent="0" lvl="0" marL="0" rtl="0" algn="l">
              <a:lnSpc>
                <a:spcPct val="115000"/>
              </a:lnSpc>
              <a:spcBef>
                <a:spcPts val="900"/>
              </a:spcBef>
              <a:spcAft>
                <a:spcPts val="0"/>
              </a:spcAft>
              <a:buClr>
                <a:srgbClr val="1B212C"/>
              </a:buClr>
              <a:buSzPts val="800"/>
              <a:buFont typeface="Arial"/>
              <a:buNone/>
            </a:pPr>
            <a:r>
              <a:t/>
            </a:r>
            <a:endParaRPr b="1" sz="800">
              <a:solidFill>
                <a:srgbClr val="FFFFFF"/>
              </a:solidFill>
            </a:endParaRPr>
          </a:p>
          <a:p>
            <a:pPr indent="0" lvl="0" marL="0" rtl="0" algn="l">
              <a:spcBef>
                <a:spcPts val="900"/>
              </a:spcBef>
              <a:spcAft>
                <a:spcPts val="0"/>
              </a:spcAft>
              <a:buNone/>
            </a:pPr>
            <a:r>
              <a:t/>
            </a:r>
            <a:endParaRPr sz="1400">
              <a:solidFill>
                <a:srgbClr val="FFFFFF"/>
              </a:solidFill>
            </a:endParaRPr>
          </a:p>
        </p:txBody>
      </p:sp>
      <p:sp>
        <p:nvSpPr>
          <p:cNvPr id="173" name="Google Shape;173;p19"/>
          <p:cNvSpPr txBox="1"/>
          <p:nvPr/>
        </p:nvSpPr>
        <p:spPr>
          <a:xfrm>
            <a:off x="5986125" y="1645837"/>
            <a:ext cx="2331600" cy="3086100"/>
          </a:xfrm>
          <a:prstGeom prst="rect">
            <a:avLst/>
          </a:prstGeom>
          <a:noFill/>
          <a:ln>
            <a:noFill/>
          </a:ln>
        </p:spPr>
        <p:txBody>
          <a:bodyPr anchorCtr="0" anchor="t" bIns="68575" lIns="68575" spcFirstLastPara="1" rIns="68575" wrap="square" tIns="68575">
            <a:noAutofit/>
          </a:bodyPr>
          <a:lstStyle/>
          <a:p>
            <a:pPr indent="0" lvl="0" marL="0" rtl="0" algn="l">
              <a:lnSpc>
                <a:spcPct val="115000"/>
              </a:lnSpc>
              <a:spcBef>
                <a:spcPts val="900"/>
              </a:spcBef>
              <a:spcAft>
                <a:spcPts val="0"/>
              </a:spcAft>
              <a:buNone/>
            </a:pPr>
            <a:r>
              <a:rPr b="1" lang="en" sz="800">
                <a:solidFill>
                  <a:srgbClr val="FFFFFF"/>
                </a:solidFill>
              </a:rPr>
              <a:t>Dept. Administrator</a:t>
            </a:r>
            <a:r>
              <a:rPr lang="en" sz="800">
                <a:solidFill>
                  <a:srgbClr val="FFFFFF"/>
                </a:solidFill>
              </a:rPr>
              <a:t>: Michael Rodriguez, 52 · CS Chair</a:t>
            </a:r>
            <a:endParaRPr sz="800">
              <a:solidFill>
                <a:srgbClr val="FFFFFF"/>
              </a:solidFill>
            </a:endParaRPr>
          </a:p>
          <a:p>
            <a:pPr indent="0" lvl="0" marL="0" rtl="0" algn="l">
              <a:lnSpc>
                <a:spcPct val="110000"/>
              </a:lnSpc>
              <a:spcBef>
                <a:spcPts val="900"/>
              </a:spcBef>
              <a:spcAft>
                <a:spcPts val="0"/>
              </a:spcAft>
              <a:buNone/>
            </a:pPr>
            <a:r>
              <a:rPr b="1" lang="en" sz="800">
                <a:solidFill>
                  <a:srgbClr val="FFFFFF"/>
                </a:solidFill>
              </a:rPr>
              <a:t>Problem</a:t>
            </a:r>
            <a:endParaRPr b="1" sz="800">
              <a:solidFill>
                <a:srgbClr val="FFFFFF"/>
              </a:solidFill>
            </a:endParaRPr>
          </a:p>
          <a:p>
            <a:pPr indent="-215900" lvl="0" marL="342900" rtl="0" algn="l">
              <a:lnSpc>
                <a:spcPct val="110000"/>
              </a:lnSpc>
              <a:spcBef>
                <a:spcPts val="900"/>
              </a:spcBef>
              <a:spcAft>
                <a:spcPts val="0"/>
              </a:spcAft>
              <a:buClr>
                <a:srgbClr val="FFFFFF"/>
              </a:buClr>
              <a:buSzPts val="800"/>
              <a:buChar char="●"/>
            </a:pPr>
            <a:r>
              <a:rPr lang="en" sz="800">
                <a:solidFill>
                  <a:srgbClr val="FFFFFF"/>
                </a:solidFill>
              </a:rPr>
              <a:t>Little visibility into which prereqs cause delays</a:t>
            </a:r>
            <a:endParaRPr sz="800">
              <a:solidFill>
                <a:srgbClr val="FFFFFF"/>
              </a:solidFill>
            </a:endParaRPr>
          </a:p>
          <a:p>
            <a:pPr indent="-215900" lvl="0" marL="342900" rtl="0" algn="l">
              <a:lnSpc>
                <a:spcPct val="110000"/>
              </a:lnSpc>
              <a:spcBef>
                <a:spcPts val="0"/>
              </a:spcBef>
              <a:spcAft>
                <a:spcPts val="0"/>
              </a:spcAft>
              <a:buClr>
                <a:srgbClr val="FFFFFF"/>
              </a:buClr>
              <a:buSzPts val="800"/>
              <a:buChar char="●"/>
            </a:pPr>
            <a:r>
              <a:rPr lang="en" sz="800">
                <a:solidFill>
                  <a:srgbClr val="FFFFFF"/>
                </a:solidFill>
              </a:rPr>
              <a:t>Relies on manual progress reviews</a:t>
            </a:r>
            <a:endParaRPr sz="800">
              <a:solidFill>
                <a:srgbClr val="FFFFFF"/>
              </a:solidFill>
            </a:endParaRPr>
          </a:p>
          <a:p>
            <a:pPr indent="0" lvl="0" marL="0" rtl="0" algn="l">
              <a:lnSpc>
                <a:spcPct val="110000"/>
              </a:lnSpc>
              <a:spcBef>
                <a:spcPts val="900"/>
              </a:spcBef>
              <a:spcAft>
                <a:spcPts val="0"/>
              </a:spcAft>
              <a:buNone/>
            </a:pPr>
            <a:r>
              <a:rPr b="1" lang="en" sz="800">
                <a:solidFill>
                  <a:srgbClr val="FFFFFF"/>
                </a:solidFill>
              </a:rPr>
              <a:t>Goals</a:t>
            </a:r>
            <a:endParaRPr b="1" sz="800">
              <a:solidFill>
                <a:srgbClr val="FFFFFF"/>
              </a:solidFill>
            </a:endParaRPr>
          </a:p>
          <a:p>
            <a:pPr indent="-215900" lvl="0" marL="342900" rtl="0" algn="l">
              <a:lnSpc>
                <a:spcPct val="110000"/>
              </a:lnSpc>
              <a:spcBef>
                <a:spcPts val="900"/>
              </a:spcBef>
              <a:spcAft>
                <a:spcPts val="0"/>
              </a:spcAft>
              <a:buClr>
                <a:srgbClr val="FFFFFF"/>
              </a:buClr>
              <a:buSzPts val="800"/>
              <a:buChar char="●"/>
            </a:pPr>
            <a:r>
              <a:rPr lang="en" sz="800">
                <a:solidFill>
                  <a:srgbClr val="FFFFFF"/>
                </a:solidFill>
              </a:rPr>
              <a:t>Spot bottlenecks</a:t>
            </a:r>
            <a:endParaRPr sz="800">
              <a:solidFill>
                <a:srgbClr val="FFFFFF"/>
              </a:solidFill>
            </a:endParaRPr>
          </a:p>
          <a:p>
            <a:pPr indent="-215900" lvl="0" marL="342900" rtl="0" algn="l">
              <a:lnSpc>
                <a:spcPct val="110000"/>
              </a:lnSpc>
              <a:spcBef>
                <a:spcPts val="0"/>
              </a:spcBef>
              <a:spcAft>
                <a:spcPts val="0"/>
              </a:spcAft>
              <a:buClr>
                <a:srgbClr val="FFFFFF"/>
              </a:buClr>
              <a:buSzPts val="800"/>
              <a:buChar char="●"/>
            </a:pPr>
            <a:r>
              <a:rPr lang="en" sz="800">
                <a:solidFill>
                  <a:srgbClr val="FFFFFF"/>
                </a:solidFill>
              </a:rPr>
              <a:t>Track student progression</a:t>
            </a:r>
            <a:endParaRPr sz="800">
              <a:solidFill>
                <a:srgbClr val="FFFFFF"/>
              </a:solidFill>
            </a:endParaRPr>
          </a:p>
          <a:p>
            <a:pPr indent="-215900" lvl="0" marL="342900" rtl="0" algn="l">
              <a:lnSpc>
                <a:spcPct val="110000"/>
              </a:lnSpc>
              <a:spcBef>
                <a:spcPts val="0"/>
              </a:spcBef>
              <a:spcAft>
                <a:spcPts val="0"/>
              </a:spcAft>
              <a:buClr>
                <a:srgbClr val="FFFFFF"/>
              </a:buClr>
              <a:buSzPts val="800"/>
              <a:buChar char="●"/>
            </a:pPr>
            <a:r>
              <a:rPr lang="en" sz="800">
                <a:solidFill>
                  <a:srgbClr val="FFFFFF"/>
                </a:solidFill>
              </a:rPr>
              <a:t>Support data-driven decisions</a:t>
            </a:r>
            <a:endParaRPr sz="800">
              <a:solidFill>
                <a:srgbClr val="FFFFFF"/>
              </a:solidFill>
            </a:endParaRPr>
          </a:p>
          <a:p>
            <a:pPr indent="-215900" lvl="0" marL="342900" rtl="0" algn="l">
              <a:lnSpc>
                <a:spcPct val="110000"/>
              </a:lnSpc>
              <a:spcBef>
                <a:spcPts val="0"/>
              </a:spcBef>
              <a:spcAft>
                <a:spcPts val="0"/>
              </a:spcAft>
              <a:buClr>
                <a:srgbClr val="FFFFFF"/>
              </a:buClr>
              <a:buSzPts val="800"/>
              <a:buChar char="●"/>
            </a:pPr>
            <a:r>
              <a:rPr lang="en" sz="800">
                <a:solidFill>
                  <a:srgbClr val="FFFFFF"/>
                </a:solidFill>
              </a:rPr>
              <a:t>Raise grad rates</a:t>
            </a:r>
            <a:endParaRPr sz="800">
              <a:solidFill>
                <a:srgbClr val="FFFFFF"/>
              </a:solidFill>
            </a:endParaRPr>
          </a:p>
          <a:p>
            <a:pPr indent="0" lvl="0" marL="0" rtl="0" algn="l">
              <a:lnSpc>
                <a:spcPct val="110000"/>
              </a:lnSpc>
              <a:spcBef>
                <a:spcPts val="900"/>
              </a:spcBef>
              <a:spcAft>
                <a:spcPts val="0"/>
              </a:spcAft>
              <a:buNone/>
            </a:pPr>
            <a:r>
              <a:rPr b="1" lang="en" sz="800">
                <a:solidFill>
                  <a:srgbClr val="FFFFFF"/>
                </a:solidFill>
              </a:rPr>
              <a:t>How IAPO Helps</a:t>
            </a:r>
            <a:endParaRPr b="1" sz="800">
              <a:solidFill>
                <a:srgbClr val="FFFFFF"/>
              </a:solidFill>
            </a:endParaRPr>
          </a:p>
          <a:p>
            <a:pPr indent="-215900" lvl="0" marL="342900" rtl="0" algn="l">
              <a:lnSpc>
                <a:spcPct val="110000"/>
              </a:lnSpc>
              <a:spcBef>
                <a:spcPts val="900"/>
              </a:spcBef>
              <a:spcAft>
                <a:spcPts val="0"/>
              </a:spcAft>
              <a:buClr>
                <a:srgbClr val="FFFFFF"/>
              </a:buClr>
              <a:buSzPts val="800"/>
              <a:buChar char="●"/>
            </a:pPr>
            <a:r>
              <a:rPr lang="en" sz="800">
                <a:solidFill>
                  <a:srgbClr val="FFFFFF"/>
                </a:solidFill>
              </a:rPr>
              <a:t>Surfaces bottlenecks from degree plans to guide curriculum planning</a:t>
            </a:r>
            <a:endParaRPr sz="800">
              <a:solidFill>
                <a:srgbClr val="FFFFFF"/>
              </a:solidFill>
            </a:endParaRPr>
          </a:p>
          <a:p>
            <a:pPr indent="0" lvl="0" marL="0" rtl="0" algn="l">
              <a:lnSpc>
                <a:spcPct val="115000"/>
              </a:lnSpc>
              <a:spcBef>
                <a:spcPts val="900"/>
              </a:spcBef>
              <a:spcAft>
                <a:spcPts val="0"/>
              </a:spcAft>
              <a:buClr>
                <a:srgbClr val="1B212C"/>
              </a:buClr>
              <a:buSzPts val="800"/>
              <a:buFont typeface="Arial"/>
              <a:buNone/>
            </a:pPr>
            <a:r>
              <a:t/>
            </a:r>
            <a:endParaRPr b="1" sz="800">
              <a:solidFill>
                <a:srgbClr val="FFFFFF"/>
              </a:solidFill>
            </a:endParaRPr>
          </a:p>
          <a:p>
            <a:pPr indent="0" lvl="0" marL="0" rtl="0" algn="l">
              <a:spcBef>
                <a:spcPts val="900"/>
              </a:spcBef>
              <a:spcAft>
                <a:spcPts val="0"/>
              </a:spcAft>
              <a:buNone/>
            </a:pPr>
            <a:r>
              <a:t/>
            </a:r>
            <a:endParaRPr sz="1400">
              <a:solidFill>
                <a:srgbClr val="FFFFFF"/>
              </a:solidFill>
            </a:endParaRPr>
          </a:p>
        </p:txBody>
      </p:sp>
      <p:cxnSp>
        <p:nvCxnSpPr>
          <p:cNvPr id="174" name="Google Shape;174;p19"/>
          <p:cNvCxnSpPr/>
          <p:nvPr/>
        </p:nvCxnSpPr>
        <p:spPr>
          <a:xfrm>
            <a:off x="2816888" y="1758056"/>
            <a:ext cx="0" cy="2784900"/>
          </a:xfrm>
          <a:prstGeom prst="straightConnector1">
            <a:avLst/>
          </a:prstGeom>
          <a:noFill/>
          <a:ln cap="flat" cmpd="sng" w="7150">
            <a:solidFill>
              <a:srgbClr val="B7B7B7"/>
            </a:solidFill>
            <a:prstDash val="solid"/>
            <a:round/>
            <a:headEnd len="med" w="med" type="none"/>
            <a:tailEnd len="med" w="med" type="none"/>
          </a:ln>
        </p:spPr>
      </p:cxnSp>
      <p:cxnSp>
        <p:nvCxnSpPr>
          <p:cNvPr id="175" name="Google Shape;175;p19"/>
          <p:cNvCxnSpPr/>
          <p:nvPr/>
        </p:nvCxnSpPr>
        <p:spPr>
          <a:xfrm>
            <a:off x="5632838" y="1716488"/>
            <a:ext cx="0" cy="2784900"/>
          </a:xfrm>
          <a:prstGeom prst="straightConnector1">
            <a:avLst/>
          </a:prstGeom>
          <a:noFill/>
          <a:ln cap="flat" cmpd="sng" w="7150">
            <a:solidFill>
              <a:srgbClr val="B7B7B7"/>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0"/>
          <p:cNvSpPr txBox="1"/>
          <p:nvPr>
            <p:ph type="title"/>
          </p:nvPr>
        </p:nvSpPr>
        <p:spPr>
          <a:xfrm>
            <a:off x="1297500" y="393750"/>
            <a:ext cx="7038900" cy="61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MVP</a:t>
            </a:r>
            <a:endParaRPr/>
          </a:p>
        </p:txBody>
      </p:sp>
      <p:sp>
        <p:nvSpPr>
          <p:cNvPr id="181" name="Google Shape;181;p20"/>
          <p:cNvSpPr txBox="1"/>
          <p:nvPr/>
        </p:nvSpPr>
        <p:spPr>
          <a:xfrm>
            <a:off x="579874" y="1484203"/>
            <a:ext cx="7819200" cy="2919000"/>
          </a:xfrm>
          <a:prstGeom prst="rect">
            <a:avLst/>
          </a:prstGeom>
          <a:noFill/>
          <a:ln>
            <a:noFill/>
          </a:ln>
        </p:spPr>
        <p:txBody>
          <a:bodyPr anchorCtr="0" anchor="t" bIns="34275" lIns="68575" spcFirstLastPara="1" rIns="68575" wrap="square" tIns="34275">
            <a:normAutofit/>
          </a:bodyPr>
          <a:lstStyle/>
          <a:p>
            <a:pPr indent="-254000" lvl="0" marL="342900" rtl="0" algn="l">
              <a:lnSpc>
                <a:spcPct val="110000"/>
              </a:lnSpc>
              <a:spcBef>
                <a:spcPts val="0"/>
              </a:spcBef>
              <a:spcAft>
                <a:spcPts val="0"/>
              </a:spcAft>
              <a:buClr>
                <a:srgbClr val="FFFFFF"/>
              </a:buClr>
              <a:buSzPts val="1400"/>
              <a:buFont typeface="Lato"/>
              <a:buChar char="●"/>
            </a:pPr>
            <a:r>
              <a:rPr lang="en" sz="1300">
                <a:solidFill>
                  <a:srgbClr val="FFFFFF"/>
                </a:solidFill>
                <a:latin typeface="Lato"/>
                <a:ea typeface="Lato"/>
                <a:cs typeface="Lato"/>
                <a:sym typeface="Lato"/>
              </a:rPr>
              <a:t>A user-friendly interface in which the user can interact with the AI tied to the app to receive feedback based on the input</a:t>
            </a:r>
            <a:endParaRPr sz="1300">
              <a:solidFill>
                <a:srgbClr val="FFFFFF"/>
              </a:solidFill>
              <a:latin typeface="Lato"/>
              <a:ea typeface="Lato"/>
              <a:cs typeface="Lato"/>
              <a:sym typeface="Lato"/>
            </a:endParaRPr>
          </a:p>
          <a:p>
            <a:pPr indent="-254000" lvl="0" marL="342900" rtl="0" algn="l">
              <a:lnSpc>
                <a:spcPct val="110000"/>
              </a:lnSpc>
              <a:spcBef>
                <a:spcPts val="0"/>
              </a:spcBef>
              <a:spcAft>
                <a:spcPts val="0"/>
              </a:spcAft>
              <a:buClr>
                <a:srgbClr val="FFFFFF"/>
              </a:buClr>
              <a:buSzPts val="1400"/>
              <a:buFont typeface="Lato"/>
              <a:buChar char="●"/>
            </a:pPr>
            <a:r>
              <a:rPr lang="en" sz="1300">
                <a:solidFill>
                  <a:srgbClr val="FFFFFF"/>
                </a:solidFill>
                <a:latin typeface="Lato"/>
                <a:ea typeface="Lato"/>
                <a:cs typeface="Lato"/>
                <a:sym typeface="Lato"/>
              </a:rPr>
              <a:t>A text input in which students can specify their particular academic needs to the AI</a:t>
            </a:r>
            <a:endParaRPr sz="1300">
              <a:solidFill>
                <a:srgbClr val="FFFFFF"/>
              </a:solidFill>
              <a:latin typeface="Lato"/>
              <a:ea typeface="Lato"/>
              <a:cs typeface="Lato"/>
              <a:sym typeface="Lato"/>
            </a:endParaRPr>
          </a:p>
          <a:p>
            <a:pPr indent="-254000" lvl="0" marL="342900" rtl="0" algn="l">
              <a:lnSpc>
                <a:spcPct val="110000"/>
              </a:lnSpc>
              <a:spcBef>
                <a:spcPts val="0"/>
              </a:spcBef>
              <a:spcAft>
                <a:spcPts val="0"/>
              </a:spcAft>
              <a:buClr>
                <a:srgbClr val="FFFFFF"/>
              </a:buClr>
              <a:buSzPts val="1400"/>
              <a:buFont typeface="Lato"/>
              <a:buChar char="●"/>
            </a:pPr>
            <a:r>
              <a:rPr lang="en" sz="1300">
                <a:solidFill>
                  <a:srgbClr val="FFFFFF"/>
                </a:solidFill>
                <a:latin typeface="Lato"/>
                <a:ea typeface="Lato"/>
                <a:cs typeface="Lato"/>
                <a:sym typeface="Lato"/>
              </a:rPr>
              <a:t>A clearly visible feedback mechanism which users can utilize to inform developers about the AI, particularly in cases when it generates incorrect information or hallucinates</a:t>
            </a:r>
            <a:endParaRPr sz="1300">
              <a:solidFill>
                <a:srgbClr val="FFFFFF"/>
              </a:solidFill>
              <a:latin typeface="Lato"/>
              <a:ea typeface="Lato"/>
              <a:cs typeface="Lato"/>
              <a:sym typeface="Lato"/>
            </a:endParaRPr>
          </a:p>
          <a:p>
            <a:pPr indent="-254000" lvl="0" marL="342900" rtl="0" algn="l">
              <a:lnSpc>
                <a:spcPct val="110000"/>
              </a:lnSpc>
              <a:spcBef>
                <a:spcPts val="0"/>
              </a:spcBef>
              <a:spcAft>
                <a:spcPts val="0"/>
              </a:spcAft>
              <a:buClr>
                <a:srgbClr val="FFFFFF"/>
              </a:buClr>
              <a:buSzPts val="1400"/>
              <a:buFont typeface="Lato"/>
              <a:buChar char="●"/>
            </a:pPr>
            <a:r>
              <a:rPr lang="en" sz="1300">
                <a:solidFill>
                  <a:srgbClr val="FFFFFF"/>
                </a:solidFill>
                <a:latin typeface="Lato"/>
                <a:ea typeface="Lato"/>
                <a:cs typeface="Lato"/>
                <a:sym typeface="Lato"/>
              </a:rPr>
              <a:t>A means for users to select the major that they are pursuing and at which level, be it undergraduate or graduate</a:t>
            </a:r>
            <a:endParaRPr sz="1300">
              <a:solidFill>
                <a:srgbClr val="FFFFFF"/>
              </a:solidFill>
              <a:latin typeface="Lato"/>
              <a:ea typeface="Lato"/>
              <a:cs typeface="Lato"/>
              <a:sym typeface="Lato"/>
            </a:endParaRPr>
          </a:p>
          <a:p>
            <a:pPr indent="-254000" lvl="0" marL="342900" rtl="0" algn="l">
              <a:lnSpc>
                <a:spcPct val="110000"/>
              </a:lnSpc>
              <a:spcBef>
                <a:spcPts val="0"/>
              </a:spcBef>
              <a:spcAft>
                <a:spcPts val="0"/>
              </a:spcAft>
              <a:buClr>
                <a:srgbClr val="FFFFFF"/>
              </a:buClr>
              <a:buSzPts val="1400"/>
              <a:buFont typeface="Lato"/>
              <a:buChar char="●"/>
            </a:pPr>
            <a:r>
              <a:rPr lang="en" sz="1300">
                <a:solidFill>
                  <a:srgbClr val="FFFFFF"/>
                </a:solidFill>
                <a:latin typeface="Lato"/>
                <a:ea typeface="Lato"/>
                <a:cs typeface="Lato"/>
                <a:sym typeface="Lato"/>
              </a:rPr>
              <a:t>Output from the AI which consists of the classes that the students should take based on specified major as well as any text input for specific academic needs in the prompt, and in which semesters these students should take specific classes</a:t>
            </a:r>
            <a:endParaRPr sz="1300">
              <a:solidFill>
                <a:srgbClr val="FFFFFF"/>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Technologies</a:t>
            </a:r>
            <a:endParaRPr/>
          </a:p>
        </p:txBody>
      </p:sp>
      <p:sp>
        <p:nvSpPr>
          <p:cNvPr id="187" name="Google Shape;187;p21"/>
          <p:cNvSpPr txBox="1"/>
          <p:nvPr/>
        </p:nvSpPr>
        <p:spPr>
          <a:xfrm>
            <a:off x="1048481" y="1402613"/>
            <a:ext cx="2037900" cy="3534000"/>
          </a:xfrm>
          <a:prstGeom prst="rect">
            <a:avLst/>
          </a:prstGeom>
          <a:noFill/>
          <a:ln cap="flat" cmpd="sng" w="9525">
            <a:solidFill>
              <a:srgbClr val="000000"/>
            </a:solidFill>
            <a:prstDash val="solid"/>
            <a:round/>
            <a:headEnd len="sm" w="sm" type="none"/>
            <a:tailEnd len="sm" w="sm" type="none"/>
          </a:ln>
        </p:spPr>
        <p:txBody>
          <a:bodyPr anchorCtr="0" anchor="t" bIns="68575" lIns="68575" spcFirstLastPara="1" rIns="68575" wrap="square" tIns="68575">
            <a:noAutofit/>
          </a:bodyPr>
          <a:lstStyle/>
          <a:p>
            <a:pPr indent="0" lvl="0" marL="0" rtl="0" algn="l">
              <a:spcBef>
                <a:spcPts val="0"/>
              </a:spcBef>
              <a:spcAft>
                <a:spcPts val="0"/>
              </a:spcAft>
              <a:buNone/>
            </a:pPr>
            <a:r>
              <a:rPr b="1" lang="en" sz="1800">
                <a:solidFill>
                  <a:srgbClr val="FFFFFF"/>
                </a:solidFill>
              </a:rPr>
              <a:t>Frontend </a:t>
            </a:r>
            <a:endParaRPr b="1" sz="1800">
              <a:solidFill>
                <a:srgbClr val="FFFFFF"/>
              </a:solidFill>
            </a:endParaRPr>
          </a:p>
          <a:p>
            <a:pPr indent="0" lvl="0" marL="0" rtl="0" algn="l">
              <a:spcBef>
                <a:spcPts val="0"/>
              </a:spcBef>
              <a:spcAft>
                <a:spcPts val="0"/>
              </a:spcAft>
              <a:buNone/>
            </a:pPr>
            <a:r>
              <a:rPr b="1" lang="en" sz="1800">
                <a:solidFill>
                  <a:srgbClr val="FFFFFF"/>
                </a:solidFill>
              </a:rPr>
              <a:t>(React Website)</a:t>
            </a:r>
            <a:endParaRPr b="1" sz="1800">
              <a:solidFill>
                <a:srgbClr val="FFFFFF"/>
              </a:solidFill>
            </a:endParaRPr>
          </a:p>
          <a:p>
            <a:pPr indent="0" lvl="0" marL="0" rtl="0" algn="l">
              <a:spcBef>
                <a:spcPts val="0"/>
              </a:spcBef>
              <a:spcAft>
                <a:spcPts val="0"/>
              </a:spcAft>
              <a:buNone/>
            </a:pPr>
            <a:r>
              <a:t/>
            </a:r>
            <a:endParaRPr b="1" sz="1800">
              <a:solidFill>
                <a:srgbClr val="FFFFFF"/>
              </a:solidFill>
            </a:endParaRPr>
          </a:p>
          <a:p>
            <a:pPr indent="-279400" lvl="0" marL="342900" rtl="0" algn="l">
              <a:spcBef>
                <a:spcPts val="0"/>
              </a:spcBef>
              <a:spcAft>
                <a:spcPts val="0"/>
              </a:spcAft>
              <a:buClr>
                <a:srgbClr val="FFFFFF"/>
              </a:buClr>
              <a:buSzPts val="1800"/>
              <a:buChar char="-"/>
            </a:pPr>
            <a:r>
              <a:rPr b="1" lang="en" sz="1800">
                <a:solidFill>
                  <a:srgbClr val="FFFFFF"/>
                </a:solidFill>
              </a:rPr>
              <a:t>Figma</a:t>
            </a:r>
            <a:br>
              <a:rPr b="1" lang="en" sz="1800">
                <a:solidFill>
                  <a:srgbClr val="FFFFFF"/>
                </a:solidFill>
              </a:rPr>
            </a:br>
            <a:endParaRPr b="1" sz="1800">
              <a:solidFill>
                <a:srgbClr val="FFFFFF"/>
              </a:solidFill>
            </a:endParaRPr>
          </a:p>
          <a:p>
            <a:pPr indent="-279400" lvl="0" marL="342900" rtl="0" algn="l">
              <a:spcBef>
                <a:spcPts val="0"/>
              </a:spcBef>
              <a:spcAft>
                <a:spcPts val="0"/>
              </a:spcAft>
              <a:buClr>
                <a:srgbClr val="FFFFFF"/>
              </a:buClr>
              <a:buSzPts val="1800"/>
              <a:buChar char="-"/>
            </a:pPr>
            <a:r>
              <a:rPr b="1" lang="en" sz="1800">
                <a:solidFill>
                  <a:srgbClr val="FFFFFF"/>
                </a:solidFill>
              </a:rPr>
              <a:t>React JS</a:t>
            </a:r>
            <a:br>
              <a:rPr b="1" lang="en" sz="1800">
                <a:solidFill>
                  <a:srgbClr val="FFFFFF"/>
                </a:solidFill>
              </a:rPr>
            </a:br>
            <a:endParaRPr b="1" sz="1800">
              <a:solidFill>
                <a:srgbClr val="FFFFFF"/>
              </a:solidFill>
            </a:endParaRPr>
          </a:p>
          <a:p>
            <a:pPr indent="-279400" lvl="0" marL="342900" rtl="0" algn="l">
              <a:spcBef>
                <a:spcPts val="0"/>
              </a:spcBef>
              <a:spcAft>
                <a:spcPts val="0"/>
              </a:spcAft>
              <a:buClr>
                <a:srgbClr val="FFFFFF"/>
              </a:buClr>
              <a:buSzPts val="1800"/>
              <a:buChar char="-"/>
            </a:pPr>
            <a:r>
              <a:rPr b="1" lang="en" sz="1800">
                <a:solidFill>
                  <a:srgbClr val="FFFFFF"/>
                </a:solidFill>
              </a:rPr>
              <a:t>Native CSS</a:t>
            </a:r>
            <a:br>
              <a:rPr b="1" lang="en" sz="1800">
                <a:solidFill>
                  <a:srgbClr val="FFFFFF"/>
                </a:solidFill>
              </a:rPr>
            </a:br>
            <a:endParaRPr b="1" sz="1800">
              <a:solidFill>
                <a:srgbClr val="FFFFFF"/>
              </a:solidFill>
            </a:endParaRPr>
          </a:p>
          <a:p>
            <a:pPr indent="-279400" lvl="0" marL="342900" rtl="0" algn="l">
              <a:spcBef>
                <a:spcPts val="0"/>
              </a:spcBef>
              <a:spcAft>
                <a:spcPts val="0"/>
              </a:spcAft>
              <a:buClr>
                <a:srgbClr val="FFFFFF"/>
              </a:buClr>
              <a:buSzPts val="1800"/>
              <a:buChar char="-"/>
            </a:pPr>
            <a:r>
              <a:rPr b="1" lang="en" sz="1800">
                <a:solidFill>
                  <a:srgbClr val="FFFFFF"/>
                </a:solidFill>
              </a:rPr>
              <a:t>Email JS</a:t>
            </a:r>
            <a:endParaRPr b="1" sz="1800">
              <a:solidFill>
                <a:srgbClr val="FFFFFF"/>
              </a:solidFill>
            </a:endParaRPr>
          </a:p>
        </p:txBody>
      </p:sp>
      <p:sp>
        <p:nvSpPr>
          <p:cNvPr id="188" name="Google Shape;188;p21"/>
          <p:cNvSpPr txBox="1"/>
          <p:nvPr/>
        </p:nvSpPr>
        <p:spPr>
          <a:xfrm>
            <a:off x="3166688" y="1402613"/>
            <a:ext cx="2267700" cy="3534000"/>
          </a:xfrm>
          <a:prstGeom prst="rect">
            <a:avLst/>
          </a:prstGeom>
          <a:noFill/>
          <a:ln cap="flat" cmpd="sng" w="9525">
            <a:solidFill>
              <a:srgbClr val="000000"/>
            </a:solidFill>
            <a:prstDash val="solid"/>
            <a:round/>
            <a:headEnd len="sm" w="sm" type="none"/>
            <a:tailEnd len="sm" w="sm" type="none"/>
          </a:ln>
        </p:spPr>
        <p:txBody>
          <a:bodyPr anchorCtr="0" anchor="t" bIns="68575" lIns="68575" spcFirstLastPara="1" rIns="68575" wrap="square" tIns="68575">
            <a:noAutofit/>
          </a:bodyPr>
          <a:lstStyle/>
          <a:p>
            <a:pPr indent="0" lvl="0" marL="0" rtl="0" algn="l">
              <a:spcBef>
                <a:spcPts val="0"/>
              </a:spcBef>
              <a:spcAft>
                <a:spcPts val="0"/>
              </a:spcAft>
              <a:buNone/>
            </a:pPr>
            <a:r>
              <a:rPr b="1" lang="en" sz="1800">
                <a:solidFill>
                  <a:srgbClr val="FFFFFF"/>
                </a:solidFill>
              </a:rPr>
              <a:t>Backend </a:t>
            </a:r>
            <a:endParaRPr b="1" sz="1800">
              <a:solidFill>
                <a:srgbClr val="FFFFFF"/>
              </a:solidFill>
            </a:endParaRPr>
          </a:p>
          <a:p>
            <a:pPr indent="0" lvl="0" marL="0" rtl="0" algn="l">
              <a:spcBef>
                <a:spcPts val="0"/>
              </a:spcBef>
              <a:spcAft>
                <a:spcPts val="0"/>
              </a:spcAft>
              <a:buNone/>
            </a:pPr>
            <a:r>
              <a:rPr b="1" lang="en" sz="1800">
                <a:solidFill>
                  <a:srgbClr val="FFFFFF"/>
                </a:solidFill>
              </a:rPr>
              <a:t>(Web Server)</a:t>
            </a:r>
            <a:endParaRPr b="1" sz="1800">
              <a:solidFill>
                <a:srgbClr val="FFFFFF"/>
              </a:solidFill>
            </a:endParaRPr>
          </a:p>
          <a:p>
            <a:pPr indent="0" lvl="0" marL="0" rtl="0" algn="l">
              <a:spcBef>
                <a:spcPts val="0"/>
              </a:spcBef>
              <a:spcAft>
                <a:spcPts val="0"/>
              </a:spcAft>
              <a:buNone/>
            </a:pPr>
            <a:r>
              <a:t/>
            </a:r>
            <a:endParaRPr b="1" sz="1800">
              <a:solidFill>
                <a:srgbClr val="FFFFFF"/>
              </a:solidFill>
            </a:endParaRPr>
          </a:p>
          <a:p>
            <a:pPr indent="-279400" lvl="0" marL="342900" rtl="0" algn="l">
              <a:spcBef>
                <a:spcPts val="0"/>
              </a:spcBef>
              <a:spcAft>
                <a:spcPts val="0"/>
              </a:spcAft>
              <a:buClr>
                <a:srgbClr val="FFFFFF"/>
              </a:buClr>
              <a:buSzPts val="1800"/>
              <a:buChar char="-"/>
            </a:pPr>
            <a:r>
              <a:rPr b="1" lang="en" sz="1800">
                <a:solidFill>
                  <a:srgbClr val="FFFFFF"/>
                </a:solidFill>
              </a:rPr>
              <a:t>Python 3.12 w. FastAPI</a:t>
            </a:r>
            <a:br>
              <a:rPr b="1" lang="en" sz="1800">
                <a:solidFill>
                  <a:srgbClr val="FFFFFF"/>
                </a:solidFill>
              </a:rPr>
            </a:br>
            <a:endParaRPr b="1" sz="1800">
              <a:solidFill>
                <a:srgbClr val="FFFFFF"/>
              </a:solidFill>
            </a:endParaRPr>
          </a:p>
          <a:p>
            <a:pPr indent="-279400" lvl="0" marL="342900" rtl="0" algn="l">
              <a:spcBef>
                <a:spcPts val="0"/>
              </a:spcBef>
              <a:spcAft>
                <a:spcPts val="0"/>
              </a:spcAft>
              <a:buClr>
                <a:srgbClr val="FFFFFF"/>
              </a:buClr>
              <a:buSzPts val="1800"/>
              <a:buChar char="-"/>
            </a:pPr>
            <a:r>
              <a:rPr b="1" lang="en" sz="1800">
                <a:solidFill>
                  <a:srgbClr val="FFFFFF"/>
                </a:solidFill>
              </a:rPr>
              <a:t>Gemini API </a:t>
            </a:r>
            <a:br>
              <a:rPr b="1" lang="en" sz="1800">
                <a:solidFill>
                  <a:srgbClr val="FFFFFF"/>
                </a:solidFill>
              </a:rPr>
            </a:br>
            <a:r>
              <a:rPr b="1" lang="en" sz="1800">
                <a:solidFill>
                  <a:srgbClr val="FFFFFF"/>
                </a:solidFill>
              </a:rPr>
              <a:t>(AI Chat)</a:t>
            </a:r>
            <a:br>
              <a:rPr b="1" lang="en" sz="1800">
                <a:solidFill>
                  <a:srgbClr val="FFFFFF"/>
                </a:solidFill>
              </a:rPr>
            </a:br>
            <a:endParaRPr b="1" sz="1800">
              <a:solidFill>
                <a:srgbClr val="FFFFFF"/>
              </a:solidFill>
            </a:endParaRPr>
          </a:p>
          <a:p>
            <a:pPr indent="-279400" lvl="0" marL="342900" rtl="0" algn="l">
              <a:spcBef>
                <a:spcPts val="0"/>
              </a:spcBef>
              <a:spcAft>
                <a:spcPts val="0"/>
              </a:spcAft>
              <a:buClr>
                <a:srgbClr val="FFFFFF"/>
              </a:buClr>
              <a:buSzPts val="1800"/>
              <a:buChar char="-"/>
            </a:pPr>
            <a:r>
              <a:rPr b="1" lang="en" sz="1800">
                <a:solidFill>
                  <a:srgbClr val="FFFFFF"/>
                </a:solidFill>
              </a:rPr>
              <a:t>AWS DynamoDB + S3 (Accounts)</a:t>
            </a:r>
            <a:endParaRPr b="1" sz="1800">
              <a:solidFill>
                <a:srgbClr val="FFFFFF"/>
              </a:solidFill>
            </a:endParaRPr>
          </a:p>
        </p:txBody>
      </p:sp>
      <p:sp>
        <p:nvSpPr>
          <p:cNvPr id="189" name="Google Shape;189;p21"/>
          <p:cNvSpPr txBox="1"/>
          <p:nvPr/>
        </p:nvSpPr>
        <p:spPr>
          <a:xfrm>
            <a:off x="5514619" y="1402613"/>
            <a:ext cx="2585400" cy="3534000"/>
          </a:xfrm>
          <a:prstGeom prst="rect">
            <a:avLst/>
          </a:prstGeom>
          <a:noFill/>
          <a:ln cap="flat" cmpd="sng" w="9525">
            <a:solidFill>
              <a:srgbClr val="000000"/>
            </a:solidFill>
            <a:prstDash val="solid"/>
            <a:round/>
            <a:headEnd len="sm" w="sm" type="none"/>
            <a:tailEnd len="sm" w="sm" type="none"/>
          </a:ln>
        </p:spPr>
        <p:txBody>
          <a:bodyPr anchorCtr="0" anchor="t" bIns="68575" lIns="68575" spcFirstLastPara="1" rIns="68575" wrap="square" tIns="68575">
            <a:noAutofit/>
          </a:bodyPr>
          <a:lstStyle/>
          <a:p>
            <a:pPr indent="0" lvl="0" marL="0" rtl="0" algn="l">
              <a:spcBef>
                <a:spcPts val="0"/>
              </a:spcBef>
              <a:spcAft>
                <a:spcPts val="0"/>
              </a:spcAft>
              <a:buNone/>
            </a:pPr>
            <a:r>
              <a:rPr b="1" lang="en" sz="1800">
                <a:solidFill>
                  <a:srgbClr val="FFFFFF"/>
                </a:solidFill>
              </a:rPr>
              <a:t>Web Hosting</a:t>
            </a:r>
            <a:endParaRPr b="1" sz="1800">
              <a:solidFill>
                <a:srgbClr val="FFFFFF"/>
              </a:solidFill>
            </a:endParaRPr>
          </a:p>
          <a:p>
            <a:pPr indent="0" lvl="0" marL="0" rtl="0" algn="l">
              <a:spcBef>
                <a:spcPts val="0"/>
              </a:spcBef>
              <a:spcAft>
                <a:spcPts val="0"/>
              </a:spcAft>
              <a:buNone/>
            </a:pPr>
            <a:r>
              <a:t/>
            </a:r>
            <a:endParaRPr b="1" sz="1800">
              <a:solidFill>
                <a:srgbClr val="FFFFFF"/>
              </a:solidFill>
            </a:endParaRPr>
          </a:p>
          <a:p>
            <a:pPr indent="-279400" lvl="0" marL="342900" rtl="0" algn="l">
              <a:spcBef>
                <a:spcPts val="0"/>
              </a:spcBef>
              <a:spcAft>
                <a:spcPts val="0"/>
              </a:spcAft>
              <a:buClr>
                <a:srgbClr val="FFFFFF"/>
              </a:buClr>
              <a:buSzPts val="1800"/>
              <a:buChar char="-"/>
            </a:pPr>
            <a:r>
              <a:rPr b="1" lang="en" sz="1800">
                <a:solidFill>
                  <a:srgbClr val="FFFFFF"/>
                </a:solidFill>
              </a:rPr>
              <a:t>Github Pages (Frontend)</a:t>
            </a:r>
            <a:br>
              <a:rPr b="1" lang="en" sz="1800">
                <a:solidFill>
                  <a:srgbClr val="FFFFFF"/>
                </a:solidFill>
              </a:rPr>
            </a:br>
            <a:endParaRPr b="1" sz="1800">
              <a:solidFill>
                <a:srgbClr val="FFFFFF"/>
              </a:solidFill>
            </a:endParaRPr>
          </a:p>
          <a:p>
            <a:pPr indent="-279400" lvl="0" marL="342900" rtl="0" algn="l">
              <a:spcBef>
                <a:spcPts val="0"/>
              </a:spcBef>
              <a:spcAft>
                <a:spcPts val="0"/>
              </a:spcAft>
              <a:buClr>
                <a:srgbClr val="FFFFFF"/>
              </a:buClr>
              <a:buSzPts val="1800"/>
              <a:buChar char="-"/>
            </a:pPr>
            <a:r>
              <a:rPr b="1" lang="en" sz="1800">
                <a:solidFill>
                  <a:srgbClr val="FFFFFF"/>
                </a:solidFill>
              </a:rPr>
              <a:t>PythonAnywhere (Web Server)</a:t>
            </a:r>
            <a:br>
              <a:rPr b="1" lang="en" sz="1800">
                <a:solidFill>
                  <a:srgbClr val="FFFFFF"/>
                </a:solidFill>
              </a:rPr>
            </a:br>
            <a:endParaRPr b="1" sz="1800">
              <a:solidFill>
                <a:srgbClr val="FFFFFF"/>
              </a:solidFill>
            </a:endParaRPr>
          </a:p>
          <a:p>
            <a:pPr indent="-279400" lvl="0" marL="342900" rtl="0" algn="l">
              <a:spcBef>
                <a:spcPts val="0"/>
              </a:spcBef>
              <a:spcAft>
                <a:spcPts val="0"/>
              </a:spcAft>
              <a:buClr>
                <a:srgbClr val="FFFFFF"/>
              </a:buClr>
              <a:buSzPts val="1800"/>
              <a:buChar char="-"/>
            </a:pPr>
            <a:r>
              <a:rPr b="1" lang="en" sz="1800">
                <a:solidFill>
                  <a:srgbClr val="FFFFFF"/>
                </a:solidFill>
              </a:rPr>
              <a:t>AWS </a:t>
            </a:r>
            <a:br>
              <a:rPr b="1" lang="en" sz="1800">
                <a:solidFill>
                  <a:srgbClr val="FFFFFF"/>
                </a:solidFill>
              </a:rPr>
            </a:br>
            <a:r>
              <a:rPr b="1" lang="en" sz="1800">
                <a:solidFill>
                  <a:srgbClr val="FFFFFF"/>
                </a:solidFill>
              </a:rPr>
              <a:t>(User Storage)</a:t>
            </a:r>
            <a:br>
              <a:rPr b="1" lang="en" sz="1800">
                <a:solidFill>
                  <a:srgbClr val="FFFFFF"/>
                </a:solidFill>
              </a:rPr>
            </a:br>
            <a:endParaRPr b="1" sz="1800">
              <a:solidFill>
                <a:srgbClr val="FFFFFF"/>
              </a:solidFill>
            </a:endParaRPr>
          </a:p>
          <a:p>
            <a:pPr indent="-279400" lvl="0" marL="342900" rtl="0" algn="l">
              <a:spcBef>
                <a:spcPts val="0"/>
              </a:spcBef>
              <a:spcAft>
                <a:spcPts val="0"/>
              </a:spcAft>
              <a:buClr>
                <a:srgbClr val="FFFFFF"/>
              </a:buClr>
              <a:buSzPts val="1800"/>
              <a:buChar char="-"/>
            </a:pPr>
            <a:r>
              <a:rPr b="1" lang="en" sz="1800">
                <a:solidFill>
                  <a:srgbClr val="FFFFFF"/>
                </a:solidFill>
              </a:rPr>
              <a:t>Gemini (AI Server)</a:t>
            </a:r>
            <a:endParaRPr b="1" sz="1800">
              <a:solidFill>
                <a:srgbClr val="FFFFFF"/>
              </a:solidFill>
            </a:endParaRPr>
          </a:p>
          <a:p>
            <a:pPr indent="0" lvl="0" marL="0" rtl="0" algn="l">
              <a:spcBef>
                <a:spcPts val="0"/>
              </a:spcBef>
              <a:spcAft>
                <a:spcPts val="0"/>
              </a:spcAft>
              <a:buNone/>
            </a:pPr>
            <a:r>
              <a:t/>
            </a:r>
            <a:endParaRPr b="1" sz="1800">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Algorithms</a:t>
            </a:r>
            <a:endParaRPr/>
          </a:p>
        </p:txBody>
      </p:sp>
      <p:sp>
        <p:nvSpPr>
          <p:cNvPr id="195" name="Google Shape;195;p2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t>Input</a:t>
            </a:r>
            <a:r>
              <a:rPr lang="en"/>
              <a:t> 	          form fields + free text + optional transcript</a:t>
            </a:r>
            <a:endParaRPr/>
          </a:p>
          <a:p>
            <a:pPr indent="0" lvl="0" marL="0" rtl="0" algn="l">
              <a:spcBef>
                <a:spcPts val="1200"/>
              </a:spcBef>
              <a:spcAft>
                <a:spcPts val="0"/>
              </a:spcAft>
              <a:buNone/>
            </a:pPr>
            <a:r>
              <a:rPr lang="en"/>
              <a:t>Stage 1: AI Extraction            Receives student inputs, decodes transcript, sends structured prompt to Gemini API, returns validated student profile (completed courses, degree level, constraints, preferences)</a:t>
            </a:r>
            <a:endParaRPr/>
          </a:p>
          <a:p>
            <a:pPr indent="0" lvl="0" marL="0" rtl="0" algn="l">
              <a:spcBef>
                <a:spcPts val="1200"/>
              </a:spcBef>
              <a:spcAft>
                <a:spcPts val="0"/>
              </a:spcAft>
              <a:buNone/>
            </a:pPr>
            <a:r>
              <a:rPr lang="en"/>
              <a:t>Stage 2: AI Catalog Reasoning	       Loads full course catalog from database, maps free text to scheduling constraints, scores electives by interest/career fit, checks prerequisite eligibility, calculates remaining degree requirements, drafts candidate plans</a:t>
            </a:r>
            <a:endParaRPr/>
          </a:p>
          <a:p>
            <a:pPr indent="0" lvl="0" marL="0" rtl="0" algn="l">
              <a:spcBef>
                <a:spcPts val="1200"/>
              </a:spcBef>
              <a:spcAft>
                <a:spcPts val="0"/>
              </a:spcAft>
              <a:buNone/>
            </a:pPr>
            <a:r>
              <a:rPr lang="en"/>
              <a:t>Stage 3: CSP Solver 	Validates AI-proposed plans against live section data, resolves conflicts, optimizes final schedule</a:t>
            </a:r>
            <a:endParaRPr/>
          </a:p>
          <a:p>
            <a:pPr indent="0" lvl="0" marL="0" rtl="0" algn="l">
              <a:spcBef>
                <a:spcPts val="1200"/>
              </a:spcBef>
              <a:spcAft>
                <a:spcPts val="1200"/>
              </a:spcAft>
              <a:buNone/>
            </a:pPr>
            <a:r>
              <a:rPr lang="en"/>
              <a:t>Output	  A personalized, recommended course schedule</a:t>
            </a:r>
            <a:endParaRPr/>
          </a:p>
        </p:txBody>
      </p:sp>
      <p:sp>
        <p:nvSpPr>
          <p:cNvPr id="196" name="Google Shape;196;p22"/>
          <p:cNvSpPr/>
          <p:nvPr/>
        </p:nvSpPr>
        <p:spPr>
          <a:xfrm>
            <a:off x="1840125" y="1685325"/>
            <a:ext cx="259800" cy="166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7" name="Google Shape;197;p22"/>
          <p:cNvSpPr/>
          <p:nvPr/>
        </p:nvSpPr>
        <p:spPr>
          <a:xfrm>
            <a:off x="2038575" y="4173575"/>
            <a:ext cx="259800" cy="166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8" name="Google Shape;198;p22"/>
          <p:cNvSpPr/>
          <p:nvPr/>
        </p:nvSpPr>
        <p:spPr>
          <a:xfrm>
            <a:off x="3594775" y="2830125"/>
            <a:ext cx="259800" cy="166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9" name="Google Shape;199;p22"/>
          <p:cNvSpPr/>
          <p:nvPr/>
        </p:nvSpPr>
        <p:spPr>
          <a:xfrm>
            <a:off x="2976225" y="2038975"/>
            <a:ext cx="259800" cy="166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0" name="Google Shape;200;p22"/>
          <p:cNvSpPr/>
          <p:nvPr/>
        </p:nvSpPr>
        <p:spPr>
          <a:xfrm>
            <a:off x="2875475" y="3606700"/>
            <a:ext cx="259800" cy="166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3"/>
          <p:cNvSpPr txBox="1"/>
          <p:nvPr/>
        </p:nvSpPr>
        <p:spPr>
          <a:xfrm>
            <a:off x="937450" y="137328"/>
            <a:ext cx="8367000" cy="558000"/>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None/>
            </a:pPr>
            <a:r>
              <a:rPr lang="en" sz="2800">
                <a:solidFill>
                  <a:srgbClr val="FFFFFF"/>
                </a:solidFill>
                <a:latin typeface="Montserrat"/>
                <a:ea typeface="Montserrat"/>
                <a:cs typeface="Montserrat"/>
                <a:sym typeface="Montserrat"/>
              </a:rPr>
              <a:t>Systems Architecture</a:t>
            </a:r>
            <a:endParaRPr sz="2800">
              <a:solidFill>
                <a:srgbClr val="FFFFFF"/>
              </a:solidFill>
              <a:latin typeface="Montserrat"/>
              <a:ea typeface="Montserrat"/>
              <a:cs typeface="Montserrat"/>
              <a:sym typeface="Montserrat"/>
            </a:endParaRPr>
          </a:p>
        </p:txBody>
      </p:sp>
      <p:pic>
        <p:nvPicPr>
          <p:cNvPr id="206" name="Google Shape;206;p23"/>
          <p:cNvPicPr preferRelativeResize="0"/>
          <p:nvPr/>
        </p:nvPicPr>
        <p:blipFill>
          <a:blip r:embed="rId3">
            <a:alphaModFix/>
          </a:blip>
          <a:stretch>
            <a:fillRect/>
          </a:stretch>
        </p:blipFill>
        <p:spPr>
          <a:xfrm>
            <a:off x="1187050" y="886253"/>
            <a:ext cx="7115305" cy="403594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4"/>
          <p:cNvSpPr txBox="1"/>
          <p:nvPr/>
        </p:nvSpPr>
        <p:spPr>
          <a:xfrm>
            <a:off x="388500" y="96653"/>
            <a:ext cx="8367000" cy="621000"/>
          </a:xfrm>
          <a:prstGeom prst="rect">
            <a:avLst/>
          </a:prstGeom>
          <a:noFill/>
          <a:ln>
            <a:noFill/>
          </a:ln>
        </p:spPr>
        <p:txBody>
          <a:bodyPr anchorCtr="0" anchor="t" bIns="34275" lIns="68575" spcFirstLastPara="1" rIns="68575" wrap="square" tIns="34275">
            <a:normAutofit/>
          </a:bodyPr>
          <a:lstStyle/>
          <a:p>
            <a:pPr indent="0" lvl="0" marL="0" rtl="0" algn="ctr">
              <a:spcBef>
                <a:spcPts val="0"/>
              </a:spcBef>
              <a:spcAft>
                <a:spcPts val="0"/>
              </a:spcAft>
              <a:buNone/>
            </a:pPr>
            <a:r>
              <a:rPr lang="en" sz="2800">
                <a:solidFill>
                  <a:srgbClr val="FFFFFF"/>
                </a:solidFill>
                <a:latin typeface="Montserrat"/>
                <a:ea typeface="Montserrat"/>
                <a:cs typeface="Montserrat"/>
                <a:sym typeface="Montserrat"/>
              </a:rPr>
              <a:t>Database Design</a:t>
            </a:r>
            <a:endParaRPr sz="2800">
              <a:solidFill>
                <a:srgbClr val="FFFFFF"/>
              </a:solidFill>
              <a:latin typeface="Montserrat"/>
              <a:ea typeface="Montserrat"/>
              <a:cs typeface="Montserrat"/>
              <a:sym typeface="Montserrat"/>
            </a:endParaRPr>
          </a:p>
        </p:txBody>
      </p:sp>
      <p:pic>
        <p:nvPicPr>
          <p:cNvPr id="212" name="Google Shape;212;p24" title="Screenshot 2026-07-12 at 9.31.15 AM.png"/>
          <p:cNvPicPr preferRelativeResize="0"/>
          <p:nvPr/>
        </p:nvPicPr>
        <p:blipFill>
          <a:blip r:embed="rId3">
            <a:alphaModFix/>
          </a:blip>
          <a:stretch>
            <a:fillRect/>
          </a:stretch>
        </p:blipFill>
        <p:spPr>
          <a:xfrm>
            <a:off x="2361351" y="717650"/>
            <a:ext cx="4291948" cy="43378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Sprint 1 Recap</a:t>
            </a:r>
            <a:endParaRPr/>
          </a:p>
        </p:txBody>
      </p:sp>
      <p:sp>
        <p:nvSpPr>
          <p:cNvPr id="218" name="Google Shape;218;p25"/>
          <p:cNvSpPr txBox="1"/>
          <p:nvPr>
            <p:ph idx="1" type="body"/>
          </p:nvPr>
        </p:nvSpPr>
        <p:spPr>
          <a:xfrm>
            <a:off x="755800" y="1583225"/>
            <a:ext cx="7580700" cy="2895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Frontend, Backend, Database and AI were created but not connected.</a:t>
            </a:r>
            <a:endParaRPr/>
          </a:p>
          <a:p>
            <a:pPr indent="-311150" lvl="0" marL="457200" rtl="0" algn="l">
              <a:spcBef>
                <a:spcPts val="0"/>
              </a:spcBef>
              <a:spcAft>
                <a:spcPts val="0"/>
              </a:spcAft>
              <a:buSzPts val="1300"/>
              <a:buChar char="●"/>
            </a:pPr>
            <a:r>
              <a:rPr lang="en"/>
              <a:t>Team was still taking care of some planning tasks for Sprint 0 (User stories to get started on coding)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Product &amp; Sprint 2 Backlog</a:t>
            </a:r>
            <a:endParaRPr/>
          </a:p>
        </p:txBody>
      </p:sp>
      <p:sp>
        <p:nvSpPr>
          <p:cNvPr id="224" name="Google Shape;224;p26"/>
          <p:cNvSpPr txBox="1"/>
          <p:nvPr>
            <p:ph idx="1" type="body"/>
          </p:nvPr>
        </p:nvSpPr>
        <p:spPr>
          <a:xfrm>
            <a:off x="1297500" y="152770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There is no product backlog for Sprint 2.  All tickets/cards on the Kanban board were closed.  The only case that carried over from Sprint 1 ended up </a:t>
            </a:r>
            <a:r>
              <a:rPr lang="en"/>
              <a:t>getting</a:t>
            </a:r>
            <a:r>
              <a:rPr lang="en"/>
              <a:t> scrapped as a poorly-created ticket/user story (James).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7"/>
          <p:cNvSpPr txBox="1"/>
          <p:nvPr>
            <p:ph type="title"/>
          </p:nvPr>
        </p:nvSpPr>
        <p:spPr>
          <a:xfrm>
            <a:off x="1357325" y="4070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Sprint 1 Summary</a:t>
            </a:r>
            <a:endParaRPr/>
          </a:p>
        </p:txBody>
      </p:sp>
      <p:pic>
        <p:nvPicPr>
          <p:cNvPr id="230" name="Google Shape;230;p27" title="Points scored"/>
          <p:cNvPicPr preferRelativeResize="0"/>
          <p:nvPr/>
        </p:nvPicPr>
        <p:blipFill>
          <a:blip r:embed="rId3">
            <a:alphaModFix/>
          </a:blip>
          <a:stretch>
            <a:fillRect/>
          </a:stretch>
        </p:blipFill>
        <p:spPr>
          <a:xfrm>
            <a:off x="171525" y="1634750"/>
            <a:ext cx="4589049" cy="2837575"/>
          </a:xfrm>
          <a:prstGeom prst="rect">
            <a:avLst/>
          </a:prstGeom>
          <a:noFill/>
          <a:ln>
            <a:noFill/>
          </a:ln>
        </p:spPr>
      </p:pic>
      <p:sp>
        <p:nvSpPr>
          <p:cNvPr id="231" name="Google Shape;231;p27"/>
          <p:cNvSpPr txBox="1"/>
          <p:nvPr/>
        </p:nvSpPr>
        <p:spPr>
          <a:xfrm>
            <a:off x="4964050" y="2184463"/>
            <a:ext cx="3821100" cy="9141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Frontend and Backend were created</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Database and AI provisioned and set up.</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The parts were not connected yet.</a:t>
            </a:r>
            <a:endParaRPr sz="1300">
              <a:solidFill>
                <a:schemeClr val="lt1"/>
              </a:solidFill>
              <a:latin typeface="Lato"/>
              <a:ea typeface="Lato"/>
              <a:cs typeface="Lato"/>
              <a:sym typeface="Lato"/>
            </a:endParaRPr>
          </a:p>
        </p:txBody>
      </p:sp>
      <p:sp>
        <p:nvSpPr>
          <p:cNvPr id="232" name="Google Shape;232;p27"/>
          <p:cNvSpPr txBox="1"/>
          <p:nvPr/>
        </p:nvSpPr>
        <p:spPr>
          <a:xfrm>
            <a:off x="4917550" y="1634750"/>
            <a:ext cx="3914100" cy="4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Major Tasks &amp; Stories</a:t>
            </a:r>
            <a:endParaRPr sz="1300">
              <a:solidFill>
                <a:schemeClr val="lt1"/>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Sprint 2 Summary</a:t>
            </a:r>
            <a:endParaRPr/>
          </a:p>
        </p:txBody>
      </p:sp>
      <p:pic>
        <p:nvPicPr>
          <p:cNvPr id="238" name="Google Shape;238;p28" title="Points scored"/>
          <p:cNvPicPr preferRelativeResize="0"/>
          <p:nvPr/>
        </p:nvPicPr>
        <p:blipFill>
          <a:blip r:embed="rId3">
            <a:alphaModFix/>
          </a:blip>
          <a:stretch>
            <a:fillRect/>
          </a:stretch>
        </p:blipFill>
        <p:spPr>
          <a:xfrm>
            <a:off x="222725" y="1528425"/>
            <a:ext cx="4462224" cy="3261925"/>
          </a:xfrm>
          <a:prstGeom prst="rect">
            <a:avLst/>
          </a:prstGeom>
          <a:noFill/>
          <a:ln>
            <a:noFill/>
          </a:ln>
        </p:spPr>
      </p:pic>
      <p:sp>
        <p:nvSpPr>
          <p:cNvPr id="239" name="Google Shape;239;p28"/>
          <p:cNvSpPr txBox="1"/>
          <p:nvPr/>
        </p:nvSpPr>
        <p:spPr>
          <a:xfrm>
            <a:off x="4964050" y="2184498"/>
            <a:ext cx="3821100" cy="26058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Frontend, Backend, AI and Database connected and working.</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MVP delivered and created (</a:t>
            </a:r>
            <a:r>
              <a:rPr lang="en" sz="1300" u="sng">
                <a:solidFill>
                  <a:schemeClr val="hlink"/>
                </a:solidFill>
                <a:latin typeface="Lato"/>
                <a:ea typeface="Lato"/>
                <a:cs typeface="Lato"/>
                <a:sym typeface="Lato"/>
                <a:hlinkClick r:id="rId4"/>
              </a:rPr>
              <a:t>https://2026-paceu-capstone.github.io/intelligent-academic-path-optimizer</a:t>
            </a:r>
            <a:r>
              <a:rPr lang="en" sz="1300">
                <a:solidFill>
                  <a:schemeClr val="lt1"/>
                </a:solidFill>
                <a:latin typeface="Lato"/>
                <a:ea typeface="Lato"/>
                <a:cs typeface="Lato"/>
                <a:sym typeface="Lato"/>
              </a:rPr>
              <a:t>)</a:t>
            </a:r>
            <a:endParaRPr sz="1300">
              <a:solidFill>
                <a:schemeClr val="lt1"/>
              </a:solidFill>
              <a:latin typeface="Lato"/>
              <a:ea typeface="Lato"/>
              <a:cs typeface="Lato"/>
              <a:sym typeface="Lato"/>
            </a:endParaRPr>
          </a:p>
          <a:p>
            <a:pPr indent="-311150" lvl="0" marL="457200" rtl="0" algn="l">
              <a:spcBef>
                <a:spcPts val="0"/>
              </a:spcBef>
              <a:spcAft>
                <a:spcPts val="0"/>
              </a:spcAft>
              <a:buClr>
                <a:schemeClr val="lt1"/>
              </a:buClr>
              <a:buSzPts val="1300"/>
              <a:buFont typeface="Lato"/>
              <a:buChar char="●"/>
            </a:pPr>
            <a:r>
              <a:rPr lang="en" sz="1300">
                <a:solidFill>
                  <a:schemeClr val="lt1"/>
                </a:solidFill>
                <a:latin typeface="Lato"/>
                <a:ea typeface="Lato"/>
                <a:cs typeface="Lato"/>
                <a:sym typeface="Lato"/>
              </a:rPr>
              <a:t>User and Deployment Manuals, Technical Paper and Wiki finished.</a:t>
            </a:r>
            <a:endParaRPr sz="1300">
              <a:solidFill>
                <a:schemeClr val="lt1"/>
              </a:solidFill>
              <a:latin typeface="Lato"/>
              <a:ea typeface="Lato"/>
              <a:cs typeface="Lato"/>
              <a:sym typeface="Lato"/>
            </a:endParaRPr>
          </a:p>
        </p:txBody>
      </p:sp>
      <p:sp>
        <p:nvSpPr>
          <p:cNvPr id="240" name="Google Shape;240;p28"/>
          <p:cNvSpPr txBox="1"/>
          <p:nvPr/>
        </p:nvSpPr>
        <p:spPr>
          <a:xfrm>
            <a:off x="4917550" y="1634750"/>
            <a:ext cx="3914100" cy="4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Major Tasks &amp; Stories</a:t>
            </a:r>
            <a:endParaRPr sz="1300">
              <a:solidFill>
                <a:schemeClr val="lt1"/>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9"/>
          <p:cNvSpPr txBox="1"/>
          <p:nvPr>
            <p:ph type="title"/>
          </p:nvPr>
        </p:nvSpPr>
        <p:spPr>
          <a:xfrm>
            <a:off x="1194950" y="254200"/>
            <a:ext cx="7038900" cy="544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 Velocity</a:t>
            </a:r>
            <a:endParaRPr/>
          </a:p>
        </p:txBody>
      </p:sp>
      <p:pic>
        <p:nvPicPr>
          <p:cNvPr id="246" name="Google Shape;246;p29" title="Points scored"/>
          <p:cNvPicPr preferRelativeResize="0"/>
          <p:nvPr/>
        </p:nvPicPr>
        <p:blipFill>
          <a:blip r:embed="rId3">
            <a:alphaModFix/>
          </a:blip>
          <a:stretch>
            <a:fillRect/>
          </a:stretch>
        </p:blipFill>
        <p:spPr>
          <a:xfrm>
            <a:off x="225950" y="1420875"/>
            <a:ext cx="5624226" cy="3477650"/>
          </a:xfrm>
          <a:prstGeom prst="rect">
            <a:avLst/>
          </a:prstGeom>
          <a:noFill/>
          <a:ln>
            <a:noFill/>
          </a:ln>
        </p:spPr>
      </p:pic>
      <p:sp>
        <p:nvSpPr>
          <p:cNvPr id="247" name="Google Shape;247;p29"/>
          <p:cNvSpPr txBox="1"/>
          <p:nvPr/>
        </p:nvSpPr>
        <p:spPr>
          <a:xfrm>
            <a:off x="6000700" y="1289950"/>
            <a:ext cx="2811000" cy="60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chemeClr val="lt1"/>
                </a:solidFill>
                <a:latin typeface="Lato"/>
                <a:ea typeface="Lato"/>
                <a:cs typeface="Lato"/>
                <a:sym typeface="Lato"/>
              </a:rPr>
              <a:t>Average Velocity for Sprints 1 &amp; 2:</a:t>
            </a:r>
            <a:br>
              <a:rPr b="1" lang="en" sz="1300">
                <a:solidFill>
                  <a:schemeClr val="lt1"/>
                </a:solidFill>
                <a:latin typeface="Lato"/>
                <a:ea typeface="Lato"/>
                <a:cs typeface="Lato"/>
                <a:sym typeface="Lato"/>
              </a:rPr>
            </a:br>
            <a:r>
              <a:rPr b="1" lang="en" sz="1300">
                <a:solidFill>
                  <a:schemeClr val="lt1"/>
                </a:solidFill>
                <a:latin typeface="Lato"/>
                <a:ea typeface="Lato"/>
                <a:cs typeface="Lato"/>
                <a:sym typeface="Lato"/>
              </a:rPr>
              <a:t>49.5 Story Points</a:t>
            </a:r>
            <a:endParaRPr b="1"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lt1"/>
              </a:solidFill>
              <a:latin typeface="Lato"/>
              <a:ea typeface="Lato"/>
              <a:cs typeface="Lato"/>
              <a:sym typeface="Lato"/>
            </a:endParaRPr>
          </a:p>
        </p:txBody>
      </p:sp>
      <p:graphicFrame>
        <p:nvGraphicFramePr>
          <p:cNvPr id="248" name="Google Shape;248;p29"/>
          <p:cNvGraphicFramePr/>
          <p:nvPr/>
        </p:nvGraphicFramePr>
        <p:xfrm>
          <a:off x="6049400" y="2385988"/>
          <a:ext cx="3000000" cy="3000000"/>
        </p:xfrm>
        <a:graphic>
          <a:graphicData uri="http://schemas.openxmlformats.org/drawingml/2006/table">
            <a:tbl>
              <a:tblPr>
                <a:noFill/>
                <a:tableStyleId>{4346E1EF-3642-4084-95C9-17A1F96B7006}</a:tableStyleId>
              </a:tblPr>
              <a:tblGrid>
                <a:gridCol w="1356800"/>
                <a:gridCol w="1356800"/>
              </a:tblGrid>
              <a:tr h="819425">
                <a:tc>
                  <a:txBody>
                    <a:bodyPr/>
                    <a:lstStyle/>
                    <a:p>
                      <a:pPr indent="0" lvl="0" marL="0" rtl="0" algn="l">
                        <a:spcBef>
                          <a:spcPts val="0"/>
                        </a:spcBef>
                        <a:spcAft>
                          <a:spcPts val="0"/>
                        </a:spcAft>
                        <a:buNone/>
                      </a:pPr>
                      <a:r>
                        <a:rPr lang="en">
                          <a:solidFill>
                            <a:schemeClr val="lt1"/>
                          </a:solidFill>
                        </a:rPr>
                        <a:t>Sprint 1</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22/24 or 91%</a:t>
                      </a:r>
                      <a:endParaRPr>
                        <a:solidFill>
                          <a:schemeClr val="lt1"/>
                        </a:solidFill>
                      </a:endParaRPr>
                    </a:p>
                  </a:txBody>
                  <a:tcPr marT="91425" marB="91425" marR="91425" marL="91425"/>
                </a:tc>
              </a:tr>
              <a:tr h="833425">
                <a:tc>
                  <a:txBody>
                    <a:bodyPr/>
                    <a:lstStyle/>
                    <a:p>
                      <a:pPr indent="0" lvl="0" marL="0" rtl="0" algn="l">
                        <a:spcBef>
                          <a:spcPts val="0"/>
                        </a:spcBef>
                        <a:spcAft>
                          <a:spcPts val="0"/>
                        </a:spcAft>
                        <a:buNone/>
                      </a:pPr>
                      <a:r>
                        <a:rPr lang="en">
                          <a:solidFill>
                            <a:schemeClr val="lt1"/>
                          </a:solidFill>
                        </a:rPr>
                        <a:t>Sprint 2</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77/77 or 100%</a:t>
                      </a:r>
                      <a:endParaRPr>
                        <a:solidFill>
                          <a:schemeClr val="lt1"/>
                        </a:solidFill>
                      </a:endParaRPr>
                    </a:p>
                  </a:txBody>
                  <a:tcPr marT="91425" marB="91425" marR="91425" marL="91425"/>
                </a:tc>
              </a:tr>
              <a:tr h="859675">
                <a:tc>
                  <a:txBody>
                    <a:bodyPr/>
                    <a:lstStyle/>
                    <a:p>
                      <a:pPr indent="0" lvl="0" marL="0" rtl="0" algn="l">
                        <a:spcBef>
                          <a:spcPts val="0"/>
                        </a:spcBef>
                        <a:spcAft>
                          <a:spcPts val="0"/>
                        </a:spcAft>
                        <a:buNone/>
                      </a:pPr>
                      <a:r>
                        <a:rPr lang="en">
                          <a:solidFill>
                            <a:schemeClr val="lt1"/>
                          </a:solidFill>
                        </a:rPr>
                        <a:t>Avg. for both Sprints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95.5%</a:t>
                      </a:r>
                      <a:endParaRPr>
                        <a:solidFill>
                          <a:schemeClr val="lt1"/>
                        </a:solidFill>
                      </a:endParaRPr>
                    </a:p>
                  </a:txBody>
                  <a:tcPr marT="91425" marB="91425" marR="102800" marL="91425"/>
                </a:tc>
              </a:tr>
            </a:tbl>
          </a:graphicData>
        </a:graphic>
      </p:graphicFrame>
      <p:sp>
        <p:nvSpPr>
          <p:cNvPr id="249" name="Google Shape;249;p29"/>
          <p:cNvSpPr txBox="1"/>
          <p:nvPr/>
        </p:nvSpPr>
        <p:spPr>
          <a:xfrm>
            <a:off x="6093775" y="1827475"/>
            <a:ext cx="2532000" cy="47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chemeClr val="lt1"/>
                </a:solidFill>
                <a:latin typeface="Montserrat"/>
                <a:ea typeface="Montserrat"/>
                <a:cs typeface="Montserrat"/>
                <a:sym typeface="Montserrat"/>
              </a:rPr>
              <a:t>Completed/Committed Ratios</a:t>
            </a:r>
            <a:endParaRPr b="1" sz="200">
              <a:solidFill>
                <a:schemeClr val="lt1"/>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0"/>
          <p:cNvSpPr txBox="1"/>
          <p:nvPr>
            <p:ph type="title"/>
          </p:nvPr>
        </p:nvSpPr>
        <p:spPr>
          <a:xfrm>
            <a:off x="1277575" y="40040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Sprint 2 Burndown</a:t>
            </a:r>
            <a:endParaRPr/>
          </a:p>
        </p:txBody>
      </p:sp>
      <p:pic>
        <p:nvPicPr>
          <p:cNvPr id="255" name="Google Shape;255;p30" title="Points scored"/>
          <p:cNvPicPr preferRelativeResize="0"/>
          <p:nvPr/>
        </p:nvPicPr>
        <p:blipFill>
          <a:blip r:embed="rId3">
            <a:alphaModFix/>
          </a:blip>
          <a:stretch>
            <a:fillRect/>
          </a:stretch>
        </p:blipFill>
        <p:spPr>
          <a:xfrm>
            <a:off x="2249550" y="1442050"/>
            <a:ext cx="4462224" cy="3261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1"/>
          <p:cNvSpPr txBox="1"/>
          <p:nvPr>
            <p:ph type="title"/>
          </p:nvPr>
        </p:nvSpPr>
        <p:spPr>
          <a:xfrm>
            <a:off x="1297500" y="393750"/>
            <a:ext cx="7038900" cy="524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Demos</a:t>
            </a:r>
            <a:endParaRPr/>
          </a:p>
        </p:txBody>
      </p:sp>
      <p:pic>
        <p:nvPicPr>
          <p:cNvPr id="261" name="Google Shape;261;p31"/>
          <p:cNvPicPr preferRelativeResize="0"/>
          <p:nvPr/>
        </p:nvPicPr>
        <p:blipFill>
          <a:blip r:embed="rId3">
            <a:alphaModFix/>
          </a:blip>
          <a:stretch>
            <a:fillRect/>
          </a:stretch>
        </p:blipFill>
        <p:spPr>
          <a:xfrm>
            <a:off x="1157575" y="1035875"/>
            <a:ext cx="7761433" cy="39205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2"/>
          <p:cNvSpPr txBox="1"/>
          <p:nvPr>
            <p:ph type="title"/>
          </p:nvPr>
        </p:nvSpPr>
        <p:spPr>
          <a:xfrm>
            <a:off x="1297500" y="393750"/>
            <a:ext cx="7038900" cy="61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Sprint 2 Demo - Initial Info</a:t>
            </a:r>
            <a:endParaRPr/>
          </a:p>
        </p:txBody>
      </p:sp>
      <p:pic>
        <p:nvPicPr>
          <p:cNvPr id="267" name="Google Shape;267;p32"/>
          <p:cNvPicPr preferRelativeResize="0"/>
          <p:nvPr/>
        </p:nvPicPr>
        <p:blipFill>
          <a:blip r:embed="rId3">
            <a:alphaModFix/>
          </a:blip>
          <a:stretch>
            <a:fillRect/>
          </a:stretch>
        </p:blipFill>
        <p:spPr>
          <a:xfrm>
            <a:off x="1175750" y="1254225"/>
            <a:ext cx="3659032" cy="3530849"/>
          </a:xfrm>
          <a:prstGeom prst="rect">
            <a:avLst/>
          </a:prstGeom>
          <a:noFill/>
          <a:ln>
            <a:noFill/>
          </a:ln>
        </p:spPr>
      </p:pic>
      <p:pic>
        <p:nvPicPr>
          <p:cNvPr id="268" name="Google Shape;268;p32"/>
          <p:cNvPicPr preferRelativeResize="0"/>
          <p:nvPr/>
        </p:nvPicPr>
        <p:blipFill>
          <a:blip r:embed="rId4">
            <a:alphaModFix/>
          </a:blip>
          <a:stretch>
            <a:fillRect/>
          </a:stretch>
        </p:blipFill>
        <p:spPr>
          <a:xfrm>
            <a:off x="5013757" y="1254225"/>
            <a:ext cx="3475802" cy="353084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3"/>
          <p:cNvSpPr txBox="1"/>
          <p:nvPr>
            <p:ph type="title"/>
          </p:nvPr>
        </p:nvSpPr>
        <p:spPr>
          <a:xfrm>
            <a:off x="1297500" y="393750"/>
            <a:ext cx="7038900" cy="506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Sprint 2 Demo - Output</a:t>
            </a:r>
            <a:endParaRPr/>
          </a:p>
        </p:txBody>
      </p:sp>
      <p:pic>
        <p:nvPicPr>
          <p:cNvPr id="274" name="Google Shape;274;p33"/>
          <p:cNvPicPr preferRelativeResize="0"/>
          <p:nvPr/>
        </p:nvPicPr>
        <p:blipFill>
          <a:blip r:embed="rId3">
            <a:alphaModFix/>
          </a:blip>
          <a:stretch>
            <a:fillRect/>
          </a:stretch>
        </p:blipFill>
        <p:spPr>
          <a:xfrm>
            <a:off x="1189250" y="1387800"/>
            <a:ext cx="3382757" cy="3530850"/>
          </a:xfrm>
          <a:prstGeom prst="rect">
            <a:avLst/>
          </a:prstGeom>
          <a:noFill/>
          <a:ln>
            <a:noFill/>
          </a:ln>
        </p:spPr>
      </p:pic>
      <p:pic>
        <p:nvPicPr>
          <p:cNvPr id="275" name="Google Shape;275;p33"/>
          <p:cNvPicPr preferRelativeResize="0"/>
          <p:nvPr/>
        </p:nvPicPr>
        <p:blipFill>
          <a:blip r:embed="rId4">
            <a:alphaModFix/>
          </a:blip>
          <a:stretch>
            <a:fillRect/>
          </a:stretch>
        </p:blipFill>
        <p:spPr>
          <a:xfrm>
            <a:off x="4906207" y="1387800"/>
            <a:ext cx="3430189" cy="35308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4"/>
          <p:cNvSpPr txBox="1"/>
          <p:nvPr>
            <p:ph type="title"/>
          </p:nvPr>
        </p:nvSpPr>
        <p:spPr>
          <a:xfrm>
            <a:off x="1297500" y="393750"/>
            <a:ext cx="7038900" cy="56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Sprint 2 Demo - AI Output</a:t>
            </a:r>
            <a:endParaRPr/>
          </a:p>
        </p:txBody>
      </p:sp>
      <p:pic>
        <p:nvPicPr>
          <p:cNvPr id="281" name="Google Shape;281;p34"/>
          <p:cNvPicPr preferRelativeResize="0"/>
          <p:nvPr/>
        </p:nvPicPr>
        <p:blipFill>
          <a:blip r:embed="rId3">
            <a:alphaModFix/>
          </a:blip>
          <a:stretch>
            <a:fillRect/>
          </a:stretch>
        </p:blipFill>
        <p:spPr>
          <a:xfrm>
            <a:off x="1383950" y="1034425"/>
            <a:ext cx="7454453" cy="388424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Sprint 2 Demo - Log In</a:t>
            </a:r>
            <a:endParaRPr/>
          </a:p>
        </p:txBody>
      </p:sp>
      <p:pic>
        <p:nvPicPr>
          <p:cNvPr id="287" name="Google Shape;287;p35"/>
          <p:cNvPicPr preferRelativeResize="0"/>
          <p:nvPr/>
        </p:nvPicPr>
        <p:blipFill>
          <a:blip r:embed="rId3">
            <a:alphaModFix/>
          </a:blip>
          <a:stretch>
            <a:fillRect/>
          </a:stretch>
        </p:blipFill>
        <p:spPr>
          <a:xfrm>
            <a:off x="4897175" y="1473550"/>
            <a:ext cx="3616371" cy="3530849"/>
          </a:xfrm>
          <a:prstGeom prst="rect">
            <a:avLst/>
          </a:prstGeom>
          <a:noFill/>
          <a:ln>
            <a:noFill/>
          </a:ln>
        </p:spPr>
      </p:pic>
      <p:pic>
        <p:nvPicPr>
          <p:cNvPr id="288" name="Google Shape;288;p35"/>
          <p:cNvPicPr preferRelativeResize="0"/>
          <p:nvPr/>
        </p:nvPicPr>
        <p:blipFill>
          <a:blip r:embed="rId4">
            <a:alphaModFix/>
          </a:blip>
          <a:stretch>
            <a:fillRect/>
          </a:stretch>
        </p:blipFill>
        <p:spPr>
          <a:xfrm>
            <a:off x="657450" y="1473550"/>
            <a:ext cx="3600323" cy="35308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6"/>
          <p:cNvSpPr txBox="1"/>
          <p:nvPr>
            <p:ph type="title"/>
          </p:nvPr>
        </p:nvSpPr>
        <p:spPr>
          <a:xfrm>
            <a:off x="1297500" y="393750"/>
            <a:ext cx="7038900" cy="60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Sprint 2 Demo - Sign Up</a:t>
            </a:r>
            <a:endParaRPr/>
          </a:p>
        </p:txBody>
      </p:sp>
      <p:pic>
        <p:nvPicPr>
          <p:cNvPr id="294" name="Google Shape;294;p36"/>
          <p:cNvPicPr preferRelativeResize="0"/>
          <p:nvPr/>
        </p:nvPicPr>
        <p:blipFill>
          <a:blip r:embed="rId3">
            <a:alphaModFix/>
          </a:blip>
          <a:stretch>
            <a:fillRect/>
          </a:stretch>
        </p:blipFill>
        <p:spPr>
          <a:xfrm>
            <a:off x="1711675" y="1167850"/>
            <a:ext cx="5720656" cy="35308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7"/>
          <p:cNvSpPr txBox="1"/>
          <p:nvPr>
            <p:ph type="title"/>
          </p:nvPr>
        </p:nvSpPr>
        <p:spPr>
          <a:xfrm>
            <a:off x="1297500" y="393750"/>
            <a:ext cx="7038900" cy="530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Sprint 2 Demo - Contact Us</a:t>
            </a:r>
            <a:endParaRPr/>
          </a:p>
        </p:txBody>
      </p:sp>
      <p:pic>
        <p:nvPicPr>
          <p:cNvPr id="300" name="Google Shape;300;p37"/>
          <p:cNvPicPr preferRelativeResize="0"/>
          <p:nvPr/>
        </p:nvPicPr>
        <p:blipFill>
          <a:blip r:embed="rId3">
            <a:alphaModFix/>
          </a:blip>
          <a:stretch>
            <a:fillRect/>
          </a:stretch>
        </p:blipFill>
        <p:spPr>
          <a:xfrm>
            <a:off x="1152600" y="1021925"/>
            <a:ext cx="7614509" cy="391485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Sprint 2 Demo - API</a:t>
            </a:r>
            <a:endParaRPr/>
          </a:p>
        </p:txBody>
      </p:sp>
      <p:sp>
        <p:nvSpPr>
          <p:cNvPr id="306" name="Google Shape;306;p38"/>
          <p:cNvSpPr txBox="1"/>
          <p:nvPr>
            <p:ph idx="1" type="body"/>
          </p:nvPr>
        </p:nvSpPr>
        <p:spPr>
          <a:xfrm>
            <a:off x="1297500" y="1390075"/>
            <a:ext cx="7038900" cy="3197400"/>
          </a:xfrm>
          <a:prstGeom prst="rect">
            <a:avLst/>
          </a:prstGeom>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None/>
            </a:pPr>
            <a:r>
              <a:rPr b="1" lang="en" sz="1100"/>
              <a:t>Backend:</a:t>
            </a:r>
            <a:endParaRPr b="1" sz="1100"/>
          </a:p>
          <a:p>
            <a:pPr indent="-298450" lvl="0" marL="457200" rtl="0" algn="l">
              <a:lnSpc>
                <a:spcPct val="100000"/>
              </a:lnSpc>
              <a:spcBef>
                <a:spcPts val="0"/>
              </a:spcBef>
              <a:spcAft>
                <a:spcPts val="0"/>
              </a:spcAft>
              <a:buSzPts val="1100"/>
              <a:buAutoNum type="arabicPeriod"/>
            </a:pPr>
            <a:r>
              <a:rPr b="1" lang="en" sz="1100"/>
              <a:t>GET/auth - Sends a request to confirm if the user has a valid session cookie. This allows them to automatically login on the same browser if they closed the site or returned to it within 7 days.</a:t>
            </a:r>
            <a:endParaRPr b="1" sz="1100"/>
          </a:p>
          <a:p>
            <a:pPr indent="-298450" lvl="0" marL="457200" rtl="0" algn="l">
              <a:lnSpc>
                <a:spcPct val="100000"/>
              </a:lnSpc>
              <a:spcBef>
                <a:spcPts val="0"/>
              </a:spcBef>
              <a:spcAft>
                <a:spcPts val="0"/>
              </a:spcAft>
              <a:buSzPts val="1100"/>
              <a:buAutoNum type="arabicPeriod"/>
            </a:pPr>
            <a:r>
              <a:rPr b="1" lang="en" sz="1100"/>
              <a:t>POST/auth/email - </a:t>
            </a:r>
            <a:r>
              <a:rPr b="1" lang="en" sz="1100"/>
              <a:t> Used during signup for confirming if a user account already exists, so that the same email can’t be used for two different accounts.</a:t>
            </a:r>
            <a:endParaRPr b="1" sz="1100"/>
          </a:p>
          <a:p>
            <a:pPr indent="-298450" lvl="0" marL="457200" rtl="0" algn="l">
              <a:lnSpc>
                <a:spcPct val="100000"/>
              </a:lnSpc>
              <a:spcBef>
                <a:spcPts val="0"/>
              </a:spcBef>
              <a:spcAft>
                <a:spcPts val="0"/>
              </a:spcAft>
              <a:buSzPts val="1100"/>
              <a:buAutoNum type="arabicPeriod"/>
            </a:pPr>
            <a:r>
              <a:rPr b="1" lang="en" sz="1100"/>
              <a:t>POST/signUp - Used for creating the user account</a:t>
            </a:r>
            <a:endParaRPr b="1" sz="1100"/>
          </a:p>
          <a:p>
            <a:pPr indent="-298450" lvl="0" marL="457200" rtl="0" algn="l">
              <a:lnSpc>
                <a:spcPct val="100000"/>
              </a:lnSpc>
              <a:spcBef>
                <a:spcPts val="0"/>
              </a:spcBef>
              <a:spcAft>
                <a:spcPts val="0"/>
              </a:spcAft>
              <a:buSzPts val="1100"/>
              <a:buAutoNum type="arabicPeriod"/>
            </a:pPr>
            <a:r>
              <a:rPr b="1" lang="en" sz="1100"/>
              <a:t>POST/signIn - Used for logging into an existing account.</a:t>
            </a:r>
            <a:endParaRPr b="1" sz="1100"/>
          </a:p>
          <a:p>
            <a:pPr indent="-298450" lvl="0" marL="457200" rtl="0" algn="l">
              <a:lnSpc>
                <a:spcPct val="100000"/>
              </a:lnSpc>
              <a:spcBef>
                <a:spcPts val="0"/>
              </a:spcBef>
              <a:spcAft>
                <a:spcPts val="0"/>
              </a:spcAft>
              <a:buSzPts val="1100"/>
              <a:buAutoNum type="arabicPeriod"/>
            </a:pPr>
            <a:r>
              <a:rPr b="1" lang="en" sz="1100"/>
              <a:t>POST/signOut - Signs the user out and deletes the current session cookies from the user and the database, requiring them to log back in to use IAPO.</a:t>
            </a:r>
            <a:endParaRPr b="1" sz="1100"/>
          </a:p>
          <a:p>
            <a:pPr indent="-298450" lvl="0" marL="457200" rtl="0" algn="l">
              <a:lnSpc>
                <a:spcPct val="100000"/>
              </a:lnSpc>
              <a:spcBef>
                <a:spcPts val="0"/>
              </a:spcBef>
              <a:spcAft>
                <a:spcPts val="0"/>
              </a:spcAft>
              <a:buSzPts val="1100"/>
              <a:buAutoNum type="arabicPeriod"/>
            </a:pPr>
            <a:r>
              <a:rPr b="1" lang="en" sz="1100"/>
              <a:t>POST/updateUser - Used for updating user credentials (Name, email, password)</a:t>
            </a:r>
            <a:endParaRPr b="1" sz="1100"/>
          </a:p>
          <a:p>
            <a:pPr indent="-298450" lvl="0" marL="457200" rtl="0" algn="l">
              <a:lnSpc>
                <a:spcPct val="100000"/>
              </a:lnSpc>
              <a:spcBef>
                <a:spcPts val="0"/>
              </a:spcBef>
              <a:spcAft>
                <a:spcPts val="0"/>
              </a:spcAft>
              <a:buSzPts val="1100"/>
              <a:buAutoNum type="arabicPeriod"/>
            </a:pPr>
            <a:r>
              <a:rPr b="1" lang="en" sz="1100"/>
              <a:t>POST/updateUser/academic - Used for updating user academic details (transcript, major, credits per semester, schedule, etc.)</a:t>
            </a:r>
            <a:endParaRPr b="1" sz="1100"/>
          </a:p>
          <a:p>
            <a:pPr indent="-298450" lvl="0" marL="457200" rtl="0" algn="l">
              <a:lnSpc>
                <a:spcPct val="100000"/>
              </a:lnSpc>
              <a:spcBef>
                <a:spcPts val="0"/>
              </a:spcBef>
              <a:spcAft>
                <a:spcPts val="0"/>
              </a:spcAft>
              <a:buSzPts val="1100"/>
              <a:buAutoNum type="arabicPeriod"/>
            </a:pPr>
            <a:r>
              <a:rPr b="1" lang="en" sz="1100"/>
              <a:t>GET/api/info - Gets the current program info for available majors and semesters</a:t>
            </a:r>
            <a:endParaRPr b="1" sz="1100"/>
          </a:p>
          <a:p>
            <a:pPr indent="0" lvl="0" marL="0" rtl="0" algn="l">
              <a:lnSpc>
                <a:spcPct val="100000"/>
              </a:lnSpc>
              <a:spcBef>
                <a:spcPts val="0"/>
              </a:spcBef>
              <a:spcAft>
                <a:spcPts val="0"/>
              </a:spcAft>
              <a:buNone/>
            </a:pPr>
            <a:r>
              <a:t/>
            </a:r>
            <a:endParaRPr b="1" sz="1100"/>
          </a:p>
          <a:p>
            <a:pPr indent="0" lvl="0" marL="0" rtl="0" algn="l">
              <a:lnSpc>
                <a:spcPct val="100000"/>
              </a:lnSpc>
              <a:spcBef>
                <a:spcPts val="0"/>
              </a:spcBef>
              <a:spcAft>
                <a:spcPts val="0"/>
              </a:spcAft>
              <a:buNone/>
            </a:pPr>
            <a:r>
              <a:t/>
            </a:r>
            <a:endParaRPr b="1" sz="1100"/>
          </a:p>
          <a:p>
            <a:pPr indent="0" lvl="0" marL="0" rtl="0" algn="l">
              <a:lnSpc>
                <a:spcPct val="100000"/>
              </a:lnSpc>
              <a:spcBef>
                <a:spcPts val="0"/>
              </a:spcBef>
              <a:spcAft>
                <a:spcPts val="0"/>
              </a:spcAft>
              <a:buNone/>
            </a:pPr>
            <a:r>
              <a:rPr b="1" lang="en" sz="1100"/>
              <a:t>AI:</a:t>
            </a:r>
            <a:endParaRPr b="1" sz="1100"/>
          </a:p>
          <a:p>
            <a:pPr indent="-298450" lvl="0" marL="457200" rtl="0" algn="l">
              <a:lnSpc>
                <a:spcPct val="100000"/>
              </a:lnSpc>
              <a:spcBef>
                <a:spcPts val="0"/>
              </a:spcBef>
              <a:spcAft>
                <a:spcPts val="0"/>
              </a:spcAft>
              <a:buSzPts val="1100"/>
              <a:buAutoNum type="arabicPeriod"/>
            </a:pPr>
            <a:r>
              <a:rPr lang="en" sz="1100"/>
              <a:t> </a:t>
            </a:r>
            <a:r>
              <a:rPr b="1" lang="en" sz="1100"/>
              <a:t>GET/api</a:t>
            </a:r>
            <a:r>
              <a:rPr lang="en" sz="1100"/>
              <a:t>/ health - Confirms the service is running, whether the Gemini API key is configured, and if the course catalog is successfully loaded</a:t>
            </a:r>
            <a:endParaRPr sz="1100"/>
          </a:p>
          <a:p>
            <a:pPr indent="-298450" lvl="0" marL="457200" rtl="0" algn="l">
              <a:lnSpc>
                <a:spcPct val="100000"/>
              </a:lnSpc>
              <a:spcBef>
                <a:spcPts val="0"/>
              </a:spcBef>
              <a:spcAft>
                <a:spcPts val="0"/>
              </a:spcAft>
              <a:buSzPts val="1100"/>
              <a:buAutoNum type="arabicPeriod"/>
            </a:pPr>
            <a:r>
              <a:rPr lang="en" sz="1100"/>
              <a:t> </a:t>
            </a:r>
            <a:r>
              <a:rPr b="1" lang="en" sz="1100"/>
              <a:t>POST/api</a:t>
            </a:r>
            <a:r>
              <a:rPr lang="en" sz="1100"/>
              <a:t> /extract - Accepts the frontend field data and returns a JSON object containing course plan recommendations to be handed to the solver</a:t>
            </a:r>
            <a:endParaRPr sz="1100"/>
          </a:p>
          <a:p>
            <a:pPr indent="-298450" lvl="0" marL="457200" rtl="0" algn="l">
              <a:lnSpc>
                <a:spcPct val="100000"/>
              </a:lnSpc>
              <a:spcBef>
                <a:spcPts val="0"/>
              </a:spcBef>
              <a:spcAft>
                <a:spcPts val="0"/>
              </a:spcAft>
              <a:buSzPts val="1100"/>
              <a:buAutoNum type="arabicPeriod"/>
            </a:pPr>
            <a:r>
              <a:rPr lang="en" sz="1100"/>
              <a:t>POST/api/transcriptCheck - Accepts a PDF that is checked by Gemini to see if it is a valid transcript or not</a:t>
            </a:r>
            <a:endParaRPr sz="11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AI DISCLOSURE - James</a:t>
            </a:r>
            <a:endParaRPr/>
          </a:p>
        </p:txBody>
      </p:sp>
      <p:sp>
        <p:nvSpPr>
          <p:cNvPr id="312" name="Google Shape;312;p3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a:t>
            </a:r>
            <a:endParaRPr/>
          </a:p>
          <a:p>
            <a:pPr indent="-311150" lvl="0" marL="457200" rtl="0" algn="l">
              <a:spcBef>
                <a:spcPts val="1200"/>
              </a:spcBef>
              <a:spcAft>
                <a:spcPts val="0"/>
              </a:spcAft>
              <a:buSzPts val="1300"/>
              <a:buChar char="-"/>
            </a:pPr>
            <a:r>
              <a:rPr lang="en"/>
              <a:t>Gemini</a:t>
            </a:r>
            <a:endParaRPr/>
          </a:p>
          <a:p>
            <a:pPr indent="0" lvl="0" marL="0" rtl="0" algn="l">
              <a:spcBef>
                <a:spcPts val="1200"/>
              </a:spcBef>
              <a:spcAft>
                <a:spcPts val="0"/>
              </a:spcAft>
              <a:buNone/>
            </a:pPr>
            <a:r>
              <a:rPr lang="en"/>
              <a:t>How?</a:t>
            </a:r>
            <a:endParaRPr/>
          </a:p>
          <a:p>
            <a:pPr indent="-311150" lvl="0" marL="457200" rtl="0" algn="l">
              <a:spcBef>
                <a:spcPts val="1200"/>
              </a:spcBef>
              <a:spcAft>
                <a:spcPts val="0"/>
              </a:spcAft>
              <a:buSzPts val="1300"/>
              <a:buChar char="-"/>
            </a:pPr>
            <a:r>
              <a:rPr lang="en"/>
              <a:t>Advice on Agile, assistance with code</a:t>
            </a:r>
            <a:endParaRPr/>
          </a:p>
          <a:p>
            <a:pPr indent="0" lvl="0" marL="0" rtl="0" algn="l">
              <a:spcBef>
                <a:spcPts val="1200"/>
              </a:spcBef>
              <a:spcAft>
                <a:spcPts val="0"/>
              </a:spcAft>
              <a:buNone/>
            </a:pPr>
            <a:r>
              <a:rPr lang="en"/>
              <a:t>Why was this the right tool?</a:t>
            </a:r>
            <a:endParaRPr/>
          </a:p>
          <a:p>
            <a:pPr indent="-311150" lvl="0" marL="457200" rtl="0" algn="l">
              <a:spcBef>
                <a:spcPts val="1200"/>
              </a:spcBef>
              <a:spcAft>
                <a:spcPts val="0"/>
              </a:spcAft>
              <a:buSzPts val="1300"/>
              <a:buChar char="-"/>
            </a:pPr>
            <a:r>
              <a:rPr lang="en"/>
              <a:t>Gemini provides good code assistance and project organization within the platform.</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AI DISCLOSURE - Bella</a:t>
            </a:r>
            <a:endParaRPr/>
          </a:p>
        </p:txBody>
      </p:sp>
      <p:sp>
        <p:nvSpPr>
          <p:cNvPr id="318" name="Google Shape;318;p40"/>
          <p:cNvSpPr txBox="1"/>
          <p:nvPr>
            <p:ph idx="1" type="body"/>
          </p:nvPr>
        </p:nvSpPr>
        <p:spPr>
          <a:xfrm>
            <a:off x="1297500" y="1567550"/>
            <a:ext cx="7038900" cy="33189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200"/>
              <a:t>What?</a:t>
            </a:r>
            <a:endParaRPr sz="1200"/>
          </a:p>
          <a:p>
            <a:pPr indent="-304800" lvl="0" marL="457200" rtl="0" algn="l">
              <a:lnSpc>
                <a:spcPct val="100000"/>
              </a:lnSpc>
              <a:spcBef>
                <a:spcPts val="1200"/>
              </a:spcBef>
              <a:spcAft>
                <a:spcPts val="0"/>
              </a:spcAft>
              <a:buSzPts val="1200"/>
              <a:buChar char="-"/>
            </a:pPr>
            <a:r>
              <a:rPr lang="en" sz="1200"/>
              <a:t>Claude</a:t>
            </a:r>
            <a:endParaRPr sz="1200"/>
          </a:p>
          <a:p>
            <a:pPr indent="0" lvl="0" marL="0" rtl="0" algn="l">
              <a:lnSpc>
                <a:spcPct val="100000"/>
              </a:lnSpc>
              <a:spcBef>
                <a:spcPts val="1200"/>
              </a:spcBef>
              <a:spcAft>
                <a:spcPts val="0"/>
              </a:spcAft>
              <a:buNone/>
            </a:pPr>
            <a:r>
              <a:rPr lang="en" sz="1200"/>
              <a:t>How?</a:t>
            </a:r>
            <a:endParaRPr sz="1200"/>
          </a:p>
          <a:p>
            <a:pPr indent="-304800" lvl="0" marL="457200" rtl="0" algn="l">
              <a:lnSpc>
                <a:spcPct val="100000"/>
              </a:lnSpc>
              <a:spcBef>
                <a:spcPts val="1200"/>
              </a:spcBef>
              <a:spcAft>
                <a:spcPts val="0"/>
              </a:spcAft>
              <a:buSzPts val="1200"/>
              <a:buChar char="-"/>
            </a:pPr>
            <a:r>
              <a:rPr lang="en" sz="1200"/>
              <a:t>Generating all code</a:t>
            </a:r>
            <a:endParaRPr sz="1200"/>
          </a:p>
          <a:p>
            <a:pPr indent="-304800" lvl="0" marL="457200" rtl="0" algn="l">
              <a:lnSpc>
                <a:spcPct val="100000"/>
              </a:lnSpc>
              <a:spcBef>
                <a:spcPts val="0"/>
              </a:spcBef>
              <a:spcAft>
                <a:spcPts val="0"/>
              </a:spcAft>
              <a:buSzPts val="1200"/>
              <a:buChar char="-"/>
            </a:pPr>
            <a:r>
              <a:rPr lang="en" sz="1200"/>
              <a:t>Brainstorming for  - personas, user stories, acceptance criteria, and test cases. Also to create these documents after I told it the text to include.</a:t>
            </a:r>
            <a:endParaRPr sz="1200"/>
          </a:p>
          <a:p>
            <a:pPr indent="0" lvl="0" marL="0" rtl="0" algn="l">
              <a:lnSpc>
                <a:spcPct val="100000"/>
              </a:lnSpc>
              <a:spcBef>
                <a:spcPts val="1200"/>
              </a:spcBef>
              <a:spcAft>
                <a:spcPts val="0"/>
              </a:spcAft>
              <a:buNone/>
            </a:pPr>
            <a:r>
              <a:rPr lang="en" sz="1200"/>
              <a:t>Why was this the best solution?</a:t>
            </a:r>
            <a:endParaRPr sz="1200"/>
          </a:p>
          <a:p>
            <a:pPr indent="-311150" lvl="0" marL="457200" rtl="0" algn="l">
              <a:spcBef>
                <a:spcPts val="1200"/>
              </a:spcBef>
              <a:spcAft>
                <a:spcPts val="0"/>
              </a:spcAft>
              <a:buSzPts val="1300"/>
              <a:buChar char="-"/>
            </a:pPr>
            <a:r>
              <a:rPr lang="en"/>
              <a:t>This was a complex project far past my coding capabilities and I knew Claude could write </a:t>
            </a:r>
            <a:r>
              <a:rPr lang="en"/>
              <a:t>efficient and accurate code.</a:t>
            </a:r>
            <a:endParaRPr/>
          </a:p>
          <a:p>
            <a:pPr indent="-311150" lvl="0" marL="457200" rtl="0" algn="l">
              <a:spcBef>
                <a:spcPts val="0"/>
              </a:spcBef>
              <a:spcAft>
                <a:spcPts val="0"/>
              </a:spcAft>
              <a:buSzPts val="1300"/>
              <a:buChar char="-"/>
            </a:pPr>
            <a:r>
              <a:rPr lang="en"/>
              <a:t>So that I could learn these new concepts and work with the ai to expand on ideas. The document creation was in the interest of saving time and to enhance visualisation.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AI DISCLOSURE - Charles</a:t>
            </a:r>
            <a:endParaRPr/>
          </a:p>
        </p:txBody>
      </p:sp>
      <p:sp>
        <p:nvSpPr>
          <p:cNvPr id="324" name="Google Shape;324;p4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62500" lnSpcReduction="10000"/>
          </a:bodyPr>
          <a:lstStyle/>
          <a:p>
            <a:pPr indent="0" lvl="0" marL="0" rtl="0" algn="l">
              <a:spcBef>
                <a:spcPts val="0"/>
              </a:spcBef>
              <a:spcAft>
                <a:spcPts val="0"/>
              </a:spcAft>
              <a:buNone/>
            </a:pPr>
            <a:r>
              <a:rPr lang="en"/>
              <a:t>What?</a:t>
            </a:r>
            <a:endParaRPr/>
          </a:p>
          <a:p>
            <a:pPr indent="-280194" lvl="0" marL="457200" rtl="0" algn="l">
              <a:spcBef>
                <a:spcPts val="1200"/>
              </a:spcBef>
              <a:spcAft>
                <a:spcPts val="0"/>
              </a:spcAft>
              <a:buSzPct val="100000"/>
              <a:buChar char="-"/>
            </a:pPr>
            <a:r>
              <a:rPr lang="en"/>
              <a:t>Lucidchart, Claude, and Wispr Flow</a:t>
            </a:r>
            <a:endParaRPr/>
          </a:p>
          <a:p>
            <a:pPr indent="0" lvl="0" marL="0" rtl="0" algn="l">
              <a:spcBef>
                <a:spcPts val="1200"/>
              </a:spcBef>
              <a:spcAft>
                <a:spcPts val="0"/>
              </a:spcAft>
              <a:buNone/>
            </a:pPr>
            <a:r>
              <a:rPr lang="en"/>
              <a:t>How?</a:t>
            </a:r>
            <a:endParaRPr/>
          </a:p>
          <a:p>
            <a:pPr indent="-280194" lvl="0" marL="457200" rtl="0" algn="l">
              <a:spcBef>
                <a:spcPts val="1200"/>
              </a:spcBef>
              <a:spcAft>
                <a:spcPts val="0"/>
              </a:spcAft>
              <a:buSzPct val="100000"/>
              <a:buChar char="-"/>
            </a:pPr>
            <a:r>
              <a:rPr lang="en"/>
              <a:t>Lucidchart was used to generate the systems architecture diagram.</a:t>
            </a:r>
            <a:endParaRPr/>
          </a:p>
          <a:p>
            <a:pPr indent="-280194" lvl="0" marL="457200" rtl="0" algn="l">
              <a:spcBef>
                <a:spcPts val="0"/>
              </a:spcBef>
              <a:spcAft>
                <a:spcPts val="0"/>
              </a:spcAft>
              <a:buSzPct val="100000"/>
              <a:buChar char="-"/>
            </a:pPr>
            <a:r>
              <a:rPr lang="en"/>
              <a:t>Claude was used to generate the use case diagram and reorganize the wiki page at the beginning of Sprint 2 into a format that facilitates meeting the checklist requirements.</a:t>
            </a:r>
            <a:endParaRPr/>
          </a:p>
          <a:p>
            <a:pPr indent="-280194" lvl="0" marL="457200" rtl="0" algn="l">
              <a:spcBef>
                <a:spcPts val="0"/>
              </a:spcBef>
              <a:spcAft>
                <a:spcPts val="0"/>
              </a:spcAft>
              <a:buSzPct val="100000"/>
              <a:buChar char="-"/>
            </a:pPr>
            <a:r>
              <a:rPr lang="en"/>
              <a:t>Wispr Flow was used as a dictation tool to write out parts of the MVP write-up, the wiki page, the systems architecture section of the technical paper, and my individual report. It converts human voice to text and primarily serves to increase typing speed (triple it in my case), while correcting minor mistakes and removing filler words.</a:t>
            </a:r>
            <a:endParaRPr/>
          </a:p>
          <a:p>
            <a:pPr indent="0" lvl="0" marL="0" rtl="0" algn="l">
              <a:spcBef>
                <a:spcPts val="1200"/>
              </a:spcBef>
              <a:spcAft>
                <a:spcPts val="0"/>
              </a:spcAft>
              <a:buNone/>
            </a:pPr>
            <a:r>
              <a:rPr lang="en"/>
              <a:t>Why was this the best solution?</a:t>
            </a:r>
            <a:endParaRPr/>
          </a:p>
          <a:p>
            <a:pPr indent="-280194" lvl="0" marL="457200" rtl="0" algn="l">
              <a:spcBef>
                <a:spcPts val="1200"/>
              </a:spcBef>
              <a:spcAft>
                <a:spcPts val="0"/>
              </a:spcAft>
              <a:buSzPct val="100000"/>
              <a:buChar char="-"/>
            </a:pPr>
            <a:r>
              <a:rPr lang="en"/>
              <a:t>Lucidchart had a selection of symbols within its free tier which sufficiently satisfied the requirements to generate the systems architecture diagram via user prompt.</a:t>
            </a:r>
            <a:endParaRPr/>
          </a:p>
          <a:p>
            <a:pPr indent="-280194" lvl="0" marL="457200" rtl="0" algn="l">
              <a:spcBef>
                <a:spcPts val="0"/>
              </a:spcBef>
              <a:spcAft>
                <a:spcPts val="0"/>
              </a:spcAft>
              <a:buSzPct val="100000"/>
              <a:buChar char="-"/>
            </a:pPr>
            <a:r>
              <a:rPr lang="en"/>
              <a:t>Claude needed diagram symbols that Lucidchart couldn’t generate on its own due to its limited selection of symbols in the free tier. I've also observed it to be the best performing AI for code-related projects, including redesigning wiki pages.</a:t>
            </a:r>
            <a:endParaRPr/>
          </a:p>
          <a:p>
            <a:pPr indent="-280194" lvl="0" marL="457200" rtl="0" algn="l">
              <a:spcBef>
                <a:spcPts val="0"/>
              </a:spcBef>
              <a:spcAft>
                <a:spcPts val="0"/>
              </a:spcAft>
              <a:buSzPct val="100000"/>
              <a:buChar char="-"/>
            </a:pPr>
            <a:r>
              <a:rPr lang="en"/>
              <a:t>Wispr Flow outperforms most open source dictation tools which run locally.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AI DISCLOSURE - Anndeen</a:t>
            </a:r>
            <a:endParaRPr/>
          </a:p>
        </p:txBody>
      </p:sp>
      <p:sp>
        <p:nvSpPr>
          <p:cNvPr id="330" name="Google Shape;330;p4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What? </a:t>
            </a:r>
            <a:endParaRPr/>
          </a:p>
          <a:p>
            <a:pPr indent="-292576" lvl="0" marL="457200" rtl="0" algn="l">
              <a:spcBef>
                <a:spcPts val="1200"/>
              </a:spcBef>
              <a:spcAft>
                <a:spcPts val="0"/>
              </a:spcAft>
              <a:buSzPct val="100000"/>
              <a:buChar char="-"/>
            </a:pPr>
            <a:r>
              <a:rPr lang="en" u="sng">
                <a:solidFill>
                  <a:schemeClr val="hlink"/>
                </a:solidFill>
                <a:hlinkClick r:id="rId3"/>
              </a:rPr>
              <a:t>Claude.AI</a:t>
            </a:r>
            <a:r>
              <a:rPr lang="en"/>
              <a:t>, Chat GPT</a:t>
            </a:r>
            <a:endParaRPr/>
          </a:p>
          <a:p>
            <a:pPr indent="0" lvl="0" marL="0" rtl="0" algn="l">
              <a:spcBef>
                <a:spcPts val="1200"/>
              </a:spcBef>
              <a:spcAft>
                <a:spcPts val="0"/>
              </a:spcAft>
              <a:buNone/>
            </a:pPr>
            <a:r>
              <a:rPr lang="en"/>
              <a:t>How? </a:t>
            </a:r>
            <a:endParaRPr/>
          </a:p>
          <a:p>
            <a:pPr indent="-292576" lvl="0" marL="457200" rtl="0" algn="l">
              <a:spcBef>
                <a:spcPts val="1200"/>
              </a:spcBef>
              <a:spcAft>
                <a:spcPts val="0"/>
              </a:spcAft>
              <a:buSzPct val="100000"/>
              <a:buChar char="-"/>
            </a:pPr>
            <a:r>
              <a:rPr lang="en"/>
              <a:t>Mainly to figuring out how to integrate different tables  together to generate results that the backend would understand. </a:t>
            </a:r>
            <a:endParaRPr/>
          </a:p>
          <a:p>
            <a:pPr indent="-292576" lvl="0" marL="457200" rtl="0" algn="l">
              <a:spcBef>
                <a:spcPts val="0"/>
              </a:spcBef>
              <a:spcAft>
                <a:spcPts val="0"/>
              </a:spcAft>
              <a:buSzPct val="100000"/>
              <a:buChar char="-"/>
            </a:pPr>
            <a:r>
              <a:rPr lang="en"/>
              <a:t>Thinking of more challenges each persona/users might face so the app could account for more real world use cases.</a:t>
            </a:r>
            <a:endParaRPr/>
          </a:p>
          <a:p>
            <a:pPr indent="-292576" lvl="0" marL="457200" rtl="0" algn="l">
              <a:spcBef>
                <a:spcPts val="0"/>
              </a:spcBef>
              <a:spcAft>
                <a:spcPts val="0"/>
              </a:spcAft>
              <a:buSzPct val="100000"/>
              <a:buChar char="-"/>
            </a:pPr>
            <a:r>
              <a:rPr lang="en"/>
              <a:t>To format multiple item entries that can easily be copy and pasted into the database.</a:t>
            </a:r>
            <a:endParaRPr/>
          </a:p>
          <a:p>
            <a:pPr indent="-292576" lvl="0" marL="457200" rtl="0" algn="l">
              <a:spcBef>
                <a:spcPts val="0"/>
              </a:spcBef>
              <a:spcAft>
                <a:spcPts val="0"/>
              </a:spcAft>
              <a:buSzPct val="100000"/>
              <a:buChar char="-"/>
            </a:pPr>
            <a:r>
              <a:rPr lang="en"/>
              <a:t>To revise the entity relationship diagram to show the connection between the tables</a:t>
            </a:r>
            <a:endParaRPr/>
          </a:p>
          <a:p>
            <a:pPr indent="0" lvl="0" marL="0" rtl="0" algn="l">
              <a:spcBef>
                <a:spcPts val="1200"/>
              </a:spcBef>
              <a:spcAft>
                <a:spcPts val="0"/>
              </a:spcAft>
              <a:buNone/>
            </a:pPr>
            <a:r>
              <a:rPr lang="en"/>
              <a:t>Why was this the best solution?</a:t>
            </a:r>
            <a:endParaRPr/>
          </a:p>
          <a:p>
            <a:pPr indent="-292576" lvl="0" marL="457200" rtl="0" algn="l">
              <a:spcBef>
                <a:spcPts val="1200"/>
              </a:spcBef>
              <a:spcAft>
                <a:spcPts val="0"/>
              </a:spcAft>
              <a:buSzPct val="100000"/>
              <a:buChar char="-"/>
            </a:pPr>
            <a:r>
              <a:rPr lang="en"/>
              <a:t>To avoid errors and make sure the data matched and tables worked together correctly  for the backend and ai layer </a:t>
            </a:r>
            <a:endParaRPr/>
          </a:p>
          <a:p>
            <a:pPr indent="-292576" lvl="0" marL="457200" rtl="0" algn="l">
              <a:spcBef>
                <a:spcPts val="0"/>
              </a:spcBef>
              <a:spcAft>
                <a:spcPts val="0"/>
              </a:spcAft>
              <a:buSzPct val="100000"/>
              <a:buChar char="-"/>
            </a:pPr>
            <a:r>
              <a:rPr lang="en"/>
              <a:t>Helped catch problems that wouldn't be thought on my own</a:t>
            </a:r>
            <a:endParaRPr/>
          </a:p>
          <a:p>
            <a:pPr indent="-292576" lvl="0" marL="457200" rtl="0" algn="l">
              <a:spcBef>
                <a:spcPts val="0"/>
              </a:spcBef>
              <a:spcAft>
                <a:spcPts val="0"/>
              </a:spcAft>
              <a:buSzPct val="100000"/>
              <a:buChar char="-"/>
            </a:pPr>
            <a:r>
              <a:rPr lang="en"/>
              <a:t>To save time on repetitive formatting and integration work.</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AI DISCLOSURE - Younes</a:t>
            </a:r>
            <a:endParaRPr/>
          </a:p>
        </p:txBody>
      </p:sp>
      <p:sp>
        <p:nvSpPr>
          <p:cNvPr id="336" name="Google Shape;336;p4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What?</a:t>
            </a:r>
            <a:endParaRPr/>
          </a:p>
          <a:p>
            <a:pPr indent="-311150" lvl="0" marL="457200" rtl="0" algn="l">
              <a:spcBef>
                <a:spcPts val="1200"/>
              </a:spcBef>
              <a:spcAft>
                <a:spcPts val="0"/>
              </a:spcAft>
              <a:buSzPts val="1300"/>
              <a:buChar char="-"/>
            </a:pPr>
            <a:r>
              <a:rPr lang="en"/>
              <a:t>Claude AI, Chat GPT</a:t>
            </a:r>
            <a:endParaRPr/>
          </a:p>
          <a:p>
            <a:pPr indent="0" lvl="0" marL="0" rtl="0" algn="l">
              <a:spcBef>
                <a:spcPts val="1200"/>
              </a:spcBef>
              <a:spcAft>
                <a:spcPts val="0"/>
              </a:spcAft>
              <a:buNone/>
            </a:pPr>
            <a:r>
              <a:rPr lang="en"/>
              <a:t>How?</a:t>
            </a:r>
            <a:endParaRPr/>
          </a:p>
          <a:p>
            <a:pPr indent="-311150" lvl="0" marL="457200" rtl="0" algn="l">
              <a:spcBef>
                <a:spcPts val="1200"/>
              </a:spcBef>
              <a:spcAft>
                <a:spcPts val="0"/>
              </a:spcAft>
              <a:buSzPts val="1300"/>
              <a:buChar char="-"/>
            </a:pPr>
            <a:r>
              <a:rPr lang="en"/>
              <a:t>Used for fixing coding errors in the front and backend</a:t>
            </a:r>
            <a:endParaRPr/>
          </a:p>
          <a:p>
            <a:pPr indent="-311150" lvl="0" marL="457200" rtl="0" algn="l">
              <a:spcBef>
                <a:spcPts val="0"/>
              </a:spcBef>
              <a:spcAft>
                <a:spcPts val="0"/>
              </a:spcAft>
              <a:buSzPts val="1300"/>
              <a:buChar char="-"/>
            </a:pPr>
            <a:r>
              <a:rPr lang="en"/>
              <a:t>Used for front-end stylization</a:t>
            </a:r>
            <a:endParaRPr/>
          </a:p>
          <a:p>
            <a:pPr indent="0" lvl="0" marL="0" rtl="0" algn="l">
              <a:spcBef>
                <a:spcPts val="1200"/>
              </a:spcBef>
              <a:spcAft>
                <a:spcPts val="0"/>
              </a:spcAft>
              <a:buNone/>
            </a:pPr>
            <a:r>
              <a:rPr lang="en"/>
              <a:t>Why was this the best solution?</a:t>
            </a:r>
            <a:endParaRPr/>
          </a:p>
          <a:p>
            <a:pPr indent="-311150" lvl="0" marL="457200" rtl="0" algn="l">
              <a:spcBef>
                <a:spcPts val="1200"/>
              </a:spcBef>
              <a:spcAft>
                <a:spcPts val="0"/>
              </a:spcAft>
              <a:buSzPts val="1300"/>
              <a:buChar char="-"/>
            </a:pPr>
            <a:r>
              <a:rPr lang="en"/>
              <a:t>They do a good job of finding the root problem for errors, which is hard to see when viewing several scripts with hundreds of lines of code</a:t>
            </a:r>
            <a:endParaRPr/>
          </a:p>
          <a:p>
            <a:pPr indent="-311150" lvl="0" marL="457200" rtl="0" algn="l">
              <a:spcBef>
                <a:spcPts val="0"/>
              </a:spcBef>
              <a:spcAft>
                <a:spcPts val="0"/>
              </a:spcAft>
              <a:buSzPts val="1300"/>
              <a:buChar char="-"/>
            </a:pPr>
            <a:r>
              <a:rPr lang="en"/>
              <a:t>Not well versed with CSS styles and format, so they were used to design the base site, which was then edited to better fit the application.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AI DISCLOSURE - Tara</a:t>
            </a:r>
            <a:endParaRPr/>
          </a:p>
        </p:txBody>
      </p:sp>
      <p:sp>
        <p:nvSpPr>
          <p:cNvPr id="342" name="Google Shape;342;p4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a:t>
            </a:r>
            <a:endParaRPr/>
          </a:p>
          <a:p>
            <a:pPr indent="-311150" lvl="0" marL="457200" rtl="0" algn="l">
              <a:spcBef>
                <a:spcPts val="1200"/>
              </a:spcBef>
              <a:spcAft>
                <a:spcPts val="0"/>
              </a:spcAft>
              <a:buSzPts val="1300"/>
              <a:buChar char="-"/>
            </a:pPr>
            <a:r>
              <a:rPr lang="en"/>
              <a:t>Claude</a:t>
            </a:r>
            <a:endParaRPr/>
          </a:p>
          <a:p>
            <a:pPr indent="0" lvl="0" marL="0" rtl="0" algn="l">
              <a:spcBef>
                <a:spcPts val="1200"/>
              </a:spcBef>
              <a:spcAft>
                <a:spcPts val="0"/>
              </a:spcAft>
              <a:buNone/>
            </a:pPr>
            <a:r>
              <a:rPr lang="en"/>
              <a:t>How?</a:t>
            </a:r>
            <a:endParaRPr/>
          </a:p>
          <a:p>
            <a:pPr indent="-311150" lvl="0" marL="457200" rtl="0" algn="l">
              <a:spcBef>
                <a:spcPts val="1200"/>
              </a:spcBef>
              <a:spcAft>
                <a:spcPts val="0"/>
              </a:spcAft>
              <a:buSzPts val="1300"/>
              <a:buChar char="-"/>
            </a:pPr>
            <a:r>
              <a:rPr lang="en"/>
              <a:t>Aid with clean code</a:t>
            </a:r>
            <a:endParaRPr/>
          </a:p>
          <a:p>
            <a:pPr indent="0" lvl="0" marL="0" rtl="0" algn="l">
              <a:spcBef>
                <a:spcPts val="1200"/>
              </a:spcBef>
              <a:spcAft>
                <a:spcPts val="0"/>
              </a:spcAft>
              <a:buNone/>
            </a:pPr>
            <a:r>
              <a:rPr lang="en"/>
              <a:t>Why was this the best solution?</a:t>
            </a:r>
            <a:endParaRPr/>
          </a:p>
          <a:p>
            <a:pPr indent="-311150" lvl="0" marL="457200" rtl="0" algn="l">
              <a:spcBef>
                <a:spcPts val="1200"/>
              </a:spcBef>
              <a:spcAft>
                <a:spcPts val="0"/>
              </a:spcAft>
              <a:buSzPts val="1300"/>
              <a:buChar char="-"/>
            </a:pPr>
            <a:r>
              <a:rPr lang="en"/>
              <a:t>As someone new to coding, especially with a team, it’s hard to know what the typical best practices are</a:t>
            </a:r>
            <a:endParaRPr/>
          </a:p>
          <a:p>
            <a:pPr indent="0" lvl="0" marL="0" rtl="0" algn="l">
              <a:spcBef>
                <a:spcPts val="120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Links</a:t>
            </a:r>
            <a:endParaRPr/>
          </a:p>
        </p:txBody>
      </p:sp>
      <p:sp>
        <p:nvSpPr>
          <p:cNvPr id="348" name="Google Shape;348;p4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Github: </a:t>
            </a:r>
            <a:r>
              <a:rPr lang="en" u="sng">
                <a:solidFill>
                  <a:schemeClr val="hlink"/>
                </a:solidFill>
                <a:hlinkClick r:id="rId3"/>
              </a:rPr>
              <a:t>https://github.com/htmw/CS691-Summer2026-Team1/wiki</a:t>
            </a:r>
            <a:endParaRPr/>
          </a:p>
          <a:p>
            <a:pPr indent="0" lvl="0" marL="0" rtl="0" algn="l">
              <a:spcBef>
                <a:spcPts val="1200"/>
              </a:spcBef>
              <a:spcAft>
                <a:spcPts val="0"/>
              </a:spcAft>
              <a:buNone/>
            </a:pPr>
            <a:r>
              <a:rPr lang="en"/>
              <a:t>MVP: </a:t>
            </a:r>
            <a:r>
              <a:rPr lang="en" u="sng">
                <a:solidFill>
                  <a:schemeClr val="hlink"/>
                </a:solidFill>
                <a:hlinkClick r:id="rId4"/>
              </a:rPr>
              <a:t>https://2026-paceu-capstone.github.io/intelligent-academic-path-optimizer/</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