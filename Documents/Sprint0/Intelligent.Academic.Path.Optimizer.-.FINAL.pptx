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747775"/>
          </p15:clr>
        </p15:guide>
        <p15:guide id="2" pos="3840">
          <p15:clr>
            <a:srgbClr val="747775"/>
          </p15:clr>
        </p15:guide>
      </p15:sldGuideLst>
    </p:ext>
    <p:ext uri="GoogleSlidesCustomDataVersion2">
      <go:slidesCustomData xmlns:go="http://customooxmlschemas.google.com/" r:id="rId17" roundtripDataSignature="AMtx7mgySIOSfK52qztYEFa7NnrV/NoN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A5AA019-4260-48F8-A88A-3F80767368B4}">
  <a:tblStyle styleId="{5A5AA019-4260-48F8-A88A-3F80767368B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customschemas.google.com/relationships/presentationmetadata" Target="metadata"/><Relationship Id="rId16" Type="http://schemas.openxmlformats.org/officeDocument/2006/relationships/slide" Target="slides/slide10.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12"/>
          <p:cNvSpPr/>
          <p:nvPr/>
        </p:nvSpPr>
        <p:spPr>
          <a:xfrm>
            <a:off x="517870" y="6209925"/>
            <a:ext cx="11155680" cy="45719"/>
          </a:xfrm>
          <a:custGeom>
            <a:rect b="b" l="l" r="r" t="t"/>
            <a:pathLst>
              <a:path extrusionOk="0" h="45719" w="8715708">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4" name="Google Shape;14;p12"/>
          <p:cNvSpPr txBox="1"/>
          <p:nvPr>
            <p:ph type="ctrTitle"/>
          </p:nvPr>
        </p:nvSpPr>
        <p:spPr>
          <a:xfrm>
            <a:off x="521208" y="978408"/>
            <a:ext cx="11155680" cy="34290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7200"/>
              <a:buFont typeface="Arial"/>
              <a:buNone/>
              <a:defRPr sz="7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12"/>
          <p:cNvSpPr txBox="1"/>
          <p:nvPr>
            <p:ph idx="1" type="subTitle"/>
          </p:nvPr>
        </p:nvSpPr>
        <p:spPr>
          <a:xfrm>
            <a:off x="521208" y="4480560"/>
            <a:ext cx="7104888" cy="1399032"/>
          </a:xfrm>
          <a:prstGeom prst="rect">
            <a:avLst/>
          </a:prstGeom>
          <a:noFill/>
          <a:ln>
            <a:noFill/>
          </a:ln>
        </p:spPr>
        <p:txBody>
          <a:bodyPr anchorCtr="0" anchor="b" bIns="45700" lIns="91425" spcFirstLastPara="1" rIns="91425" wrap="square" tIns="45700">
            <a:normAutofit/>
          </a:bodyPr>
          <a:lstStyle>
            <a:lvl1pPr lvl="0" algn="l">
              <a:lnSpc>
                <a:spcPct val="110000"/>
              </a:lnSpc>
              <a:spcBef>
                <a:spcPts val="1000"/>
              </a:spcBef>
              <a:spcAft>
                <a:spcPts val="0"/>
              </a:spcAft>
              <a:buClr>
                <a:schemeClr val="dk1"/>
              </a:buClr>
              <a:buSzPts val="2200"/>
              <a:buNone/>
              <a:defRPr i="1" sz="2200"/>
            </a:lvl1pPr>
            <a:lvl2pPr lvl="1" algn="ctr">
              <a:lnSpc>
                <a:spcPct val="110000"/>
              </a:lnSpc>
              <a:spcBef>
                <a:spcPts val="500"/>
              </a:spcBef>
              <a:spcAft>
                <a:spcPts val="0"/>
              </a:spcAft>
              <a:buClr>
                <a:schemeClr val="dk1"/>
              </a:buClr>
              <a:buSzPts val="2000"/>
              <a:buNone/>
              <a:defRPr sz="2000"/>
            </a:lvl2pPr>
            <a:lvl3pPr lvl="2" algn="ctr">
              <a:lnSpc>
                <a:spcPct val="110000"/>
              </a:lnSpc>
              <a:spcBef>
                <a:spcPts val="500"/>
              </a:spcBef>
              <a:spcAft>
                <a:spcPts val="0"/>
              </a:spcAft>
              <a:buClr>
                <a:schemeClr val="dk1"/>
              </a:buClr>
              <a:buSzPts val="1800"/>
              <a:buNone/>
              <a:defRPr sz="1800"/>
            </a:lvl3pPr>
            <a:lvl4pPr lvl="3" algn="ctr">
              <a:lnSpc>
                <a:spcPct val="110000"/>
              </a:lnSpc>
              <a:spcBef>
                <a:spcPts val="500"/>
              </a:spcBef>
              <a:spcAft>
                <a:spcPts val="0"/>
              </a:spcAft>
              <a:buClr>
                <a:schemeClr val="dk1"/>
              </a:buClr>
              <a:buSzPts val="1600"/>
              <a:buNone/>
              <a:defRPr sz="1600"/>
            </a:lvl4pPr>
            <a:lvl5pPr lvl="4" algn="ctr">
              <a:lnSpc>
                <a:spcPct val="11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6" name="Google Shape;16;p12"/>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12"/>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12"/>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13"/>
          <p:cNvSpPr txBox="1"/>
          <p:nvPr>
            <p:ph type="title"/>
          </p:nvPr>
        </p:nvSpPr>
        <p:spPr>
          <a:xfrm>
            <a:off x="521208" y="978408"/>
            <a:ext cx="11155680" cy="146304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13"/>
          <p:cNvSpPr txBox="1"/>
          <p:nvPr>
            <p:ph idx="1" type="body"/>
          </p:nvPr>
        </p:nvSpPr>
        <p:spPr>
          <a:xfrm>
            <a:off x="521208" y="2578608"/>
            <a:ext cx="11155680" cy="3767328"/>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 name="Google Shape;22;p13"/>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3"/>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3"/>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25" name="Shape 25"/>
        <p:cNvGrpSpPr/>
        <p:nvPr/>
      </p:nvGrpSpPr>
      <p:grpSpPr>
        <a:xfrm>
          <a:off x="0" y="0"/>
          <a:ext cx="0" cy="0"/>
          <a:chOff x="0" y="0"/>
          <a:chExt cx="0" cy="0"/>
        </a:xfrm>
      </p:grpSpPr>
      <p:sp>
        <p:nvSpPr>
          <p:cNvPr id="26" name="Google Shape;26;p14"/>
          <p:cNvSpPr txBox="1"/>
          <p:nvPr>
            <p:ph type="title"/>
          </p:nvPr>
        </p:nvSpPr>
        <p:spPr>
          <a:xfrm>
            <a:off x="521208" y="978408"/>
            <a:ext cx="5020056" cy="4288536"/>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5400"/>
              <a:buFont typeface="Arial"/>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4"/>
          <p:cNvSpPr txBox="1"/>
          <p:nvPr>
            <p:ph idx="1" type="body"/>
          </p:nvPr>
        </p:nvSpPr>
        <p:spPr>
          <a:xfrm>
            <a:off x="521208" y="5266944"/>
            <a:ext cx="5020056" cy="1088136"/>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Clr>
                <a:srgbClr val="757575"/>
              </a:buClr>
              <a:buSzPts val="2200"/>
              <a:buNone/>
              <a:defRPr i="1" sz="2200">
                <a:solidFill>
                  <a:srgbClr val="757575"/>
                </a:solidFill>
              </a:defRPr>
            </a:lvl1pPr>
            <a:lvl2pPr indent="-228600" lvl="1" marL="914400" algn="l">
              <a:lnSpc>
                <a:spcPct val="110000"/>
              </a:lnSpc>
              <a:spcBef>
                <a:spcPts val="500"/>
              </a:spcBef>
              <a:spcAft>
                <a:spcPts val="0"/>
              </a:spcAft>
              <a:buClr>
                <a:srgbClr val="757575"/>
              </a:buClr>
              <a:buSzPts val="2000"/>
              <a:buNone/>
              <a:defRPr sz="2000">
                <a:solidFill>
                  <a:srgbClr val="757575"/>
                </a:solidFill>
              </a:defRPr>
            </a:lvl2pPr>
            <a:lvl3pPr indent="-228600" lvl="2" marL="1371600" algn="l">
              <a:lnSpc>
                <a:spcPct val="110000"/>
              </a:lnSpc>
              <a:spcBef>
                <a:spcPts val="500"/>
              </a:spcBef>
              <a:spcAft>
                <a:spcPts val="0"/>
              </a:spcAft>
              <a:buClr>
                <a:srgbClr val="757575"/>
              </a:buClr>
              <a:buSzPts val="1800"/>
              <a:buNone/>
              <a:defRPr sz="1800">
                <a:solidFill>
                  <a:srgbClr val="757575"/>
                </a:solidFill>
              </a:defRPr>
            </a:lvl3pPr>
            <a:lvl4pPr indent="-228600" lvl="3" marL="1828800" algn="l">
              <a:lnSpc>
                <a:spcPct val="110000"/>
              </a:lnSpc>
              <a:spcBef>
                <a:spcPts val="500"/>
              </a:spcBef>
              <a:spcAft>
                <a:spcPts val="0"/>
              </a:spcAft>
              <a:buClr>
                <a:srgbClr val="757575"/>
              </a:buClr>
              <a:buSzPts val="1600"/>
              <a:buNone/>
              <a:defRPr sz="1600">
                <a:solidFill>
                  <a:srgbClr val="757575"/>
                </a:solidFill>
              </a:defRPr>
            </a:lvl4pPr>
            <a:lvl5pPr indent="-228600" lvl="4" marL="2286000" algn="l">
              <a:lnSpc>
                <a:spcPct val="11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28" name="Google Shape;28;p14"/>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4"/>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4"/>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1" name="Google Shape;31;p14"/>
          <p:cNvSpPr/>
          <p:nvPr/>
        </p:nvSpPr>
        <p:spPr>
          <a:xfrm>
            <a:off x="517870" y="508090"/>
            <a:ext cx="5021183" cy="149279"/>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2" name="Shape 32"/>
        <p:cNvGrpSpPr/>
        <p:nvPr/>
      </p:nvGrpSpPr>
      <p:grpSpPr>
        <a:xfrm>
          <a:off x="0" y="0"/>
          <a:ext cx="0" cy="0"/>
          <a:chOff x="0" y="0"/>
          <a:chExt cx="0" cy="0"/>
        </a:xfrm>
      </p:grpSpPr>
      <p:sp>
        <p:nvSpPr>
          <p:cNvPr id="33" name="Google Shape;33;p15"/>
          <p:cNvSpPr txBox="1"/>
          <p:nvPr>
            <p:ph type="title"/>
          </p:nvPr>
        </p:nvSpPr>
        <p:spPr>
          <a:xfrm>
            <a:off x="521208" y="978408"/>
            <a:ext cx="11155680" cy="146304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15"/>
          <p:cNvSpPr txBox="1"/>
          <p:nvPr>
            <p:ph idx="1" type="body"/>
          </p:nvPr>
        </p:nvSpPr>
        <p:spPr>
          <a:xfrm>
            <a:off x="521208" y="2578608"/>
            <a:ext cx="5166360" cy="3767328"/>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15"/>
          <p:cNvSpPr txBox="1"/>
          <p:nvPr>
            <p:ph idx="2" type="body"/>
          </p:nvPr>
        </p:nvSpPr>
        <p:spPr>
          <a:xfrm>
            <a:off x="6519672" y="2578608"/>
            <a:ext cx="5166360" cy="3767328"/>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5"/>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5"/>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5"/>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9" name="Shape 39"/>
        <p:cNvGrpSpPr/>
        <p:nvPr/>
      </p:nvGrpSpPr>
      <p:grpSpPr>
        <a:xfrm>
          <a:off x="0" y="0"/>
          <a:ext cx="0" cy="0"/>
          <a:chOff x="0" y="0"/>
          <a:chExt cx="0" cy="0"/>
        </a:xfrm>
      </p:grpSpPr>
      <p:sp>
        <p:nvSpPr>
          <p:cNvPr id="40" name="Google Shape;40;p16"/>
          <p:cNvSpPr txBox="1"/>
          <p:nvPr>
            <p:ph type="title"/>
          </p:nvPr>
        </p:nvSpPr>
        <p:spPr>
          <a:xfrm>
            <a:off x="521208" y="978408"/>
            <a:ext cx="11164824" cy="1216152"/>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16"/>
          <p:cNvSpPr txBox="1"/>
          <p:nvPr>
            <p:ph idx="1" type="body"/>
          </p:nvPr>
        </p:nvSpPr>
        <p:spPr>
          <a:xfrm>
            <a:off x="521208" y="2340864"/>
            <a:ext cx="5166360" cy="658368"/>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2200"/>
              <a:buNone/>
              <a:defRPr b="0" i="1" sz="2200"/>
            </a:lvl1pPr>
            <a:lvl2pPr indent="-228600" lvl="1" marL="914400" algn="l">
              <a:lnSpc>
                <a:spcPct val="110000"/>
              </a:lnSpc>
              <a:spcBef>
                <a:spcPts val="500"/>
              </a:spcBef>
              <a:spcAft>
                <a:spcPts val="0"/>
              </a:spcAft>
              <a:buClr>
                <a:schemeClr val="dk1"/>
              </a:buClr>
              <a:buSzPts val="2000"/>
              <a:buNone/>
              <a:defRPr b="1" sz="2000"/>
            </a:lvl2pPr>
            <a:lvl3pPr indent="-228600" lvl="2" marL="1371600" algn="l">
              <a:lnSpc>
                <a:spcPct val="110000"/>
              </a:lnSpc>
              <a:spcBef>
                <a:spcPts val="500"/>
              </a:spcBef>
              <a:spcAft>
                <a:spcPts val="0"/>
              </a:spcAft>
              <a:buClr>
                <a:schemeClr val="dk1"/>
              </a:buClr>
              <a:buSzPts val="1800"/>
              <a:buNone/>
              <a:defRPr b="1" sz="1800"/>
            </a:lvl3pPr>
            <a:lvl4pPr indent="-228600" lvl="3" marL="1828800" algn="l">
              <a:lnSpc>
                <a:spcPct val="110000"/>
              </a:lnSpc>
              <a:spcBef>
                <a:spcPts val="500"/>
              </a:spcBef>
              <a:spcAft>
                <a:spcPts val="0"/>
              </a:spcAft>
              <a:buClr>
                <a:schemeClr val="dk1"/>
              </a:buClr>
              <a:buSzPts val="1600"/>
              <a:buNone/>
              <a:defRPr b="1" sz="1600"/>
            </a:lvl4pPr>
            <a:lvl5pPr indent="-228600" lvl="4" marL="2286000" algn="l">
              <a:lnSpc>
                <a:spcPct val="11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2" name="Google Shape;42;p16"/>
          <p:cNvSpPr txBox="1"/>
          <p:nvPr>
            <p:ph idx="2" type="body"/>
          </p:nvPr>
        </p:nvSpPr>
        <p:spPr>
          <a:xfrm>
            <a:off x="521208" y="3035808"/>
            <a:ext cx="5166360" cy="3310128"/>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16"/>
          <p:cNvSpPr txBox="1"/>
          <p:nvPr>
            <p:ph idx="3" type="body"/>
          </p:nvPr>
        </p:nvSpPr>
        <p:spPr>
          <a:xfrm>
            <a:off x="6519672" y="2340864"/>
            <a:ext cx="5166360" cy="658368"/>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2200"/>
              <a:buNone/>
              <a:defRPr b="0" i="1" sz="2200"/>
            </a:lvl1pPr>
            <a:lvl2pPr indent="-228600" lvl="1" marL="914400" algn="l">
              <a:lnSpc>
                <a:spcPct val="110000"/>
              </a:lnSpc>
              <a:spcBef>
                <a:spcPts val="500"/>
              </a:spcBef>
              <a:spcAft>
                <a:spcPts val="0"/>
              </a:spcAft>
              <a:buClr>
                <a:schemeClr val="dk1"/>
              </a:buClr>
              <a:buSzPts val="2000"/>
              <a:buNone/>
              <a:defRPr b="1" sz="2000"/>
            </a:lvl2pPr>
            <a:lvl3pPr indent="-228600" lvl="2" marL="1371600" algn="l">
              <a:lnSpc>
                <a:spcPct val="110000"/>
              </a:lnSpc>
              <a:spcBef>
                <a:spcPts val="500"/>
              </a:spcBef>
              <a:spcAft>
                <a:spcPts val="0"/>
              </a:spcAft>
              <a:buClr>
                <a:schemeClr val="dk1"/>
              </a:buClr>
              <a:buSzPts val="1800"/>
              <a:buNone/>
              <a:defRPr b="1" sz="1800"/>
            </a:lvl3pPr>
            <a:lvl4pPr indent="-228600" lvl="3" marL="1828800" algn="l">
              <a:lnSpc>
                <a:spcPct val="110000"/>
              </a:lnSpc>
              <a:spcBef>
                <a:spcPts val="500"/>
              </a:spcBef>
              <a:spcAft>
                <a:spcPts val="0"/>
              </a:spcAft>
              <a:buClr>
                <a:schemeClr val="dk1"/>
              </a:buClr>
              <a:buSzPts val="1600"/>
              <a:buNone/>
              <a:defRPr b="1" sz="1600"/>
            </a:lvl4pPr>
            <a:lvl5pPr indent="-228600" lvl="4" marL="2286000" algn="l">
              <a:lnSpc>
                <a:spcPct val="11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4" name="Google Shape;44;p16"/>
          <p:cNvSpPr txBox="1"/>
          <p:nvPr>
            <p:ph idx="4" type="body"/>
          </p:nvPr>
        </p:nvSpPr>
        <p:spPr>
          <a:xfrm>
            <a:off x="6519672" y="3035808"/>
            <a:ext cx="5166360" cy="3310128"/>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16"/>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16"/>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6"/>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8" name="Shape 48"/>
        <p:cNvGrpSpPr/>
        <p:nvPr/>
      </p:nvGrpSpPr>
      <p:grpSpPr>
        <a:xfrm>
          <a:off x="0" y="0"/>
          <a:ext cx="0" cy="0"/>
          <a:chOff x="0" y="0"/>
          <a:chExt cx="0" cy="0"/>
        </a:xfrm>
      </p:grpSpPr>
      <p:sp>
        <p:nvSpPr>
          <p:cNvPr id="49" name="Google Shape;49;p17"/>
          <p:cNvSpPr txBox="1"/>
          <p:nvPr>
            <p:ph type="title"/>
          </p:nvPr>
        </p:nvSpPr>
        <p:spPr>
          <a:xfrm>
            <a:off x="521208" y="978408"/>
            <a:ext cx="11155680" cy="146304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17"/>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7"/>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7"/>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53" name="Shape 53"/>
        <p:cNvGrpSpPr/>
        <p:nvPr/>
      </p:nvGrpSpPr>
      <p:grpSpPr>
        <a:xfrm>
          <a:off x="0" y="0"/>
          <a:ext cx="0" cy="0"/>
          <a:chOff x="0" y="0"/>
          <a:chExt cx="0" cy="0"/>
        </a:xfrm>
      </p:grpSpPr>
      <p:sp>
        <p:nvSpPr>
          <p:cNvPr id="54" name="Google Shape;54;p18"/>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8"/>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8"/>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7" name="Shape 57"/>
        <p:cNvGrpSpPr/>
        <p:nvPr/>
      </p:nvGrpSpPr>
      <p:grpSpPr>
        <a:xfrm>
          <a:off x="0" y="0"/>
          <a:ext cx="0" cy="0"/>
          <a:chOff x="0" y="0"/>
          <a:chExt cx="0" cy="0"/>
        </a:xfrm>
      </p:grpSpPr>
      <p:sp>
        <p:nvSpPr>
          <p:cNvPr id="58" name="Google Shape;58;p19"/>
          <p:cNvSpPr txBox="1"/>
          <p:nvPr>
            <p:ph type="title"/>
          </p:nvPr>
        </p:nvSpPr>
        <p:spPr>
          <a:xfrm>
            <a:off x="521208" y="978408"/>
            <a:ext cx="5020056" cy="2459736"/>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1"/>
              </a:buClr>
              <a:buSzPts val="4400"/>
              <a:buFont typeface="Arial"/>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19"/>
          <p:cNvSpPr txBox="1"/>
          <p:nvPr>
            <p:ph idx="1" type="body"/>
          </p:nvPr>
        </p:nvSpPr>
        <p:spPr>
          <a:xfrm>
            <a:off x="6519672" y="987424"/>
            <a:ext cx="5166360" cy="5358384"/>
          </a:xfrm>
          <a:prstGeom prst="rect">
            <a:avLst/>
          </a:prstGeom>
          <a:noFill/>
          <a:ln>
            <a:noFill/>
          </a:ln>
        </p:spPr>
        <p:txBody>
          <a:bodyPr anchorCtr="0" anchor="t" bIns="45700" lIns="91425" spcFirstLastPara="1" rIns="91425" wrap="square" tIns="45700">
            <a:normAutofit/>
          </a:bodyPr>
          <a:lstStyle>
            <a:lvl1pPr indent="-355600" lvl="0" marL="457200" algn="l">
              <a:lnSpc>
                <a:spcPct val="110000"/>
              </a:lnSpc>
              <a:spcBef>
                <a:spcPts val="1000"/>
              </a:spcBef>
              <a:spcAft>
                <a:spcPts val="0"/>
              </a:spcAft>
              <a:buClr>
                <a:schemeClr val="dk1"/>
              </a:buClr>
              <a:buSzPts val="2000"/>
              <a:buChar char="•"/>
              <a:defRPr sz="2000"/>
            </a:lvl1pPr>
            <a:lvl2pPr indent="-342900" lvl="1" marL="914400" algn="l">
              <a:lnSpc>
                <a:spcPct val="110000"/>
              </a:lnSpc>
              <a:spcBef>
                <a:spcPts val="500"/>
              </a:spcBef>
              <a:spcAft>
                <a:spcPts val="0"/>
              </a:spcAft>
              <a:buClr>
                <a:schemeClr val="dk1"/>
              </a:buClr>
              <a:buSzPts val="1800"/>
              <a:buChar char="•"/>
              <a:defRPr sz="1800"/>
            </a:lvl2pPr>
            <a:lvl3pPr indent="-330200" lvl="2" marL="1371600" algn="l">
              <a:lnSpc>
                <a:spcPct val="110000"/>
              </a:lnSpc>
              <a:spcBef>
                <a:spcPts val="500"/>
              </a:spcBef>
              <a:spcAft>
                <a:spcPts val="0"/>
              </a:spcAft>
              <a:buClr>
                <a:schemeClr val="dk1"/>
              </a:buClr>
              <a:buSzPts val="1600"/>
              <a:buChar char="•"/>
              <a:defRPr sz="1600"/>
            </a:lvl3pPr>
            <a:lvl4pPr indent="-317500" lvl="3" marL="1828800" algn="l">
              <a:lnSpc>
                <a:spcPct val="110000"/>
              </a:lnSpc>
              <a:spcBef>
                <a:spcPts val="500"/>
              </a:spcBef>
              <a:spcAft>
                <a:spcPts val="0"/>
              </a:spcAft>
              <a:buClr>
                <a:schemeClr val="dk1"/>
              </a:buClr>
              <a:buSzPts val="1400"/>
              <a:buChar char="•"/>
              <a:defRPr sz="1400"/>
            </a:lvl4pPr>
            <a:lvl5pPr indent="-317500" lvl="4" marL="2286000" algn="l">
              <a:lnSpc>
                <a:spcPct val="110000"/>
              </a:lnSpc>
              <a:spcBef>
                <a:spcPts val="500"/>
              </a:spcBef>
              <a:spcAft>
                <a:spcPts val="0"/>
              </a:spcAft>
              <a:buClr>
                <a:schemeClr val="dk1"/>
              </a:buClr>
              <a:buSzPts val="1400"/>
              <a:buChar char="•"/>
              <a:defRPr sz="14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0" name="Google Shape;60;p19"/>
          <p:cNvSpPr txBox="1"/>
          <p:nvPr>
            <p:ph idx="2" type="body"/>
          </p:nvPr>
        </p:nvSpPr>
        <p:spPr>
          <a:xfrm>
            <a:off x="521208" y="3575304"/>
            <a:ext cx="5020056" cy="2770632"/>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2200"/>
              <a:buNone/>
              <a:defRPr i="1" sz="2200"/>
            </a:lvl1pPr>
            <a:lvl2pPr indent="-228600" lvl="1" marL="914400" algn="l">
              <a:lnSpc>
                <a:spcPct val="110000"/>
              </a:lnSpc>
              <a:spcBef>
                <a:spcPts val="500"/>
              </a:spcBef>
              <a:spcAft>
                <a:spcPts val="0"/>
              </a:spcAft>
              <a:buClr>
                <a:schemeClr val="dk1"/>
              </a:buClr>
              <a:buSzPts val="1400"/>
              <a:buNone/>
              <a:defRPr sz="1400"/>
            </a:lvl2pPr>
            <a:lvl3pPr indent="-228600" lvl="2" marL="1371600" algn="l">
              <a:lnSpc>
                <a:spcPct val="110000"/>
              </a:lnSpc>
              <a:spcBef>
                <a:spcPts val="500"/>
              </a:spcBef>
              <a:spcAft>
                <a:spcPts val="0"/>
              </a:spcAft>
              <a:buClr>
                <a:schemeClr val="dk1"/>
              </a:buClr>
              <a:buSzPts val="1200"/>
              <a:buNone/>
              <a:defRPr sz="1200"/>
            </a:lvl3pPr>
            <a:lvl4pPr indent="-228600" lvl="3" marL="1828800" algn="l">
              <a:lnSpc>
                <a:spcPct val="110000"/>
              </a:lnSpc>
              <a:spcBef>
                <a:spcPts val="500"/>
              </a:spcBef>
              <a:spcAft>
                <a:spcPts val="0"/>
              </a:spcAft>
              <a:buClr>
                <a:schemeClr val="dk1"/>
              </a:buClr>
              <a:buSzPts val="1000"/>
              <a:buNone/>
              <a:defRPr sz="1000"/>
            </a:lvl4pPr>
            <a:lvl5pPr indent="-228600" lvl="4" marL="2286000" algn="l">
              <a:lnSpc>
                <a:spcPct val="11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1" name="Google Shape;61;p19"/>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19"/>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9"/>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4" name="Shape 64"/>
        <p:cNvGrpSpPr/>
        <p:nvPr/>
      </p:nvGrpSpPr>
      <p:grpSpPr>
        <a:xfrm>
          <a:off x="0" y="0"/>
          <a:ext cx="0" cy="0"/>
          <a:chOff x="0" y="0"/>
          <a:chExt cx="0" cy="0"/>
        </a:xfrm>
      </p:grpSpPr>
      <p:sp>
        <p:nvSpPr>
          <p:cNvPr id="65" name="Google Shape;65;p20"/>
          <p:cNvSpPr txBox="1"/>
          <p:nvPr>
            <p:ph type="title"/>
          </p:nvPr>
        </p:nvSpPr>
        <p:spPr>
          <a:xfrm>
            <a:off x="521208" y="978408"/>
            <a:ext cx="5020056" cy="2459736"/>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1"/>
              </a:buClr>
              <a:buSzPts val="4400"/>
              <a:buFont typeface="Arial"/>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20"/>
          <p:cNvSpPr/>
          <p:nvPr>
            <p:ph idx="2" type="pic"/>
          </p:nvPr>
        </p:nvSpPr>
        <p:spPr>
          <a:xfrm>
            <a:off x="6519672" y="987424"/>
            <a:ext cx="5166360" cy="5358384"/>
          </a:xfrm>
          <a:prstGeom prst="rect">
            <a:avLst/>
          </a:prstGeom>
          <a:noFill/>
          <a:ln>
            <a:noFill/>
          </a:ln>
        </p:spPr>
      </p:sp>
      <p:sp>
        <p:nvSpPr>
          <p:cNvPr id="67" name="Google Shape;67;p20"/>
          <p:cNvSpPr txBox="1"/>
          <p:nvPr>
            <p:ph idx="1" type="body"/>
          </p:nvPr>
        </p:nvSpPr>
        <p:spPr>
          <a:xfrm>
            <a:off x="521208" y="3575304"/>
            <a:ext cx="5020056" cy="2770632"/>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2200"/>
              <a:buNone/>
              <a:defRPr i="1" sz="2200"/>
            </a:lvl1pPr>
            <a:lvl2pPr indent="-228600" lvl="1" marL="914400" algn="l">
              <a:lnSpc>
                <a:spcPct val="110000"/>
              </a:lnSpc>
              <a:spcBef>
                <a:spcPts val="500"/>
              </a:spcBef>
              <a:spcAft>
                <a:spcPts val="0"/>
              </a:spcAft>
              <a:buClr>
                <a:schemeClr val="dk1"/>
              </a:buClr>
              <a:buSzPts val="1400"/>
              <a:buNone/>
              <a:defRPr sz="1400"/>
            </a:lvl2pPr>
            <a:lvl3pPr indent="-228600" lvl="2" marL="1371600" algn="l">
              <a:lnSpc>
                <a:spcPct val="110000"/>
              </a:lnSpc>
              <a:spcBef>
                <a:spcPts val="500"/>
              </a:spcBef>
              <a:spcAft>
                <a:spcPts val="0"/>
              </a:spcAft>
              <a:buClr>
                <a:schemeClr val="dk1"/>
              </a:buClr>
              <a:buSzPts val="1200"/>
              <a:buNone/>
              <a:defRPr sz="1200"/>
            </a:lvl3pPr>
            <a:lvl4pPr indent="-228600" lvl="3" marL="1828800" algn="l">
              <a:lnSpc>
                <a:spcPct val="110000"/>
              </a:lnSpc>
              <a:spcBef>
                <a:spcPts val="500"/>
              </a:spcBef>
              <a:spcAft>
                <a:spcPts val="0"/>
              </a:spcAft>
              <a:buClr>
                <a:schemeClr val="dk1"/>
              </a:buClr>
              <a:buSzPts val="1000"/>
              <a:buNone/>
              <a:defRPr sz="1000"/>
            </a:lvl4pPr>
            <a:lvl5pPr indent="-228600" lvl="4" marL="2286000" algn="l">
              <a:lnSpc>
                <a:spcPct val="11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8" name="Google Shape;68;p20"/>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0"/>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0"/>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1" name="Shape 71"/>
        <p:cNvGrpSpPr/>
        <p:nvPr/>
      </p:nvGrpSpPr>
      <p:grpSpPr>
        <a:xfrm>
          <a:off x="0" y="0"/>
          <a:ext cx="0" cy="0"/>
          <a:chOff x="0" y="0"/>
          <a:chExt cx="0" cy="0"/>
        </a:xfrm>
      </p:grpSpPr>
      <p:sp>
        <p:nvSpPr>
          <p:cNvPr id="72" name="Google Shape;72;p21"/>
          <p:cNvSpPr txBox="1"/>
          <p:nvPr>
            <p:ph type="title"/>
          </p:nvPr>
        </p:nvSpPr>
        <p:spPr>
          <a:xfrm>
            <a:off x="521208" y="978408"/>
            <a:ext cx="11155680" cy="146304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21"/>
          <p:cNvSpPr txBox="1"/>
          <p:nvPr>
            <p:ph idx="1" type="body"/>
          </p:nvPr>
        </p:nvSpPr>
        <p:spPr>
          <a:xfrm rot="5400000">
            <a:off x="4215384" y="-1115568"/>
            <a:ext cx="3767328" cy="11155680"/>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21"/>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21"/>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1"/>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77" name="Shape 77"/>
        <p:cNvGrpSpPr/>
        <p:nvPr/>
      </p:nvGrpSpPr>
      <p:grpSpPr>
        <a:xfrm>
          <a:off x="0" y="0"/>
          <a:ext cx="0" cy="0"/>
          <a:chOff x="0" y="0"/>
          <a:chExt cx="0" cy="0"/>
        </a:xfrm>
      </p:grpSpPr>
      <p:sp>
        <p:nvSpPr>
          <p:cNvPr id="78" name="Google Shape;78;p22"/>
          <p:cNvSpPr txBox="1"/>
          <p:nvPr>
            <p:ph type="title"/>
          </p:nvPr>
        </p:nvSpPr>
        <p:spPr>
          <a:xfrm rot="5400000">
            <a:off x="7251192" y="2386584"/>
            <a:ext cx="5367528" cy="2551176"/>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22"/>
          <p:cNvSpPr txBox="1"/>
          <p:nvPr>
            <p:ph idx="1" type="body"/>
          </p:nvPr>
        </p:nvSpPr>
        <p:spPr>
          <a:xfrm rot="5400000">
            <a:off x="1842516" y="-342900"/>
            <a:ext cx="5367528" cy="8010144"/>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 name="Google Shape;80;p22"/>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22"/>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2"/>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83" name="Google Shape;83;p22"/>
          <p:cNvSpPr/>
          <p:nvPr/>
        </p:nvSpPr>
        <p:spPr>
          <a:xfrm rot="5400000">
            <a:off x="8936623" y="3585018"/>
            <a:ext cx="5325734" cy="149279"/>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521208" y="978408"/>
            <a:ext cx="11155680" cy="1463040"/>
          </a:xfrm>
          <a:prstGeom prst="rect">
            <a:avLst/>
          </a:prstGeom>
          <a:noFill/>
          <a:ln>
            <a:noFill/>
          </a:ln>
        </p:spPr>
        <p:txBody>
          <a:bodyPr anchorCtr="0" anchor="t" bIns="45700" lIns="91425" spcFirstLastPara="1" rIns="91425" wrap="square" tIns="45700">
            <a:normAutofit/>
          </a:bodyPr>
          <a:lstStyle>
            <a:lvl1pPr lvl="0" marR="0" rtl="0" algn="l">
              <a:lnSpc>
                <a:spcPct val="100000"/>
              </a:lnSpc>
              <a:spcBef>
                <a:spcPts val="0"/>
              </a:spcBef>
              <a:spcAft>
                <a:spcPts val="0"/>
              </a:spcAft>
              <a:buClr>
                <a:schemeClr val="dk1"/>
              </a:buClr>
              <a:buSzPts val="4400"/>
              <a:buFont typeface="Arial"/>
              <a:buNone/>
              <a:defRPr b="1"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1"/>
          <p:cNvSpPr txBox="1"/>
          <p:nvPr>
            <p:ph idx="1" type="body"/>
          </p:nvPr>
        </p:nvSpPr>
        <p:spPr>
          <a:xfrm>
            <a:off x="521208" y="2578608"/>
            <a:ext cx="11155680" cy="3767328"/>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110000"/>
              </a:lnSpc>
              <a:spcBef>
                <a:spcPts val="10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1pPr>
            <a:lvl2pPr indent="-330200" lvl="1" marL="914400" marR="0" rtl="0" algn="l">
              <a:lnSpc>
                <a:spcPct val="11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2pPr>
            <a:lvl3pPr indent="-317500" lvl="2" marL="1371600" marR="0" rtl="0" algn="l">
              <a:lnSpc>
                <a:spcPct val="11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3pPr>
            <a:lvl4pPr indent="-304800" lvl="3" marL="1828800" marR="0" rtl="0" algn="l">
              <a:lnSpc>
                <a:spcPct val="11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rtl="0" algn="l">
              <a:lnSpc>
                <a:spcPct val="11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11"/>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11"/>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11"/>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chemeClr val="dk1"/>
                </a:solidFill>
                <a:latin typeface="Arial"/>
                <a:ea typeface="Arial"/>
                <a:cs typeface="Arial"/>
                <a:sym typeface="Arial"/>
              </a:defRPr>
            </a:lvl1pPr>
            <a:lvl2pPr indent="0" lvl="1" marL="0" marR="0" rtl="0" algn="r">
              <a:spcBef>
                <a:spcPts val="0"/>
              </a:spcBef>
              <a:buNone/>
              <a:defRPr b="0" i="0" sz="900" u="none" cap="none" strike="noStrike">
                <a:solidFill>
                  <a:schemeClr val="dk1"/>
                </a:solidFill>
                <a:latin typeface="Arial"/>
                <a:ea typeface="Arial"/>
                <a:cs typeface="Arial"/>
                <a:sym typeface="Arial"/>
              </a:defRPr>
            </a:lvl2pPr>
            <a:lvl3pPr indent="0" lvl="2" marL="0" marR="0" rtl="0" algn="r">
              <a:spcBef>
                <a:spcPts val="0"/>
              </a:spcBef>
              <a:buNone/>
              <a:defRPr b="0" i="0" sz="900" u="none" cap="none" strike="noStrike">
                <a:solidFill>
                  <a:schemeClr val="dk1"/>
                </a:solidFill>
                <a:latin typeface="Arial"/>
                <a:ea typeface="Arial"/>
                <a:cs typeface="Arial"/>
                <a:sym typeface="Arial"/>
              </a:defRPr>
            </a:lvl3pPr>
            <a:lvl4pPr indent="0" lvl="3" marL="0" marR="0" rtl="0" algn="r">
              <a:spcBef>
                <a:spcPts val="0"/>
              </a:spcBef>
              <a:buNone/>
              <a:defRPr b="0" i="0" sz="900" u="none" cap="none" strike="noStrike">
                <a:solidFill>
                  <a:schemeClr val="dk1"/>
                </a:solidFill>
                <a:latin typeface="Arial"/>
                <a:ea typeface="Arial"/>
                <a:cs typeface="Arial"/>
                <a:sym typeface="Arial"/>
              </a:defRPr>
            </a:lvl4pPr>
            <a:lvl5pPr indent="0" lvl="4" marL="0" marR="0" rtl="0" algn="r">
              <a:spcBef>
                <a:spcPts val="0"/>
              </a:spcBef>
              <a:buNone/>
              <a:defRPr b="0" i="0" sz="900" u="none" cap="none" strike="noStrike">
                <a:solidFill>
                  <a:schemeClr val="dk1"/>
                </a:solidFill>
                <a:latin typeface="Arial"/>
                <a:ea typeface="Arial"/>
                <a:cs typeface="Arial"/>
                <a:sym typeface="Arial"/>
              </a:defRPr>
            </a:lvl5pPr>
            <a:lvl6pPr indent="0" lvl="5" marL="0" marR="0" rtl="0" algn="r">
              <a:spcBef>
                <a:spcPts val="0"/>
              </a:spcBef>
              <a:buNone/>
              <a:defRPr b="0" i="0" sz="900" u="none" cap="none" strike="noStrike">
                <a:solidFill>
                  <a:schemeClr val="dk1"/>
                </a:solidFill>
                <a:latin typeface="Arial"/>
                <a:ea typeface="Arial"/>
                <a:cs typeface="Arial"/>
                <a:sym typeface="Arial"/>
              </a:defRPr>
            </a:lvl6pPr>
            <a:lvl7pPr indent="0" lvl="6" marL="0" marR="0" rtl="0" algn="r">
              <a:spcBef>
                <a:spcPts val="0"/>
              </a:spcBef>
              <a:buNone/>
              <a:defRPr b="0" i="0" sz="900" u="none" cap="none" strike="noStrike">
                <a:solidFill>
                  <a:schemeClr val="dk1"/>
                </a:solidFill>
                <a:latin typeface="Arial"/>
                <a:ea typeface="Arial"/>
                <a:cs typeface="Arial"/>
                <a:sym typeface="Arial"/>
              </a:defRPr>
            </a:lvl7pPr>
            <a:lvl8pPr indent="0" lvl="7" marL="0" marR="0" rtl="0" algn="r">
              <a:spcBef>
                <a:spcPts val="0"/>
              </a:spcBef>
              <a:buNone/>
              <a:defRPr b="0" i="0" sz="900" u="none" cap="none" strike="noStrike">
                <a:solidFill>
                  <a:schemeClr val="dk1"/>
                </a:solidFill>
                <a:latin typeface="Arial"/>
                <a:ea typeface="Arial"/>
                <a:cs typeface="Arial"/>
                <a:sym typeface="Arial"/>
              </a:defRPr>
            </a:lvl8pPr>
            <a:lvl9pPr indent="0" lvl="8" marL="0" marR="0" rtl="0" algn="r">
              <a:spcBef>
                <a:spcPts val="0"/>
              </a:spcBef>
              <a:buNone/>
              <a:defRPr b="0" i="0" sz="9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1" name="Google Shape;11;p11"/>
          <p:cNvSpPr/>
          <p:nvPr/>
        </p:nvSpPr>
        <p:spPr>
          <a:xfrm>
            <a:off x="517869" y="508090"/>
            <a:ext cx="11153214" cy="149279"/>
          </a:xfrm>
          <a:custGeom>
            <a:rect b="b" l="l" r="r" t="t"/>
            <a:pathLst>
              <a:path extrusionOk="0" h="149279" w="8085002">
                <a:moveTo>
                  <a:pt x="0" y="0"/>
                </a:moveTo>
                <a:lnTo>
                  <a:pt x="8085002" y="0"/>
                </a:lnTo>
                <a:lnTo>
                  <a:pt x="8085002" y="149279"/>
                </a:lnTo>
                <a:lnTo>
                  <a:pt x="0" y="149279"/>
                </a:ln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4.png"/><Relationship Id="rId8"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 name="Shape 87"/>
        <p:cNvGrpSpPr/>
        <p:nvPr/>
      </p:nvGrpSpPr>
      <p:grpSpPr>
        <a:xfrm>
          <a:off x="0" y="0"/>
          <a:ext cx="0" cy="0"/>
          <a:chOff x="0" y="0"/>
          <a:chExt cx="0" cy="0"/>
        </a:xfrm>
      </p:grpSpPr>
      <p:sp>
        <p:nvSpPr>
          <p:cNvPr id="88" name="Google Shape;88;p1"/>
          <p:cNvSpPr/>
          <p:nvPr/>
        </p:nvSpPr>
        <p:spPr>
          <a:xfrm>
            <a:off x="517869" y="508090"/>
            <a:ext cx="11153214" cy="149279"/>
          </a:xfrm>
          <a:custGeom>
            <a:rect b="b" l="l" r="r" t="t"/>
            <a:pathLst>
              <a:path extrusionOk="0" h="149279" w="8085002">
                <a:moveTo>
                  <a:pt x="0" y="0"/>
                </a:moveTo>
                <a:lnTo>
                  <a:pt x="8085002" y="0"/>
                </a:lnTo>
                <a:lnTo>
                  <a:pt x="8085002" y="149279"/>
                </a:lnTo>
                <a:lnTo>
                  <a:pt x="0" y="149279"/>
                </a:ln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89" name="Google Shape;89;p1"/>
          <p:cNvSpPr/>
          <p:nvPr/>
        </p:nvSpPr>
        <p:spPr>
          <a:xfrm>
            <a:off x="83900" y="7340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0" name="Google Shape;90;p1"/>
          <p:cNvSpPr txBox="1"/>
          <p:nvPr>
            <p:ph type="ctrTitle"/>
          </p:nvPr>
        </p:nvSpPr>
        <p:spPr>
          <a:xfrm>
            <a:off x="5073837" y="946958"/>
            <a:ext cx="5513700" cy="14631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100000"/>
              </a:lnSpc>
              <a:spcBef>
                <a:spcPts val="0"/>
              </a:spcBef>
              <a:spcAft>
                <a:spcPts val="0"/>
              </a:spcAft>
              <a:buClr>
                <a:schemeClr val="dk1"/>
              </a:buClr>
              <a:buSzPct val="100000"/>
              <a:buFont typeface="Arial"/>
              <a:buNone/>
            </a:pPr>
            <a:r>
              <a:rPr b="1" i="0" lang="en-US" sz="4400" u="none" cap="none" strike="noStrike">
                <a:solidFill>
                  <a:schemeClr val="dk1"/>
                </a:solidFill>
                <a:latin typeface="Arial"/>
                <a:ea typeface="Arial"/>
                <a:cs typeface="Arial"/>
                <a:sym typeface="Arial"/>
              </a:rPr>
              <a:t>Intelligent Academic Path Optimizer</a:t>
            </a:r>
            <a:endParaRPr/>
          </a:p>
        </p:txBody>
      </p:sp>
      <p:pic>
        <p:nvPicPr>
          <p:cNvPr id="91" name="Google Shape;91;p1"/>
          <p:cNvPicPr preferRelativeResize="0"/>
          <p:nvPr/>
        </p:nvPicPr>
        <p:blipFill rotWithShape="1">
          <a:blip r:embed="rId3">
            <a:alphaModFix/>
          </a:blip>
          <a:srcRect b="0" l="0" r="0" t="0"/>
          <a:stretch/>
        </p:blipFill>
        <p:spPr>
          <a:xfrm>
            <a:off x="772752" y="1020349"/>
            <a:ext cx="3656501" cy="3656451"/>
          </a:xfrm>
          <a:prstGeom prst="rect">
            <a:avLst/>
          </a:prstGeom>
          <a:noFill/>
          <a:ln>
            <a:noFill/>
          </a:ln>
        </p:spPr>
      </p:pic>
      <p:sp>
        <p:nvSpPr>
          <p:cNvPr id="92" name="Google Shape;92;p1"/>
          <p:cNvSpPr/>
          <p:nvPr/>
        </p:nvSpPr>
        <p:spPr>
          <a:xfrm>
            <a:off x="5022909" y="508090"/>
            <a:ext cx="5512217" cy="149279"/>
          </a:xfrm>
          <a:custGeom>
            <a:rect b="b" l="l" r="r" t="t"/>
            <a:pathLst>
              <a:path extrusionOk="0" h="149279" w="6090847">
                <a:moveTo>
                  <a:pt x="0" y="0"/>
                </a:moveTo>
                <a:lnTo>
                  <a:pt x="6090847" y="0"/>
                </a:lnTo>
                <a:lnTo>
                  <a:pt x="6090847" y="149279"/>
                </a:lnTo>
                <a:lnTo>
                  <a:pt x="0" y="149279"/>
                </a:ln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3" name="Google Shape;93;p1"/>
          <p:cNvSpPr txBox="1"/>
          <p:nvPr>
            <p:ph idx="1" type="subTitle"/>
          </p:nvPr>
        </p:nvSpPr>
        <p:spPr>
          <a:xfrm>
            <a:off x="5148725" y="2527200"/>
            <a:ext cx="6644700" cy="3168600"/>
          </a:xfrm>
          <a:prstGeom prst="rect">
            <a:avLst/>
          </a:prstGeom>
          <a:noFill/>
          <a:ln>
            <a:noFill/>
          </a:ln>
        </p:spPr>
        <p:txBody>
          <a:bodyPr anchorCtr="0" anchor="b" bIns="45700" lIns="91425" spcFirstLastPara="1" rIns="91425" wrap="square" tIns="45700">
            <a:normAutofit/>
          </a:bodyPr>
          <a:lstStyle/>
          <a:p>
            <a:pPr indent="0" lvl="0" marL="0" marR="0" rtl="0" algn="l">
              <a:lnSpc>
                <a:spcPct val="110000"/>
              </a:lnSpc>
              <a:spcBef>
                <a:spcPts val="0"/>
              </a:spcBef>
              <a:spcAft>
                <a:spcPts val="0"/>
              </a:spcAft>
              <a:buClr>
                <a:schemeClr val="dk1"/>
              </a:buClr>
              <a:buSzPts val="2400"/>
              <a:buFont typeface="Arial"/>
              <a:buChar char="•"/>
            </a:pPr>
            <a:r>
              <a:rPr b="0" i="1" lang="en-US" sz="2400" u="none" cap="none" strike="noStrike">
                <a:solidFill>
                  <a:schemeClr val="dk1"/>
                </a:solidFill>
                <a:latin typeface="Arial"/>
                <a:ea typeface="Arial"/>
                <a:cs typeface="Arial"/>
                <a:sym typeface="Arial"/>
              </a:rPr>
              <a:t>Anndeen Daley – Data Engineer/Database</a:t>
            </a:r>
            <a:endParaRPr/>
          </a:p>
          <a:p>
            <a:pPr indent="0" lvl="0" marL="0" marR="0" rtl="0" algn="l">
              <a:lnSpc>
                <a:spcPct val="110000"/>
              </a:lnSpc>
              <a:spcBef>
                <a:spcPts val="600"/>
              </a:spcBef>
              <a:spcAft>
                <a:spcPts val="0"/>
              </a:spcAft>
              <a:buClr>
                <a:schemeClr val="dk1"/>
              </a:buClr>
              <a:buSzPts val="1100"/>
              <a:buFont typeface="Arial"/>
              <a:buChar char="•"/>
            </a:pPr>
            <a:r>
              <a:rPr b="0" i="1" lang="en-US" sz="2400" u="none" cap="none" strike="noStrike">
                <a:solidFill>
                  <a:schemeClr val="dk1"/>
                </a:solidFill>
                <a:latin typeface="Arial"/>
                <a:ea typeface="Arial"/>
                <a:cs typeface="Arial"/>
                <a:sym typeface="Arial"/>
              </a:rPr>
              <a:t>Bella Gerk</a:t>
            </a:r>
            <a:r>
              <a:rPr lang="en-US" sz="2400"/>
              <a:t>e</a:t>
            </a:r>
            <a:r>
              <a:rPr b="0" i="1" lang="en-US" sz="2400" u="none" cap="none" strike="noStrike">
                <a:solidFill>
                  <a:schemeClr val="dk1"/>
                </a:solidFill>
                <a:latin typeface="Arial"/>
                <a:ea typeface="Arial"/>
                <a:cs typeface="Arial"/>
                <a:sym typeface="Arial"/>
              </a:rPr>
              <a:t>n – AI/NLP Integration</a:t>
            </a:r>
            <a:endParaRPr/>
          </a:p>
          <a:p>
            <a:pPr indent="0" lvl="0" marL="0" marR="0" rtl="0" algn="l">
              <a:lnSpc>
                <a:spcPct val="110000"/>
              </a:lnSpc>
              <a:spcBef>
                <a:spcPts val="600"/>
              </a:spcBef>
              <a:spcAft>
                <a:spcPts val="0"/>
              </a:spcAft>
              <a:buClr>
                <a:schemeClr val="dk1"/>
              </a:buClr>
              <a:buSzPts val="1100"/>
              <a:buFont typeface="Arial"/>
              <a:buChar char="•"/>
            </a:pPr>
            <a:r>
              <a:rPr b="0" i="1" lang="en-US" sz="2400" u="none" cap="none" strike="noStrike">
                <a:solidFill>
                  <a:schemeClr val="dk1"/>
                </a:solidFill>
                <a:latin typeface="Arial"/>
                <a:ea typeface="Arial"/>
                <a:cs typeface="Arial"/>
                <a:sym typeface="Arial"/>
              </a:rPr>
              <a:t>Charles Varga – DevOpS /Tech Architect</a:t>
            </a:r>
            <a:endParaRPr/>
          </a:p>
          <a:p>
            <a:pPr indent="0" lvl="0" marL="0" marR="0" rtl="0" algn="l">
              <a:lnSpc>
                <a:spcPct val="110000"/>
              </a:lnSpc>
              <a:spcBef>
                <a:spcPts val="600"/>
              </a:spcBef>
              <a:spcAft>
                <a:spcPts val="0"/>
              </a:spcAft>
              <a:buClr>
                <a:schemeClr val="dk1"/>
              </a:buClr>
              <a:buSzPts val="2400"/>
              <a:buFont typeface="Arial"/>
              <a:buChar char="•"/>
            </a:pPr>
            <a:r>
              <a:rPr b="0" i="1" lang="en-US" sz="2400" u="none" cap="none" strike="noStrike">
                <a:solidFill>
                  <a:schemeClr val="dk1"/>
                </a:solidFill>
                <a:latin typeface="Arial"/>
                <a:ea typeface="Arial"/>
                <a:cs typeface="Arial"/>
                <a:sym typeface="Arial"/>
              </a:rPr>
              <a:t>James Simpson – PO/SCRUM Master</a:t>
            </a:r>
            <a:endParaRPr/>
          </a:p>
          <a:p>
            <a:pPr indent="0" lvl="0" marL="0" marR="0" rtl="0" algn="l">
              <a:lnSpc>
                <a:spcPct val="110000"/>
              </a:lnSpc>
              <a:spcBef>
                <a:spcPts val="600"/>
              </a:spcBef>
              <a:spcAft>
                <a:spcPts val="0"/>
              </a:spcAft>
              <a:buClr>
                <a:schemeClr val="dk1"/>
              </a:buClr>
              <a:buSzPts val="2400"/>
              <a:buFont typeface="Arial"/>
              <a:buChar char="•"/>
            </a:pPr>
            <a:r>
              <a:rPr b="0" i="1" lang="en-US" sz="2400" u="none" cap="none" strike="noStrike">
                <a:solidFill>
                  <a:schemeClr val="dk1"/>
                </a:solidFill>
                <a:latin typeface="Arial"/>
                <a:ea typeface="Arial"/>
                <a:cs typeface="Arial"/>
                <a:sym typeface="Arial"/>
              </a:rPr>
              <a:t>Tara Edney – Frontend</a:t>
            </a:r>
            <a:endParaRPr/>
          </a:p>
          <a:p>
            <a:pPr indent="0" lvl="0" marL="0" marR="0" rtl="0" algn="l">
              <a:lnSpc>
                <a:spcPct val="110000"/>
              </a:lnSpc>
              <a:spcBef>
                <a:spcPts val="600"/>
              </a:spcBef>
              <a:spcAft>
                <a:spcPts val="600"/>
              </a:spcAft>
              <a:buClr>
                <a:schemeClr val="dk1"/>
              </a:buClr>
              <a:buSzPts val="2400"/>
              <a:buFont typeface="Arial"/>
              <a:buChar char="•"/>
            </a:pPr>
            <a:r>
              <a:rPr b="0" i="1" lang="en-US" sz="2400" u="none" cap="none" strike="noStrike">
                <a:solidFill>
                  <a:schemeClr val="dk1"/>
                </a:solidFill>
                <a:latin typeface="Arial"/>
                <a:ea typeface="Arial"/>
                <a:cs typeface="Arial"/>
                <a:sym typeface="Arial"/>
              </a:rPr>
              <a:t>Younes Roumila - Backend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7" name="Shape 97"/>
        <p:cNvGrpSpPr/>
        <p:nvPr/>
      </p:nvGrpSpPr>
      <p:grpSpPr>
        <a:xfrm>
          <a:off x="0" y="0"/>
          <a:ext cx="0" cy="0"/>
          <a:chOff x="0" y="0"/>
          <a:chExt cx="0" cy="0"/>
        </a:xfrm>
      </p:grpSpPr>
      <p:sp>
        <p:nvSpPr>
          <p:cNvPr id="98" name="Google Shape;98;p2"/>
          <p:cNvSpPr/>
          <p:nvPr/>
        </p:nvSpPr>
        <p:spPr>
          <a:xfrm>
            <a:off x="-178250" y="-10485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9" name="Google Shape;99;p2"/>
          <p:cNvSpPr txBox="1"/>
          <p:nvPr>
            <p:ph type="title"/>
          </p:nvPr>
        </p:nvSpPr>
        <p:spPr>
          <a:xfrm>
            <a:off x="521208" y="978408"/>
            <a:ext cx="4032504" cy="336499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Arial"/>
              <a:buNone/>
            </a:pPr>
            <a:r>
              <a:rPr lang="en-US"/>
              <a:t>Agenda</a:t>
            </a:r>
            <a:endParaRPr/>
          </a:p>
        </p:txBody>
      </p:sp>
      <p:sp>
        <p:nvSpPr>
          <p:cNvPr id="100" name="Google Shape;100;p2"/>
          <p:cNvSpPr/>
          <p:nvPr/>
        </p:nvSpPr>
        <p:spPr>
          <a:xfrm>
            <a:off x="517870" y="508090"/>
            <a:ext cx="4032504" cy="149279"/>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01" name="Google Shape;101;p2"/>
          <p:cNvSpPr/>
          <p:nvPr/>
        </p:nvSpPr>
        <p:spPr>
          <a:xfrm>
            <a:off x="5065776" y="6300216"/>
            <a:ext cx="6620256" cy="45719"/>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nvGrpSpPr>
          <p:cNvPr id="102" name="Google Shape;102;p2"/>
          <p:cNvGrpSpPr/>
          <p:nvPr/>
        </p:nvGrpSpPr>
        <p:grpSpPr>
          <a:xfrm>
            <a:off x="5360903" y="1408092"/>
            <a:ext cx="6030001" cy="4105823"/>
            <a:chOff x="295127" y="429684"/>
            <a:chExt cx="6030001" cy="4105823"/>
          </a:xfrm>
        </p:grpSpPr>
        <p:sp>
          <p:nvSpPr>
            <p:cNvPr id="103" name="Google Shape;103;p2"/>
            <p:cNvSpPr/>
            <p:nvPr/>
          </p:nvSpPr>
          <p:spPr>
            <a:xfrm>
              <a:off x="790127" y="429684"/>
              <a:ext cx="810000" cy="81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
            <p:cNvSpPr/>
            <p:nvPr/>
          </p:nvSpPr>
          <p:spPr>
            <a:xfrm>
              <a:off x="295127" y="1537595"/>
              <a:ext cx="1800000" cy="72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2"/>
            <p:cNvSpPr txBox="1"/>
            <p:nvPr/>
          </p:nvSpPr>
          <p:spPr>
            <a:xfrm>
              <a:off x="295127" y="1537595"/>
              <a:ext cx="1800000" cy="7200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2200"/>
                <a:buFont typeface="Arial"/>
                <a:buNone/>
              </a:pPr>
              <a:r>
                <a:rPr b="0" i="0" lang="en-US" sz="2200" u="none" cap="none" strike="noStrike">
                  <a:solidFill>
                    <a:schemeClr val="dk1"/>
                  </a:solidFill>
                  <a:latin typeface="Arial"/>
                  <a:ea typeface="Arial"/>
                  <a:cs typeface="Arial"/>
                  <a:sym typeface="Arial"/>
                </a:rPr>
                <a:t>Product Description</a:t>
              </a:r>
              <a:endParaRPr/>
            </a:p>
          </p:txBody>
        </p:sp>
        <p:sp>
          <p:nvSpPr>
            <p:cNvPr id="106" name="Google Shape;106;p2"/>
            <p:cNvSpPr/>
            <p:nvPr/>
          </p:nvSpPr>
          <p:spPr>
            <a:xfrm>
              <a:off x="2905127" y="429684"/>
              <a:ext cx="810000" cy="81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2"/>
            <p:cNvSpPr/>
            <p:nvPr/>
          </p:nvSpPr>
          <p:spPr>
            <a:xfrm>
              <a:off x="2410127" y="1537595"/>
              <a:ext cx="1800000" cy="72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
            <p:cNvSpPr txBox="1"/>
            <p:nvPr/>
          </p:nvSpPr>
          <p:spPr>
            <a:xfrm>
              <a:off x="2410127" y="1537595"/>
              <a:ext cx="1800000" cy="7200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2200"/>
                <a:buFont typeface="Arial"/>
                <a:buNone/>
              </a:pPr>
              <a:r>
                <a:rPr b="0" i="0" lang="en-US" sz="2200" u="none" cap="none" strike="noStrike">
                  <a:solidFill>
                    <a:schemeClr val="dk1"/>
                  </a:solidFill>
                  <a:latin typeface="Arial"/>
                  <a:ea typeface="Arial"/>
                  <a:cs typeface="Arial"/>
                  <a:sym typeface="Arial"/>
                </a:rPr>
                <a:t>Technologies</a:t>
              </a:r>
              <a:endParaRPr/>
            </a:p>
          </p:txBody>
        </p:sp>
        <p:sp>
          <p:nvSpPr>
            <p:cNvPr id="109" name="Google Shape;109;p2"/>
            <p:cNvSpPr/>
            <p:nvPr/>
          </p:nvSpPr>
          <p:spPr>
            <a:xfrm>
              <a:off x="5020127" y="429684"/>
              <a:ext cx="810000" cy="81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
            <p:cNvSpPr/>
            <p:nvPr/>
          </p:nvSpPr>
          <p:spPr>
            <a:xfrm>
              <a:off x="4525128" y="1537595"/>
              <a:ext cx="1800000" cy="72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
            <p:cNvSpPr txBox="1"/>
            <p:nvPr/>
          </p:nvSpPr>
          <p:spPr>
            <a:xfrm>
              <a:off x="4525128" y="1537595"/>
              <a:ext cx="1800000" cy="7200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2200"/>
                <a:buFont typeface="Arial"/>
                <a:buNone/>
              </a:pPr>
              <a:r>
                <a:rPr b="0" i="0" lang="en-US" sz="2200" u="none" cap="none" strike="noStrike">
                  <a:solidFill>
                    <a:schemeClr val="dk1"/>
                  </a:solidFill>
                  <a:latin typeface="Arial"/>
                  <a:ea typeface="Arial"/>
                  <a:cs typeface="Arial"/>
                  <a:sym typeface="Arial"/>
                </a:rPr>
                <a:t>Minimum Viable Product</a:t>
              </a:r>
              <a:endParaRPr/>
            </a:p>
          </p:txBody>
        </p:sp>
        <p:sp>
          <p:nvSpPr>
            <p:cNvPr id="112" name="Google Shape;112;p2"/>
            <p:cNvSpPr/>
            <p:nvPr/>
          </p:nvSpPr>
          <p:spPr>
            <a:xfrm>
              <a:off x="790127" y="2707595"/>
              <a:ext cx="810000" cy="81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
            <p:cNvSpPr/>
            <p:nvPr/>
          </p:nvSpPr>
          <p:spPr>
            <a:xfrm>
              <a:off x="295127" y="3815507"/>
              <a:ext cx="1800000" cy="72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
            <p:cNvSpPr txBox="1"/>
            <p:nvPr/>
          </p:nvSpPr>
          <p:spPr>
            <a:xfrm>
              <a:off x="295127" y="3815507"/>
              <a:ext cx="1800000" cy="7200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2200"/>
                <a:buFont typeface="Arial"/>
                <a:buNone/>
              </a:pPr>
              <a:r>
                <a:rPr b="0" i="0" lang="en-US" sz="2200" u="none" cap="none" strike="noStrike">
                  <a:solidFill>
                    <a:schemeClr val="dk1"/>
                  </a:solidFill>
                  <a:latin typeface="Arial"/>
                  <a:ea typeface="Arial"/>
                  <a:cs typeface="Arial"/>
                  <a:sym typeface="Arial"/>
                </a:rPr>
                <a:t>Personas</a:t>
              </a:r>
              <a:endParaRPr/>
            </a:p>
          </p:txBody>
        </p:sp>
        <p:sp>
          <p:nvSpPr>
            <p:cNvPr id="115" name="Google Shape;115;p2"/>
            <p:cNvSpPr/>
            <p:nvPr/>
          </p:nvSpPr>
          <p:spPr>
            <a:xfrm>
              <a:off x="2905127" y="2707595"/>
              <a:ext cx="810000" cy="81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
            <p:cNvSpPr/>
            <p:nvPr/>
          </p:nvSpPr>
          <p:spPr>
            <a:xfrm>
              <a:off x="2410127" y="3815507"/>
              <a:ext cx="1800000" cy="72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
            <p:cNvSpPr txBox="1"/>
            <p:nvPr/>
          </p:nvSpPr>
          <p:spPr>
            <a:xfrm>
              <a:off x="2410127" y="3815507"/>
              <a:ext cx="1800000" cy="7200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2200"/>
                <a:buFont typeface="Arial"/>
                <a:buNone/>
              </a:pPr>
              <a:r>
                <a:rPr b="0" i="0" lang="en-US" sz="2200" u="none" cap="none" strike="noStrike">
                  <a:solidFill>
                    <a:schemeClr val="dk1"/>
                  </a:solidFill>
                  <a:latin typeface="Arial"/>
                  <a:ea typeface="Arial"/>
                  <a:cs typeface="Arial"/>
                  <a:sym typeface="Arial"/>
                </a:rPr>
                <a:t>Sprint Schedules</a:t>
              </a:r>
              <a:endParaRPr/>
            </a:p>
          </p:txBody>
        </p:sp>
        <p:sp>
          <p:nvSpPr>
            <p:cNvPr id="118" name="Google Shape;118;p2"/>
            <p:cNvSpPr/>
            <p:nvPr/>
          </p:nvSpPr>
          <p:spPr>
            <a:xfrm>
              <a:off x="5020127" y="2707595"/>
              <a:ext cx="810000" cy="81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
            <p:cNvSpPr/>
            <p:nvPr/>
          </p:nvSpPr>
          <p:spPr>
            <a:xfrm>
              <a:off x="4525128" y="3815507"/>
              <a:ext cx="1800000" cy="72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
            <p:cNvSpPr txBox="1"/>
            <p:nvPr/>
          </p:nvSpPr>
          <p:spPr>
            <a:xfrm>
              <a:off x="4525128" y="3815507"/>
              <a:ext cx="1800000" cy="7200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2200"/>
                <a:buFont typeface="Arial"/>
                <a:buNone/>
              </a:pPr>
              <a:r>
                <a:rPr b="0" i="0" lang="en-US" sz="2200" u="none" cap="none" strike="noStrike">
                  <a:solidFill>
                    <a:schemeClr val="dk1"/>
                  </a:solidFill>
                  <a:latin typeface="Arial"/>
                  <a:ea typeface="Arial"/>
                  <a:cs typeface="Arial"/>
                  <a:sym typeface="Arial"/>
                </a:rPr>
                <a:t>Retrospective</a:t>
              </a:r>
              <a:endParaRPr/>
            </a:p>
          </p:txBody>
        </p:sp>
      </p:grpSp>
      <p:pic>
        <p:nvPicPr>
          <p:cNvPr id="121" name="Google Shape;121;p2"/>
          <p:cNvPicPr preferRelativeResize="0"/>
          <p:nvPr/>
        </p:nvPicPr>
        <p:blipFill>
          <a:blip r:embed="rId3">
            <a:alphaModFix/>
          </a:blip>
          <a:stretch>
            <a:fillRect/>
          </a:stretch>
        </p:blipFill>
        <p:spPr>
          <a:xfrm>
            <a:off x="5525488" y="1159738"/>
            <a:ext cx="1266825" cy="1266825"/>
          </a:xfrm>
          <a:prstGeom prst="rect">
            <a:avLst/>
          </a:prstGeom>
          <a:solidFill>
            <a:schemeClr val="lt1"/>
          </a:solidFill>
          <a:ln>
            <a:noFill/>
          </a:ln>
        </p:spPr>
      </p:pic>
      <p:pic>
        <p:nvPicPr>
          <p:cNvPr id="122" name="Google Shape;122;p2"/>
          <p:cNvPicPr preferRelativeResize="0"/>
          <p:nvPr/>
        </p:nvPicPr>
        <p:blipFill>
          <a:blip r:embed="rId4">
            <a:alphaModFix/>
          </a:blip>
          <a:stretch>
            <a:fillRect/>
          </a:stretch>
        </p:blipFill>
        <p:spPr>
          <a:xfrm>
            <a:off x="7628338" y="1159738"/>
            <a:ext cx="1266825" cy="1266825"/>
          </a:xfrm>
          <a:prstGeom prst="rect">
            <a:avLst/>
          </a:prstGeom>
          <a:solidFill>
            <a:schemeClr val="lt1"/>
          </a:solidFill>
          <a:ln>
            <a:noFill/>
          </a:ln>
        </p:spPr>
      </p:pic>
      <p:pic>
        <p:nvPicPr>
          <p:cNvPr id="123" name="Google Shape;123;p2"/>
          <p:cNvPicPr preferRelativeResize="0"/>
          <p:nvPr/>
        </p:nvPicPr>
        <p:blipFill>
          <a:blip r:embed="rId5">
            <a:alphaModFix/>
          </a:blip>
          <a:stretch>
            <a:fillRect/>
          </a:stretch>
        </p:blipFill>
        <p:spPr>
          <a:xfrm>
            <a:off x="9794088" y="1097538"/>
            <a:ext cx="1266825" cy="1266825"/>
          </a:xfrm>
          <a:prstGeom prst="rect">
            <a:avLst/>
          </a:prstGeom>
          <a:solidFill>
            <a:schemeClr val="lt1"/>
          </a:solidFill>
          <a:ln>
            <a:noFill/>
          </a:ln>
        </p:spPr>
      </p:pic>
      <p:pic>
        <p:nvPicPr>
          <p:cNvPr id="124" name="Google Shape;124;p2"/>
          <p:cNvPicPr preferRelativeResize="0"/>
          <p:nvPr/>
        </p:nvPicPr>
        <p:blipFill>
          <a:blip r:embed="rId6">
            <a:alphaModFix/>
          </a:blip>
          <a:stretch>
            <a:fillRect/>
          </a:stretch>
        </p:blipFill>
        <p:spPr>
          <a:xfrm>
            <a:off x="5588413" y="3473013"/>
            <a:ext cx="1266825" cy="1266825"/>
          </a:xfrm>
          <a:prstGeom prst="rect">
            <a:avLst/>
          </a:prstGeom>
          <a:solidFill>
            <a:schemeClr val="lt1"/>
          </a:solidFill>
          <a:ln>
            <a:noFill/>
          </a:ln>
        </p:spPr>
      </p:pic>
      <p:pic>
        <p:nvPicPr>
          <p:cNvPr id="125" name="Google Shape;125;p2"/>
          <p:cNvPicPr preferRelativeResize="0"/>
          <p:nvPr/>
        </p:nvPicPr>
        <p:blipFill>
          <a:blip r:embed="rId7">
            <a:alphaModFix/>
          </a:blip>
          <a:stretch>
            <a:fillRect/>
          </a:stretch>
        </p:blipFill>
        <p:spPr>
          <a:xfrm>
            <a:off x="7670288" y="3473013"/>
            <a:ext cx="1266825" cy="1266825"/>
          </a:xfrm>
          <a:prstGeom prst="rect">
            <a:avLst/>
          </a:prstGeom>
          <a:solidFill>
            <a:schemeClr val="lt1"/>
          </a:solidFill>
          <a:ln>
            <a:noFill/>
          </a:ln>
        </p:spPr>
      </p:pic>
      <p:pic>
        <p:nvPicPr>
          <p:cNvPr id="126" name="Google Shape;126;p2"/>
          <p:cNvPicPr preferRelativeResize="0"/>
          <p:nvPr/>
        </p:nvPicPr>
        <p:blipFill>
          <a:blip r:embed="rId8">
            <a:alphaModFix/>
          </a:blip>
          <a:stretch>
            <a:fillRect/>
          </a:stretch>
        </p:blipFill>
        <p:spPr>
          <a:xfrm>
            <a:off x="9794088" y="3473013"/>
            <a:ext cx="1266825" cy="1266825"/>
          </a:xfrm>
          <a:prstGeom prst="rect">
            <a:avLst/>
          </a:prstGeom>
          <a:solidFill>
            <a:schemeClr val="lt1"/>
          </a:solid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0" name="Shape 130"/>
        <p:cNvGrpSpPr/>
        <p:nvPr/>
      </p:nvGrpSpPr>
      <p:grpSpPr>
        <a:xfrm>
          <a:off x="0" y="0"/>
          <a:ext cx="0" cy="0"/>
          <a:chOff x="0" y="0"/>
          <a:chExt cx="0" cy="0"/>
        </a:xfrm>
      </p:grpSpPr>
      <p:sp>
        <p:nvSpPr>
          <p:cNvPr id="131" name="Google Shape;131;p3"/>
          <p:cNvSpPr/>
          <p:nvPr/>
        </p:nvSpPr>
        <p:spPr>
          <a:xfrm>
            <a:off x="0" y="0"/>
            <a:ext cx="12188952" cy="685799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32" name="Google Shape;132;p3"/>
          <p:cNvSpPr txBox="1"/>
          <p:nvPr>
            <p:ph type="title"/>
          </p:nvPr>
        </p:nvSpPr>
        <p:spPr>
          <a:xfrm>
            <a:off x="6153912" y="978408"/>
            <a:ext cx="5513832" cy="146304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Arial"/>
              <a:buNone/>
            </a:pPr>
            <a:r>
              <a:rPr lang="en-US"/>
              <a:t>Project Description</a:t>
            </a:r>
            <a:endParaRPr/>
          </a:p>
        </p:txBody>
      </p:sp>
      <p:sp>
        <p:nvSpPr>
          <p:cNvPr id="133" name="Google Shape;133;p3"/>
          <p:cNvSpPr/>
          <p:nvPr/>
        </p:nvSpPr>
        <p:spPr>
          <a:xfrm>
            <a:off x="6158484" y="508090"/>
            <a:ext cx="5513832" cy="149279"/>
          </a:xfrm>
          <a:custGeom>
            <a:rect b="b" l="l" r="r" t="t"/>
            <a:pathLst>
              <a:path extrusionOk="0" h="149279" w="6090847">
                <a:moveTo>
                  <a:pt x="0" y="0"/>
                </a:moveTo>
                <a:lnTo>
                  <a:pt x="6090847" y="0"/>
                </a:lnTo>
                <a:lnTo>
                  <a:pt x="6090847" y="149279"/>
                </a:lnTo>
                <a:lnTo>
                  <a:pt x="0" y="149279"/>
                </a:ln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34" name="Google Shape;134;p3"/>
          <p:cNvSpPr txBox="1"/>
          <p:nvPr>
            <p:ph idx="1" type="body"/>
          </p:nvPr>
        </p:nvSpPr>
        <p:spPr>
          <a:xfrm>
            <a:off x="6153912" y="2578608"/>
            <a:ext cx="5513832" cy="3767328"/>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Clr>
                <a:schemeClr val="dk1"/>
              </a:buClr>
              <a:buSzPts val="1800"/>
              <a:buNone/>
            </a:pPr>
            <a:r>
              <a:rPr lang="en-US"/>
              <a:t>The Intelligent Academic Path Optimizer is a proposed application which will streamline the academic advising workflow. The app is designed to use AI to facilitate decision making when generating a conflict-free academic schedule for students. By utilizing the Constraint Satisfaction Problem algorithms and predictive modeling, the application will dynamically output the most efficient path to graduation based on specific student parameters.</a:t>
            </a:r>
            <a:endParaRPr/>
          </a:p>
        </p:txBody>
      </p:sp>
      <p:pic>
        <p:nvPicPr>
          <p:cNvPr id="135" name="Google Shape;135;p3"/>
          <p:cNvPicPr preferRelativeResize="0"/>
          <p:nvPr/>
        </p:nvPicPr>
        <p:blipFill>
          <a:blip r:embed="rId3">
            <a:alphaModFix/>
          </a:blip>
          <a:stretch>
            <a:fillRect/>
          </a:stretch>
        </p:blipFill>
        <p:spPr>
          <a:xfrm>
            <a:off x="381000" y="978400"/>
            <a:ext cx="5243125" cy="5243125"/>
          </a:xfrm>
          <a:prstGeom prst="rect">
            <a:avLst/>
          </a:prstGeom>
          <a:solidFill>
            <a:schemeClr val="lt1"/>
          </a:solid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4"/>
          <p:cNvSpPr txBox="1"/>
          <p:nvPr>
            <p:ph type="title"/>
          </p:nvPr>
        </p:nvSpPr>
        <p:spPr>
          <a:xfrm>
            <a:off x="521208" y="978408"/>
            <a:ext cx="11155680" cy="146304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Arial"/>
              <a:buNone/>
            </a:pPr>
            <a:r>
              <a:rPr lang="en-US"/>
              <a:t>Tech Stack</a:t>
            </a:r>
            <a:endParaRPr/>
          </a:p>
        </p:txBody>
      </p:sp>
      <p:sp>
        <p:nvSpPr>
          <p:cNvPr id="141" name="Google Shape;141;p4"/>
          <p:cNvSpPr txBox="1"/>
          <p:nvPr/>
        </p:nvSpPr>
        <p:spPr>
          <a:xfrm>
            <a:off x="1397975" y="1870150"/>
            <a:ext cx="2717100" cy="47118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chemeClr val="dk1"/>
                </a:solidFill>
              </a:rPr>
              <a:t>Frontend </a:t>
            </a:r>
            <a:endParaRPr b="1" sz="2400">
              <a:solidFill>
                <a:schemeClr val="dk1"/>
              </a:solidFill>
            </a:endParaRPr>
          </a:p>
          <a:p>
            <a:pPr indent="0" lvl="0" marL="0" rtl="0" algn="l">
              <a:spcBef>
                <a:spcPts val="0"/>
              </a:spcBef>
              <a:spcAft>
                <a:spcPts val="0"/>
              </a:spcAft>
              <a:buNone/>
            </a:pPr>
            <a:r>
              <a:rPr b="1" lang="en-US" sz="2400">
                <a:solidFill>
                  <a:schemeClr val="dk1"/>
                </a:solidFill>
              </a:rPr>
              <a:t>(React Website)</a:t>
            </a:r>
            <a:endParaRPr b="1" sz="2400">
              <a:solidFill>
                <a:schemeClr val="dk1"/>
              </a:solidFill>
            </a:endParaRPr>
          </a:p>
          <a:p>
            <a:pPr indent="0" lvl="0" marL="0" rtl="0" algn="l">
              <a:spcBef>
                <a:spcPts val="0"/>
              </a:spcBef>
              <a:spcAft>
                <a:spcPts val="0"/>
              </a:spcAft>
              <a:buNone/>
            </a:pPr>
            <a:r>
              <a:t/>
            </a:r>
            <a:endParaRPr b="1" sz="2400">
              <a:solidFill>
                <a:schemeClr val="dk1"/>
              </a:solidFill>
            </a:endParaRPr>
          </a:p>
          <a:p>
            <a:pPr indent="-381000" lvl="0" marL="457200" rtl="0" algn="l">
              <a:spcBef>
                <a:spcPts val="0"/>
              </a:spcBef>
              <a:spcAft>
                <a:spcPts val="0"/>
              </a:spcAft>
              <a:buClr>
                <a:schemeClr val="dk1"/>
              </a:buClr>
              <a:buSzPts val="2400"/>
              <a:buChar char="-"/>
            </a:pPr>
            <a:r>
              <a:rPr b="1" lang="en-US" sz="2400">
                <a:solidFill>
                  <a:schemeClr val="dk1"/>
                </a:solidFill>
              </a:rPr>
              <a:t>Figma</a:t>
            </a:r>
            <a:br>
              <a:rPr b="1" lang="en-US" sz="2400">
                <a:solidFill>
                  <a:schemeClr val="dk1"/>
                </a:solidFill>
              </a:rPr>
            </a:br>
            <a:endParaRPr b="1" sz="2400">
              <a:solidFill>
                <a:schemeClr val="dk1"/>
              </a:solidFill>
            </a:endParaRPr>
          </a:p>
          <a:p>
            <a:pPr indent="-381000" lvl="0" marL="457200" rtl="0" algn="l">
              <a:spcBef>
                <a:spcPts val="0"/>
              </a:spcBef>
              <a:spcAft>
                <a:spcPts val="0"/>
              </a:spcAft>
              <a:buClr>
                <a:schemeClr val="dk1"/>
              </a:buClr>
              <a:buSzPts val="2400"/>
              <a:buChar char="-"/>
            </a:pPr>
            <a:r>
              <a:rPr b="1" lang="en-US" sz="2400">
                <a:solidFill>
                  <a:schemeClr val="dk1"/>
                </a:solidFill>
              </a:rPr>
              <a:t>React JS</a:t>
            </a:r>
            <a:br>
              <a:rPr b="1" lang="en-US" sz="2400">
                <a:solidFill>
                  <a:schemeClr val="dk1"/>
                </a:solidFill>
              </a:rPr>
            </a:br>
            <a:endParaRPr b="1" sz="2400">
              <a:solidFill>
                <a:schemeClr val="dk1"/>
              </a:solidFill>
            </a:endParaRPr>
          </a:p>
          <a:p>
            <a:pPr indent="-381000" lvl="0" marL="457200" rtl="0" algn="l">
              <a:spcBef>
                <a:spcPts val="0"/>
              </a:spcBef>
              <a:spcAft>
                <a:spcPts val="0"/>
              </a:spcAft>
              <a:buClr>
                <a:schemeClr val="dk1"/>
              </a:buClr>
              <a:buSzPts val="2400"/>
              <a:buChar char="-"/>
            </a:pPr>
            <a:r>
              <a:rPr b="1" lang="en-US" sz="2400">
                <a:solidFill>
                  <a:schemeClr val="dk1"/>
                </a:solidFill>
              </a:rPr>
              <a:t>Native CSS</a:t>
            </a:r>
            <a:br>
              <a:rPr b="1" lang="en-US" sz="2400">
                <a:solidFill>
                  <a:schemeClr val="dk1"/>
                </a:solidFill>
              </a:rPr>
            </a:br>
            <a:endParaRPr b="1" sz="2400">
              <a:solidFill>
                <a:schemeClr val="dk1"/>
              </a:solidFill>
            </a:endParaRPr>
          </a:p>
          <a:p>
            <a:pPr indent="-381000" lvl="0" marL="457200" rtl="0" algn="l">
              <a:spcBef>
                <a:spcPts val="0"/>
              </a:spcBef>
              <a:spcAft>
                <a:spcPts val="0"/>
              </a:spcAft>
              <a:buClr>
                <a:schemeClr val="dk1"/>
              </a:buClr>
              <a:buSzPts val="2400"/>
              <a:buChar char="-"/>
            </a:pPr>
            <a:r>
              <a:rPr b="1" lang="en-US" sz="2400">
                <a:solidFill>
                  <a:schemeClr val="dk1"/>
                </a:solidFill>
              </a:rPr>
              <a:t>Email JS</a:t>
            </a:r>
            <a:endParaRPr b="1" sz="2400">
              <a:solidFill>
                <a:schemeClr val="dk1"/>
              </a:solidFill>
            </a:endParaRPr>
          </a:p>
        </p:txBody>
      </p:sp>
      <p:sp>
        <p:nvSpPr>
          <p:cNvPr id="142" name="Google Shape;142;p4"/>
          <p:cNvSpPr txBox="1"/>
          <p:nvPr/>
        </p:nvSpPr>
        <p:spPr>
          <a:xfrm>
            <a:off x="4222250" y="1870150"/>
            <a:ext cx="3023400" cy="47118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chemeClr val="dk1"/>
                </a:solidFill>
              </a:rPr>
              <a:t>Backend </a:t>
            </a:r>
            <a:endParaRPr b="1" sz="2400">
              <a:solidFill>
                <a:schemeClr val="dk1"/>
              </a:solidFill>
            </a:endParaRPr>
          </a:p>
          <a:p>
            <a:pPr indent="0" lvl="0" marL="0" rtl="0" algn="l">
              <a:spcBef>
                <a:spcPts val="0"/>
              </a:spcBef>
              <a:spcAft>
                <a:spcPts val="0"/>
              </a:spcAft>
              <a:buNone/>
            </a:pPr>
            <a:r>
              <a:rPr b="1" lang="en-US" sz="2400">
                <a:solidFill>
                  <a:schemeClr val="dk1"/>
                </a:solidFill>
              </a:rPr>
              <a:t>(Web Server)</a:t>
            </a:r>
            <a:endParaRPr b="1" sz="2400">
              <a:solidFill>
                <a:schemeClr val="dk1"/>
              </a:solidFill>
            </a:endParaRPr>
          </a:p>
          <a:p>
            <a:pPr indent="0" lvl="0" marL="0" rtl="0" algn="l">
              <a:spcBef>
                <a:spcPts val="0"/>
              </a:spcBef>
              <a:spcAft>
                <a:spcPts val="0"/>
              </a:spcAft>
              <a:buNone/>
            </a:pPr>
            <a:r>
              <a:t/>
            </a:r>
            <a:endParaRPr b="1" sz="2400">
              <a:solidFill>
                <a:schemeClr val="dk1"/>
              </a:solidFill>
            </a:endParaRPr>
          </a:p>
          <a:p>
            <a:pPr indent="-381000" lvl="0" marL="457200" rtl="0" algn="l">
              <a:spcBef>
                <a:spcPts val="0"/>
              </a:spcBef>
              <a:spcAft>
                <a:spcPts val="0"/>
              </a:spcAft>
              <a:buClr>
                <a:schemeClr val="dk1"/>
              </a:buClr>
              <a:buSzPts val="2400"/>
              <a:buChar char="-"/>
            </a:pPr>
            <a:r>
              <a:rPr b="1" lang="en-US" sz="2400">
                <a:solidFill>
                  <a:schemeClr val="dk1"/>
                </a:solidFill>
              </a:rPr>
              <a:t>Python 3.12 w. FastAPI</a:t>
            </a:r>
            <a:br>
              <a:rPr b="1" lang="en-US" sz="2400">
                <a:solidFill>
                  <a:schemeClr val="dk1"/>
                </a:solidFill>
              </a:rPr>
            </a:br>
            <a:endParaRPr b="1" sz="2400">
              <a:solidFill>
                <a:schemeClr val="dk1"/>
              </a:solidFill>
            </a:endParaRPr>
          </a:p>
          <a:p>
            <a:pPr indent="-381000" lvl="0" marL="457200" rtl="0" algn="l">
              <a:spcBef>
                <a:spcPts val="0"/>
              </a:spcBef>
              <a:spcAft>
                <a:spcPts val="0"/>
              </a:spcAft>
              <a:buClr>
                <a:schemeClr val="dk1"/>
              </a:buClr>
              <a:buSzPts val="2400"/>
              <a:buChar char="-"/>
            </a:pPr>
            <a:r>
              <a:rPr b="1" lang="en-US" sz="2400">
                <a:solidFill>
                  <a:schemeClr val="dk1"/>
                </a:solidFill>
              </a:rPr>
              <a:t>Gemini API </a:t>
            </a:r>
            <a:br>
              <a:rPr b="1" lang="en-US" sz="2400">
                <a:solidFill>
                  <a:schemeClr val="dk1"/>
                </a:solidFill>
              </a:rPr>
            </a:br>
            <a:r>
              <a:rPr b="1" lang="en-US" sz="2400">
                <a:solidFill>
                  <a:schemeClr val="dk1"/>
                </a:solidFill>
              </a:rPr>
              <a:t>(AI Chat)</a:t>
            </a:r>
            <a:br>
              <a:rPr b="1" lang="en-US" sz="2400">
                <a:solidFill>
                  <a:schemeClr val="dk1"/>
                </a:solidFill>
              </a:rPr>
            </a:br>
            <a:endParaRPr b="1" sz="2400">
              <a:solidFill>
                <a:schemeClr val="dk1"/>
              </a:solidFill>
            </a:endParaRPr>
          </a:p>
          <a:p>
            <a:pPr indent="-381000" lvl="0" marL="457200" rtl="0" algn="l">
              <a:spcBef>
                <a:spcPts val="0"/>
              </a:spcBef>
              <a:spcAft>
                <a:spcPts val="0"/>
              </a:spcAft>
              <a:buClr>
                <a:schemeClr val="dk1"/>
              </a:buClr>
              <a:buSzPts val="2400"/>
              <a:buChar char="-"/>
            </a:pPr>
            <a:r>
              <a:rPr b="1" lang="en-US" sz="2400">
                <a:solidFill>
                  <a:schemeClr val="dk1"/>
                </a:solidFill>
              </a:rPr>
              <a:t>AWS DynamoDB + S3 (Accounts)</a:t>
            </a:r>
            <a:endParaRPr b="1" sz="2400">
              <a:solidFill>
                <a:schemeClr val="dk1"/>
              </a:solidFill>
            </a:endParaRPr>
          </a:p>
        </p:txBody>
      </p:sp>
      <p:sp>
        <p:nvSpPr>
          <p:cNvPr id="143" name="Google Shape;143;p4"/>
          <p:cNvSpPr txBox="1"/>
          <p:nvPr/>
        </p:nvSpPr>
        <p:spPr>
          <a:xfrm>
            <a:off x="7352825" y="1870150"/>
            <a:ext cx="3447300" cy="47118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t>Web Hosting</a:t>
            </a:r>
            <a:endParaRPr b="1" sz="2400"/>
          </a:p>
          <a:p>
            <a:pPr indent="0" lvl="0" marL="0" rtl="0" algn="l">
              <a:spcBef>
                <a:spcPts val="0"/>
              </a:spcBef>
              <a:spcAft>
                <a:spcPts val="0"/>
              </a:spcAft>
              <a:buNone/>
            </a:pPr>
            <a:r>
              <a:t/>
            </a:r>
            <a:endParaRPr b="1" sz="2400"/>
          </a:p>
          <a:p>
            <a:pPr indent="-381000" lvl="0" marL="457200" rtl="0" algn="l">
              <a:spcBef>
                <a:spcPts val="0"/>
              </a:spcBef>
              <a:spcAft>
                <a:spcPts val="0"/>
              </a:spcAft>
              <a:buSzPts val="2400"/>
              <a:buChar char="-"/>
            </a:pPr>
            <a:r>
              <a:rPr b="1" lang="en-US" sz="2400"/>
              <a:t>Github Pages (Frontend)</a:t>
            </a:r>
            <a:br>
              <a:rPr b="1" lang="en-US" sz="2400"/>
            </a:br>
            <a:endParaRPr b="1" sz="2400"/>
          </a:p>
          <a:p>
            <a:pPr indent="-381000" lvl="0" marL="457200" rtl="0" algn="l">
              <a:spcBef>
                <a:spcPts val="0"/>
              </a:spcBef>
              <a:spcAft>
                <a:spcPts val="0"/>
              </a:spcAft>
              <a:buSzPts val="2400"/>
              <a:buChar char="-"/>
            </a:pPr>
            <a:r>
              <a:rPr b="1" lang="en-US" sz="2400"/>
              <a:t>PythonAnywhere (Web Server)</a:t>
            </a:r>
            <a:br>
              <a:rPr b="1" lang="en-US" sz="2400"/>
            </a:br>
            <a:endParaRPr b="1" sz="2400"/>
          </a:p>
          <a:p>
            <a:pPr indent="-381000" lvl="0" marL="457200" rtl="0" algn="l">
              <a:spcBef>
                <a:spcPts val="0"/>
              </a:spcBef>
              <a:spcAft>
                <a:spcPts val="0"/>
              </a:spcAft>
              <a:buSzPts val="2400"/>
              <a:buChar char="-"/>
            </a:pPr>
            <a:r>
              <a:rPr b="1" lang="en-US" sz="2400"/>
              <a:t>AWS </a:t>
            </a:r>
            <a:br>
              <a:rPr b="1" lang="en-US" sz="2400"/>
            </a:br>
            <a:r>
              <a:rPr b="1" lang="en-US" sz="2400"/>
              <a:t>(User Storage)</a:t>
            </a:r>
            <a:br>
              <a:rPr b="1" lang="en-US" sz="2400"/>
            </a:br>
            <a:endParaRPr b="1" sz="2400"/>
          </a:p>
          <a:p>
            <a:pPr indent="-381000" lvl="0" marL="457200" rtl="0" algn="l">
              <a:spcBef>
                <a:spcPts val="0"/>
              </a:spcBef>
              <a:spcAft>
                <a:spcPts val="0"/>
              </a:spcAft>
              <a:buSzPts val="2400"/>
              <a:buChar char="-"/>
            </a:pPr>
            <a:r>
              <a:rPr b="1" lang="en-US" sz="2400"/>
              <a:t>Gemini (AI Server)</a:t>
            </a:r>
            <a:endParaRPr b="1" sz="2400"/>
          </a:p>
          <a:p>
            <a:pPr indent="0" lvl="0" marL="0" rtl="0" algn="l">
              <a:spcBef>
                <a:spcPts val="0"/>
              </a:spcBef>
              <a:spcAft>
                <a:spcPts val="0"/>
              </a:spcAft>
              <a:buNone/>
            </a:pPr>
            <a:r>
              <a:t/>
            </a:r>
            <a:endParaRPr b="1" sz="2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5"/>
          <p:cNvSpPr txBox="1"/>
          <p:nvPr>
            <p:ph type="title"/>
          </p:nvPr>
        </p:nvSpPr>
        <p:spPr>
          <a:xfrm>
            <a:off x="521208" y="978408"/>
            <a:ext cx="11155680" cy="146304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Arial"/>
              <a:buNone/>
            </a:pPr>
            <a:r>
              <a:rPr lang="en-US"/>
              <a:t>Minimum Viable Product (core features)</a:t>
            </a:r>
            <a:endParaRPr/>
          </a:p>
        </p:txBody>
      </p:sp>
      <p:sp>
        <p:nvSpPr>
          <p:cNvPr id="149" name="Google Shape;149;p5"/>
          <p:cNvSpPr txBox="1"/>
          <p:nvPr>
            <p:ph idx="1" type="body"/>
          </p:nvPr>
        </p:nvSpPr>
        <p:spPr>
          <a:xfrm>
            <a:off x="521208" y="2578608"/>
            <a:ext cx="11155680" cy="3767328"/>
          </a:xfrm>
          <a:prstGeom prst="rect">
            <a:avLst/>
          </a:prstGeom>
          <a:noFill/>
          <a:ln>
            <a:noFill/>
          </a:ln>
        </p:spPr>
        <p:txBody>
          <a:bodyPr anchorCtr="0" anchor="t" bIns="45700" lIns="91425" spcFirstLastPara="1" rIns="91425" wrap="square" tIns="45700">
            <a:normAutofit/>
          </a:bodyPr>
          <a:lstStyle/>
          <a:p>
            <a:pPr indent="-342900" lvl="0" marL="457200" rtl="0" algn="l">
              <a:lnSpc>
                <a:spcPct val="110000"/>
              </a:lnSpc>
              <a:spcBef>
                <a:spcPts val="0"/>
              </a:spcBef>
              <a:spcAft>
                <a:spcPts val="0"/>
              </a:spcAft>
              <a:buSzPts val="1800"/>
              <a:buChar char="•"/>
            </a:pPr>
            <a:r>
              <a:rPr lang="en-US"/>
              <a:t>A user-friendly interface in which the user can interact with the AI tied to the app to receive feedback based on the input</a:t>
            </a:r>
            <a:endParaRPr/>
          </a:p>
          <a:p>
            <a:pPr indent="-342900" lvl="0" marL="457200" rtl="0" algn="l">
              <a:lnSpc>
                <a:spcPct val="110000"/>
              </a:lnSpc>
              <a:spcBef>
                <a:spcPts val="0"/>
              </a:spcBef>
              <a:spcAft>
                <a:spcPts val="0"/>
              </a:spcAft>
              <a:buSzPts val="1800"/>
              <a:buChar char="•"/>
            </a:pPr>
            <a:r>
              <a:rPr lang="en-US"/>
              <a:t>A text input in which students can specify their particular academic needs to the AI</a:t>
            </a:r>
            <a:endParaRPr/>
          </a:p>
          <a:p>
            <a:pPr indent="-342900" lvl="0" marL="457200" rtl="0" algn="l">
              <a:lnSpc>
                <a:spcPct val="110000"/>
              </a:lnSpc>
              <a:spcBef>
                <a:spcPts val="0"/>
              </a:spcBef>
              <a:spcAft>
                <a:spcPts val="0"/>
              </a:spcAft>
              <a:buSzPts val="1800"/>
              <a:buChar char="•"/>
            </a:pPr>
            <a:r>
              <a:rPr lang="en-US"/>
              <a:t>A clearly visible feedback mechanism which users can utilize to inform developers about the AI, particularly in cases when it generates incorrect information or hallucinates</a:t>
            </a:r>
            <a:endParaRPr/>
          </a:p>
          <a:p>
            <a:pPr indent="-342900" lvl="0" marL="457200" rtl="0" algn="l">
              <a:lnSpc>
                <a:spcPct val="110000"/>
              </a:lnSpc>
              <a:spcBef>
                <a:spcPts val="0"/>
              </a:spcBef>
              <a:spcAft>
                <a:spcPts val="0"/>
              </a:spcAft>
              <a:buSzPts val="1800"/>
              <a:buChar char="•"/>
            </a:pPr>
            <a:r>
              <a:rPr lang="en-US"/>
              <a:t>A means for users to select the major that they are pursuing and at which level, be it undergraduate or graduate</a:t>
            </a:r>
            <a:endParaRPr/>
          </a:p>
          <a:p>
            <a:pPr indent="-342900" lvl="0" marL="457200" rtl="0" algn="l">
              <a:lnSpc>
                <a:spcPct val="110000"/>
              </a:lnSpc>
              <a:spcBef>
                <a:spcPts val="0"/>
              </a:spcBef>
              <a:spcAft>
                <a:spcPts val="0"/>
              </a:spcAft>
              <a:buSzPts val="1800"/>
              <a:buChar char="•"/>
            </a:pPr>
            <a:r>
              <a:rPr lang="en-US"/>
              <a:t>Output from the AI which consists of the classes that the students should take based on specified major as well as any text input for specific academic needs in the prompt, and in which semesters these students should take specific classes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6"/>
          <p:cNvSpPr txBox="1"/>
          <p:nvPr>
            <p:ph type="title"/>
          </p:nvPr>
        </p:nvSpPr>
        <p:spPr>
          <a:xfrm>
            <a:off x="521200" y="978403"/>
            <a:ext cx="11155800" cy="9915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Arial"/>
              <a:buNone/>
            </a:pPr>
            <a:r>
              <a:rPr lang="en-US"/>
              <a:t>Personas</a:t>
            </a:r>
            <a:endParaRPr/>
          </a:p>
        </p:txBody>
      </p:sp>
      <p:sp>
        <p:nvSpPr>
          <p:cNvPr id="155" name="Google Shape;155;p6"/>
          <p:cNvSpPr txBox="1"/>
          <p:nvPr/>
        </p:nvSpPr>
        <p:spPr>
          <a:xfrm>
            <a:off x="548640" y="2194560"/>
            <a:ext cx="31089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US" sz="1100">
                <a:solidFill>
                  <a:schemeClr val="dk1"/>
                </a:solidFill>
              </a:rPr>
              <a:t>Academic Advisor</a:t>
            </a:r>
            <a:r>
              <a:rPr lang="en-US" sz="1100">
                <a:solidFill>
                  <a:schemeClr val="dk1"/>
                </a:solidFill>
              </a:rPr>
              <a:t>: Isabelle Johnson, 42 · Pace University</a:t>
            </a:r>
            <a:endParaRPr sz="1100">
              <a:solidFill>
                <a:schemeClr val="dk1"/>
              </a:solidFill>
            </a:endParaRPr>
          </a:p>
          <a:p>
            <a:pPr indent="0" lvl="0" marL="0" rtl="0" algn="l">
              <a:lnSpc>
                <a:spcPct val="110000"/>
              </a:lnSpc>
              <a:spcBef>
                <a:spcPts val="1200"/>
              </a:spcBef>
              <a:spcAft>
                <a:spcPts val="0"/>
              </a:spcAft>
              <a:buNone/>
            </a:pPr>
            <a:r>
              <a:rPr b="1" lang="en-US" sz="1100">
                <a:solidFill>
                  <a:schemeClr val="dk1"/>
                </a:solidFill>
              </a:rPr>
              <a:t>Problem</a:t>
            </a:r>
            <a:endParaRPr b="1" sz="1100">
              <a:solidFill>
                <a:schemeClr val="dk1"/>
              </a:solidFill>
            </a:endParaRPr>
          </a:p>
          <a:p>
            <a:pPr indent="-298450" lvl="0" marL="457200" rtl="0" algn="l">
              <a:lnSpc>
                <a:spcPct val="110000"/>
              </a:lnSpc>
              <a:spcBef>
                <a:spcPts val="1200"/>
              </a:spcBef>
              <a:spcAft>
                <a:spcPts val="0"/>
              </a:spcAft>
              <a:buClr>
                <a:schemeClr val="dk1"/>
              </a:buClr>
              <a:buSzPts val="1100"/>
              <a:buChar char="●"/>
            </a:pPr>
            <a:r>
              <a:rPr lang="en-US" sz="1100">
                <a:solidFill>
                  <a:schemeClr val="dk1"/>
                </a:solidFill>
              </a:rPr>
              <a:t>Manually verifies prereqs and builds schedules for 100+ students</a:t>
            </a:r>
            <a:endParaRPr sz="1100">
              <a:solidFill>
                <a:schemeClr val="dk1"/>
              </a:solidFill>
            </a:endParaRPr>
          </a:p>
          <a:p>
            <a:pPr indent="-298450" lvl="0" marL="457200" rtl="0" algn="l">
              <a:lnSpc>
                <a:spcPct val="110000"/>
              </a:lnSpc>
              <a:spcBef>
                <a:spcPts val="0"/>
              </a:spcBef>
              <a:spcAft>
                <a:spcPts val="0"/>
              </a:spcAft>
              <a:buClr>
                <a:schemeClr val="dk1"/>
              </a:buClr>
              <a:buSzPts val="1100"/>
              <a:buChar char="●"/>
            </a:pPr>
            <a:r>
              <a:rPr lang="en-US" sz="1100">
                <a:solidFill>
                  <a:schemeClr val="dk1"/>
                </a:solidFill>
              </a:rPr>
              <a:t>Changing requirements risk graduation delays</a:t>
            </a:r>
            <a:endParaRPr sz="1100">
              <a:solidFill>
                <a:schemeClr val="dk1"/>
              </a:solidFill>
            </a:endParaRPr>
          </a:p>
          <a:p>
            <a:pPr indent="0" lvl="0" marL="0" rtl="0" algn="l">
              <a:lnSpc>
                <a:spcPct val="110000"/>
              </a:lnSpc>
              <a:spcBef>
                <a:spcPts val="1200"/>
              </a:spcBef>
              <a:spcAft>
                <a:spcPts val="0"/>
              </a:spcAft>
              <a:buNone/>
            </a:pPr>
            <a:r>
              <a:rPr b="1" lang="en-US" sz="1100">
                <a:solidFill>
                  <a:schemeClr val="dk1"/>
                </a:solidFill>
              </a:rPr>
              <a:t>Goals</a:t>
            </a:r>
            <a:endParaRPr b="1" sz="1100">
              <a:solidFill>
                <a:schemeClr val="dk1"/>
              </a:solidFill>
            </a:endParaRPr>
          </a:p>
          <a:p>
            <a:pPr indent="-298450" lvl="0" marL="457200" rtl="0" algn="l">
              <a:lnSpc>
                <a:spcPct val="110000"/>
              </a:lnSpc>
              <a:spcBef>
                <a:spcPts val="1200"/>
              </a:spcBef>
              <a:spcAft>
                <a:spcPts val="0"/>
              </a:spcAft>
              <a:buClr>
                <a:schemeClr val="dk1"/>
              </a:buClr>
              <a:buSzPts val="1100"/>
              <a:buChar char="●"/>
            </a:pPr>
            <a:r>
              <a:rPr lang="en-US" sz="1100">
                <a:solidFill>
                  <a:schemeClr val="dk1"/>
                </a:solidFill>
              </a:rPr>
              <a:t>Accurate prereq and degree checks</a:t>
            </a:r>
            <a:endParaRPr sz="1100">
              <a:solidFill>
                <a:schemeClr val="dk1"/>
              </a:solidFill>
            </a:endParaRPr>
          </a:p>
          <a:p>
            <a:pPr indent="-298450" lvl="0" marL="457200" rtl="0" algn="l">
              <a:lnSpc>
                <a:spcPct val="110000"/>
              </a:lnSpc>
              <a:spcBef>
                <a:spcPts val="0"/>
              </a:spcBef>
              <a:spcAft>
                <a:spcPts val="0"/>
              </a:spcAft>
              <a:buClr>
                <a:schemeClr val="dk1"/>
              </a:buClr>
              <a:buSzPts val="1100"/>
              <a:buChar char="●"/>
            </a:pPr>
            <a:r>
              <a:rPr lang="en-US" sz="1100">
                <a:solidFill>
                  <a:schemeClr val="dk1"/>
                </a:solidFill>
              </a:rPr>
              <a:t>Automated scheduling</a:t>
            </a:r>
            <a:endParaRPr sz="1100">
              <a:solidFill>
                <a:schemeClr val="dk1"/>
              </a:solidFill>
            </a:endParaRPr>
          </a:p>
          <a:p>
            <a:pPr indent="-298450" lvl="0" marL="457200" rtl="0" algn="l">
              <a:lnSpc>
                <a:spcPct val="110000"/>
              </a:lnSpc>
              <a:spcBef>
                <a:spcPts val="0"/>
              </a:spcBef>
              <a:spcAft>
                <a:spcPts val="0"/>
              </a:spcAft>
              <a:buClr>
                <a:schemeClr val="dk1"/>
              </a:buClr>
              <a:buSzPts val="1100"/>
              <a:buChar char="●"/>
            </a:pPr>
            <a:r>
              <a:rPr lang="en-US" sz="1100">
                <a:solidFill>
                  <a:schemeClr val="dk1"/>
                </a:solidFill>
              </a:rPr>
              <a:t>Earlier risk flags</a:t>
            </a:r>
            <a:endParaRPr sz="1100">
              <a:solidFill>
                <a:schemeClr val="dk1"/>
              </a:solidFill>
            </a:endParaRPr>
          </a:p>
          <a:p>
            <a:pPr indent="-298450" lvl="0" marL="457200" rtl="0" algn="l">
              <a:lnSpc>
                <a:spcPct val="110000"/>
              </a:lnSpc>
              <a:spcBef>
                <a:spcPts val="0"/>
              </a:spcBef>
              <a:spcAft>
                <a:spcPts val="0"/>
              </a:spcAft>
              <a:buClr>
                <a:schemeClr val="dk1"/>
              </a:buClr>
              <a:buSzPts val="1100"/>
              <a:buChar char="●"/>
            </a:pPr>
            <a:r>
              <a:rPr lang="en-US" sz="1100">
                <a:solidFill>
                  <a:schemeClr val="dk1"/>
                </a:solidFill>
              </a:rPr>
              <a:t>More time to help students</a:t>
            </a:r>
            <a:endParaRPr sz="1100">
              <a:solidFill>
                <a:schemeClr val="dk1"/>
              </a:solidFill>
            </a:endParaRPr>
          </a:p>
          <a:p>
            <a:pPr indent="0" lvl="0" marL="0" rtl="0" algn="l">
              <a:lnSpc>
                <a:spcPct val="110000"/>
              </a:lnSpc>
              <a:spcBef>
                <a:spcPts val="1200"/>
              </a:spcBef>
              <a:spcAft>
                <a:spcPts val="0"/>
              </a:spcAft>
              <a:buNone/>
            </a:pPr>
            <a:r>
              <a:rPr b="1" lang="en-US" sz="1100">
                <a:solidFill>
                  <a:schemeClr val="dk1"/>
                </a:solidFill>
              </a:rPr>
              <a:t>How IAPO Helps</a:t>
            </a:r>
            <a:endParaRPr b="1" sz="1100">
              <a:solidFill>
                <a:schemeClr val="dk1"/>
              </a:solidFill>
            </a:endParaRPr>
          </a:p>
          <a:p>
            <a:pPr indent="-298450" lvl="0" marL="457200" rtl="0" algn="l">
              <a:lnSpc>
                <a:spcPct val="110000"/>
              </a:lnSpc>
              <a:spcBef>
                <a:spcPts val="1200"/>
              </a:spcBef>
              <a:spcAft>
                <a:spcPts val="0"/>
              </a:spcAft>
              <a:buClr>
                <a:schemeClr val="dk1"/>
              </a:buClr>
              <a:buSzPts val="1100"/>
              <a:buChar char="●"/>
            </a:pPr>
            <a:r>
              <a:rPr lang="en-US" sz="1100">
                <a:solidFill>
                  <a:schemeClr val="dk1"/>
                </a:solidFill>
              </a:rPr>
              <a:t>Generates valid pathways so she can focus on mentorship</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b="1" sz="1100">
              <a:solidFill>
                <a:schemeClr val="dk1"/>
              </a:solidFill>
            </a:endParaRPr>
          </a:p>
          <a:p>
            <a:pPr indent="0" lvl="0" marL="0" rtl="0" algn="l">
              <a:spcBef>
                <a:spcPts val="1200"/>
              </a:spcBef>
              <a:spcAft>
                <a:spcPts val="0"/>
              </a:spcAft>
              <a:buNone/>
            </a:pPr>
            <a:r>
              <a:t/>
            </a:r>
            <a:endParaRPr sz="1800">
              <a:solidFill>
                <a:schemeClr val="dk1"/>
              </a:solidFill>
            </a:endParaRPr>
          </a:p>
        </p:txBody>
      </p:sp>
      <p:sp>
        <p:nvSpPr>
          <p:cNvPr id="156" name="Google Shape;156;p6"/>
          <p:cNvSpPr txBox="1"/>
          <p:nvPr/>
        </p:nvSpPr>
        <p:spPr>
          <a:xfrm>
            <a:off x="4114800" y="2194560"/>
            <a:ext cx="31089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US" sz="1100">
                <a:solidFill>
                  <a:schemeClr val="dk1"/>
                </a:solidFill>
              </a:rPr>
              <a:t>Graduate Student</a:t>
            </a:r>
            <a:r>
              <a:rPr lang="en-US" sz="1100">
                <a:solidFill>
                  <a:schemeClr val="dk1"/>
                </a:solidFill>
              </a:rPr>
              <a:t>:  William Court, 24 · CS Major</a:t>
            </a:r>
            <a:endParaRPr sz="1100">
              <a:solidFill>
                <a:schemeClr val="dk1"/>
              </a:solidFill>
            </a:endParaRPr>
          </a:p>
          <a:p>
            <a:pPr indent="0" lvl="0" marL="0" rtl="0" algn="l">
              <a:lnSpc>
                <a:spcPct val="110000"/>
              </a:lnSpc>
              <a:spcBef>
                <a:spcPts val="1200"/>
              </a:spcBef>
              <a:spcAft>
                <a:spcPts val="0"/>
              </a:spcAft>
              <a:buNone/>
            </a:pPr>
            <a:r>
              <a:rPr b="1" lang="en-US" sz="1100">
                <a:solidFill>
                  <a:schemeClr val="dk1"/>
                </a:solidFill>
              </a:rPr>
              <a:t>Problem</a:t>
            </a:r>
            <a:endParaRPr b="1" sz="1100">
              <a:solidFill>
                <a:schemeClr val="dk1"/>
              </a:solidFill>
            </a:endParaRPr>
          </a:p>
          <a:p>
            <a:pPr indent="-298450" lvl="0" marL="457200" rtl="0" algn="l">
              <a:lnSpc>
                <a:spcPct val="110000"/>
              </a:lnSpc>
              <a:spcBef>
                <a:spcPts val="1200"/>
              </a:spcBef>
              <a:spcAft>
                <a:spcPts val="0"/>
              </a:spcAft>
              <a:buClr>
                <a:schemeClr val="dk1"/>
              </a:buClr>
              <a:buSzPts val="1100"/>
              <a:buChar char="●"/>
            </a:pPr>
            <a:r>
              <a:rPr lang="en-US" sz="1100">
                <a:solidFill>
                  <a:schemeClr val="dk1"/>
                </a:solidFill>
              </a:rPr>
              <a:t>Confused about prereqs and availability each semester</a:t>
            </a:r>
            <a:endParaRPr sz="1100">
              <a:solidFill>
                <a:schemeClr val="dk1"/>
              </a:solidFill>
            </a:endParaRPr>
          </a:p>
          <a:p>
            <a:pPr indent="-298450" lvl="0" marL="457200" rtl="0" algn="l">
              <a:lnSpc>
                <a:spcPct val="110000"/>
              </a:lnSpc>
              <a:spcBef>
                <a:spcPts val="0"/>
              </a:spcBef>
              <a:spcAft>
                <a:spcPts val="0"/>
              </a:spcAft>
              <a:buClr>
                <a:schemeClr val="dk1"/>
              </a:buClr>
              <a:buSzPts val="1100"/>
              <a:buChar char="●"/>
            </a:pPr>
            <a:r>
              <a:rPr lang="en-US" sz="1100">
                <a:solidFill>
                  <a:schemeClr val="dk1"/>
                </a:solidFill>
              </a:rPr>
              <a:t>Unclear requirements delay graduation and raise costs</a:t>
            </a:r>
            <a:endParaRPr sz="1100">
              <a:solidFill>
                <a:schemeClr val="dk1"/>
              </a:solidFill>
            </a:endParaRPr>
          </a:p>
          <a:p>
            <a:pPr indent="0" lvl="0" marL="0" rtl="0" algn="l">
              <a:lnSpc>
                <a:spcPct val="110000"/>
              </a:lnSpc>
              <a:spcBef>
                <a:spcPts val="1200"/>
              </a:spcBef>
              <a:spcAft>
                <a:spcPts val="0"/>
              </a:spcAft>
              <a:buNone/>
            </a:pPr>
            <a:r>
              <a:rPr b="1" lang="en-US" sz="1100">
                <a:solidFill>
                  <a:schemeClr val="dk1"/>
                </a:solidFill>
              </a:rPr>
              <a:t>Goals</a:t>
            </a:r>
            <a:endParaRPr b="1" sz="1100">
              <a:solidFill>
                <a:schemeClr val="dk1"/>
              </a:solidFill>
            </a:endParaRPr>
          </a:p>
          <a:p>
            <a:pPr indent="-298450" lvl="0" marL="457200" rtl="0" algn="l">
              <a:lnSpc>
                <a:spcPct val="110000"/>
              </a:lnSpc>
              <a:spcBef>
                <a:spcPts val="1200"/>
              </a:spcBef>
              <a:spcAft>
                <a:spcPts val="0"/>
              </a:spcAft>
              <a:buClr>
                <a:schemeClr val="dk1"/>
              </a:buClr>
              <a:buSzPts val="1100"/>
              <a:buChar char="●"/>
            </a:pPr>
            <a:r>
              <a:rPr lang="en-US" sz="1100">
                <a:solidFill>
                  <a:schemeClr val="dk1"/>
                </a:solidFill>
              </a:rPr>
              <a:t>Fastest path to graduate</a:t>
            </a:r>
            <a:endParaRPr sz="1100">
              <a:solidFill>
                <a:schemeClr val="dk1"/>
              </a:solidFill>
            </a:endParaRPr>
          </a:p>
          <a:p>
            <a:pPr indent="-298450" lvl="0" marL="457200" rtl="0" algn="l">
              <a:lnSpc>
                <a:spcPct val="110000"/>
              </a:lnSpc>
              <a:spcBef>
                <a:spcPts val="0"/>
              </a:spcBef>
              <a:spcAft>
                <a:spcPts val="0"/>
              </a:spcAft>
              <a:buClr>
                <a:schemeClr val="dk1"/>
              </a:buClr>
              <a:buSzPts val="1100"/>
              <a:buChar char="●"/>
            </a:pPr>
            <a:r>
              <a:rPr lang="en-US" sz="1100">
                <a:solidFill>
                  <a:schemeClr val="dk1"/>
                </a:solidFill>
              </a:rPr>
              <a:t>"What-if" planning before registering</a:t>
            </a:r>
            <a:endParaRPr sz="1100">
              <a:solidFill>
                <a:schemeClr val="dk1"/>
              </a:solidFill>
            </a:endParaRPr>
          </a:p>
          <a:p>
            <a:pPr indent="-298450" lvl="0" marL="457200" rtl="0" algn="l">
              <a:lnSpc>
                <a:spcPct val="110000"/>
              </a:lnSpc>
              <a:spcBef>
                <a:spcPts val="0"/>
              </a:spcBef>
              <a:spcAft>
                <a:spcPts val="0"/>
              </a:spcAft>
              <a:buClr>
                <a:schemeClr val="dk1"/>
              </a:buClr>
              <a:buSzPts val="1100"/>
              <a:buChar char="●"/>
            </a:pPr>
            <a:r>
              <a:rPr lang="en-US" sz="1100">
                <a:solidFill>
                  <a:schemeClr val="dk1"/>
                </a:solidFill>
              </a:rPr>
              <a:t>Balanced schedule</a:t>
            </a:r>
            <a:endParaRPr sz="1100">
              <a:solidFill>
                <a:schemeClr val="dk1"/>
              </a:solidFill>
            </a:endParaRPr>
          </a:p>
          <a:p>
            <a:pPr indent="-298450" lvl="0" marL="457200" rtl="0" algn="l">
              <a:lnSpc>
                <a:spcPct val="110000"/>
              </a:lnSpc>
              <a:spcBef>
                <a:spcPts val="0"/>
              </a:spcBef>
              <a:spcAft>
                <a:spcPts val="0"/>
              </a:spcAft>
              <a:buClr>
                <a:schemeClr val="dk1"/>
              </a:buClr>
              <a:buSzPts val="1100"/>
              <a:buChar char="●"/>
            </a:pPr>
            <a:r>
              <a:rPr lang="en-US" sz="1100">
                <a:solidFill>
                  <a:schemeClr val="dk1"/>
                </a:solidFill>
              </a:rPr>
              <a:t>Steady GPA</a:t>
            </a:r>
            <a:endParaRPr sz="1100">
              <a:solidFill>
                <a:schemeClr val="dk1"/>
              </a:solidFill>
            </a:endParaRPr>
          </a:p>
          <a:p>
            <a:pPr indent="0" lvl="0" marL="0" rtl="0" algn="l">
              <a:lnSpc>
                <a:spcPct val="110000"/>
              </a:lnSpc>
              <a:spcBef>
                <a:spcPts val="1200"/>
              </a:spcBef>
              <a:spcAft>
                <a:spcPts val="0"/>
              </a:spcAft>
              <a:buNone/>
            </a:pPr>
            <a:r>
              <a:rPr b="1" lang="en-US" sz="1100">
                <a:solidFill>
                  <a:schemeClr val="dk1"/>
                </a:solidFill>
              </a:rPr>
              <a:t>How IAPO Helps</a:t>
            </a:r>
            <a:endParaRPr b="1" sz="1100">
              <a:solidFill>
                <a:schemeClr val="dk1"/>
              </a:solidFill>
            </a:endParaRPr>
          </a:p>
          <a:p>
            <a:pPr indent="-298450" lvl="0" marL="457200" rtl="0" algn="l">
              <a:lnSpc>
                <a:spcPct val="110000"/>
              </a:lnSpc>
              <a:spcBef>
                <a:spcPts val="1200"/>
              </a:spcBef>
              <a:spcAft>
                <a:spcPts val="0"/>
              </a:spcAft>
              <a:buClr>
                <a:schemeClr val="dk1"/>
              </a:buClr>
              <a:buSzPts val="1100"/>
              <a:buChar char="●"/>
            </a:pPr>
            <a:r>
              <a:rPr lang="en-US" sz="1100">
                <a:solidFill>
                  <a:schemeClr val="dk1"/>
                </a:solidFill>
              </a:rPr>
              <a:t>Builds an optimized schedule from his credits, goal date, and load</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b="1" sz="1100">
              <a:solidFill>
                <a:schemeClr val="dk1"/>
              </a:solidFill>
            </a:endParaRPr>
          </a:p>
          <a:p>
            <a:pPr indent="0" lvl="0" marL="0" rtl="0" algn="l">
              <a:spcBef>
                <a:spcPts val="1200"/>
              </a:spcBef>
              <a:spcAft>
                <a:spcPts val="0"/>
              </a:spcAft>
              <a:buNone/>
            </a:pPr>
            <a:r>
              <a:t/>
            </a:r>
            <a:endParaRPr sz="1800">
              <a:solidFill>
                <a:schemeClr val="dk1"/>
              </a:solidFill>
            </a:endParaRPr>
          </a:p>
        </p:txBody>
      </p:sp>
      <p:sp>
        <p:nvSpPr>
          <p:cNvPr id="157" name="Google Shape;157;p6"/>
          <p:cNvSpPr txBox="1"/>
          <p:nvPr/>
        </p:nvSpPr>
        <p:spPr>
          <a:xfrm>
            <a:off x="7981500" y="2194450"/>
            <a:ext cx="31089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US" sz="1100">
                <a:solidFill>
                  <a:schemeClr val="dk1"/>
                </a:solidFill>
              </a:rPr>
              <a:t>Dept. Administrator</a:t>
            </a:r>
            <a:r>
              <a:rPr lang="en-US" sz="1100">
                <a:solidFill>
                  <a:schemeClr val="dk1"/>
                </a:solidFill>
              </a:rPr>
              <a:t>: Michael Rodriguez, 52 · CS Chair</a:t>
            </a:r>
            <a:endParaRPr sz="1100">
              <a:solidFill>
                <a:schemeClr val="dk1"/>
              </a:solidFill>
            </a:endParaRPr>
          </a:p>
          <a:p>
            <a:pPr indent="0" lvl="0" marL="0" rtl="0" algn="l">
              <a:lnSpc>
                <a:spcPct val="110000"/>
              </a:lnSpc>
              <a:spcBef>
                <a:spcPts val="1200"/>
              </a:spcBef>
              <a:spcAft>
                <a:spcPts val="0"/>
              </a:spcAft>
              <a:buNone/>
            </a:pPr>
            <a:r>
              <a:rPr b="1" lang="en-US" sz="1100">
                <a:solidFill>
                  <a:schemeClr val="dk1"/>
                </a:solidFill>
              </a:rPr>
              <a:t>Problem</a:t>
            </a:r>
            <a:endParaRPr b="1" sz="1100">
              <a:solidFill>
                <a:schemeClr val="dk1"/>
              </a:solidFill>
            </a:endParaRPr>
          </a:p>
          <a:p>
            <a:pPr indent="-298450" lvl="0" marL="457200" rtl="0" algn="l">
              <a:lnSpc>
                <a:spcPct val="110000"/>
              </a:lnSpc>
              <a:spcBef>
                <a:spcPts val="1200"/>
              </a:spcBef>
              <a:spcAft>
                <a:spcPts val="0"/>
              </a:spcAft>
              <a:buClr>
                <a:schemeClr val="dk1"/>
              </a:buClr>
              <a:buSzPts val="1100"/>
              <a:buChar char="●"/>
            </a:pPr>
            <a:r>
              <a:rPr lang="en-US" sz="1100">
                <a:solidFill>
                  <a:schemeClr val="dk1"/>
                </a:solidFill>
              </a:rPr>
              <a:t>Little visibility into which prereqs cause delays</a:t>
            </a:r>
            <a:endParaRPr sz="1100">
              <a:solidFill>
                <a:schemeClr val="dk1"/>
              </a:solidFill>
            </a:endParaRPr>
          </a:p>
          <a:p>
            <a:pPr indent="-298450" lvl="0" marL="457200" rtl="0" algn="l">
              <a:lnSpc>
                <a:spcPct val="110000"/>
              </a:lnSpc>
              <a:spcBef>
                <a:spcPts val="0"/>
              </a:spcBef>
              <a:spcAft>
                <a:spcPts val="0"/>
              </a:spcAft>
              <a:buClr>
                <a:schemeClr val="dk1"/>
              </a:buClr>
              <a:buSzPts val="1100"/>
              <a:buChar char="●"/>
            </a:pPr>
            <a:r>
              <a:rPr lang="en-US" sz="1100">
                <a:solidFill>
                  <a:schemeClr val="dk1"/>
                </a:solidFill>
              </a:rPr>
              <a:t>Relies on manual progress reviews</a:t>
            </a:r>
            <a:endParaRPr sz="1100">
              <a:solidFill>
                <a:schemeClr val="dk1"/>
              </a:solidFill>
            </a:endParaRPr>
          </a:p>
          <a:p>
            <a:pPr indent="0" lvl="0" marL="0" rtl="0" algn="l">
              <a:lnSpc>
                <a:spcPct val="110000"/>
              </a:lnSpc>
              <a:spcBef>
                <a:spcPts val="1200"/>
              </a:spcBef>
              <a:spcAft>
                <a:spcPts val="0"/>
              </a:spcAft>
              <a:buNone/>
            </a:pPr>
            <a:r>
              <a:rPr b="1" lang="en-US" sz="1100">
                <a:solidFill>
                  <a:schemeClr val="dk1"/>
                </a:solidFill>
              </a:rPr>
              <a:t>Goals</a:t>
            </a:r>
            <a:endParaRPr b="1" sz="1100">
              <a:solidFill>
                <a:schemeClr val="dk1"/>
              </a:solidFill>
            </a:endParaRPr>
          </a:p>
          <a:p>
            <a:pPr indent="-298450" lvl="0" marL="457200" rtl="0" algn="l">
              <a:lnSpc>
                <a:spcPct val="110000"/>
              </a:lnSpc>
              <a:spcBef>
                <a:spcPts val="1200"/>
              </a:spcBef>
              <a:spcAft>
                <a:spcPts val="0"/>
              </a:spcAft>
              <a:buClr>
                <a:schemeClr val="dk1"/>
              </a:buClr>
              <a:buSzPts val="1100"/>
              <a:buChar char="●"/>
            </a:pPr>
            <a:r>
              <a:rPr lang="en-US" sz="1100">
                <a:solidFill>
                  <a:schemeClr val="dk1"/>
                </a:solidFill>
              </a:rPr>
              <a:t>Spot bottlenecks</a:t>
            </a:r>
            <a:endParaRPr sz="1100">
              <a:solidFill>
                <a:schemeClr val="dk1"/>
              </a:solidFill>
            </a:endParaRPr>
          </a:p>
          <a:p>
            <a:pPr indent="-298450" lvl="0" marL="457200" rtl="0" algn="l">
              <a:lnSpc>
                <a:spcPct val="110000"/>
              </a:lnSpc>
              <a:spcBef>
                <a:spcPts val="0"/>
              </a:spcBef>
              <a:spcAft>
                <a:spcPts val="0"/>
              </a:spcAft>
              <a:buClr>
                <a:schemeClr val="dk1"/>
              </a:buClr>
              <a:buSzPts val="1100"/>
              <a:buChar char="●"/>
            </a:pPr>
            <a:r>
              <a:rPr lang="en-US" sz="1100">
                <a:solidFill>
                  <a:schemeClr val="dk1"/>
                </a:solidFill>
              </a:rPr>
              <a:t>Track student progression</a:t>
            </a:r>
            <a:endParaRPr sz="1100">
              <a:solidFill>
                <a:schemeClr val="dk1"/>
              </a:solidFill>
            </a:endParaRPr>
          </a:p>
          <a:p>
            <a:pPr indent="-298450" lvl="0" marL="457200" rtl="0" algn="l">
              <a:lnSpc>
                <a:spcPct val="110000"/>
              </a:lnSpc>
              <a:spcBef>
                <a:spcPts val="0"/>
              </a:spcBef>
              <a:spcAft>
                <a:spcPts val="0"/>
              </a:spcAft>
              <a:buClr>
                <a:schemeClr val="dk1"/>
              </a:buClr>
              <a:buSzPts val="1100"/>
              <a:buChar char="●"/>
            </a:pPr>
            <a:r>
              <a:rPr lang="en-US" sz="1100">
                <a:solidFill>
                  <a:schemeClr val="dk1"/>
                </a:solidFill>
              </a:rPr>
              <a:t>Support data-driven decisions</a:t>
            </a:r>
            <a:endParaRPr sz="1100">
              <a:solidFill>
                <a:schemeClr val="dk1"/>
              </a:solidFill>
            </a:endParaRPr>
          </a:p>
          <a:p>
            <a:pPr indent="-298450" lvl="0" marL="457200" rtl="0" algn="l">
              <a:lnSpc>
                <a:spcPct val="110000"/>
              </a:lnSpc>
              <a:spcBef>
                <a:spcPts val="0"/>
              </a:spcBef>
              <a:spcAft>
                <a:spcPts val="0"/>
              </a:spcAft>
              <a:buClr>
                <a:schemeClr val="dk1"/>
              </a:buClr>
              <a:buSzPts val="1100"/>
              <a:buChar char="●"/>
            </a:pPr>
            <a:r>
              <a:rPr lang="en-US" sz="1100">
                <a:solidFill>
                  <a:schemeClr val="dk1"/>
                </a:solidFill>
              </a:rPr>
              <a:t>Raise grad rates</a:t>
            </a:r>
            <a:endParaRPr sz="1100">
              <a:solidFill>
                <a:schemeClr val="dk1"/>
              </a:solidFill>
            </a:endParaRPr>
          </a:p>
          <a:p>
            <a:pPr indent="0" lvl="0" marL="0" rtl="0" algn="l">
              <a:lnSpc>
                <a:spcPct val="110000"/>
              </a:lnSpc>
              <a:spcBef>
                <a:spcPts val="1200"/>
              </a:spcBef>
              <a:spcAft>
                <a:spcPts val="0"/>
              </a:spcAft>
              <a:buNone/>
            </a:pPr>
            <a:r>
              <a:rPr b="1" lang="en-US" sz="1100">
                <a:solidFill>
                  <a:schemeClr val="dk1"/>
                </a:solidFill>
              </a:rPr>
              <a:t>How IAPO Helps</a:t>
            </a:r>
            <a:endParaRPr b="1" sz="1100">
              <a:solidFill>
                <a:schemeClr val="dk1"/>
              </a:solidFill>
            </a:endParaRPr>
          </a:p>
          <a:p>
            <a:pPr indent="-298450" lvl="0" marL="457200" rtl="0" algn="l">
              <a:lnSpc>
                <a:spcPct val="110000"/>
              </a:lnSpc>
              <a:spcBef>
                <a:spcPts val="1200"/>
              </a:spcBef>
              <a:spcAft>
                <a:spcPts val="0"/>
              </a:spcAft>
              <a:buClr>
                <a:schemeClr val="dk1"/>
              </a:buClr>
              <a:buSzPts val="1100"/>
              <a:buChar char="●"/>
            </a:pPr>
            <a:r>
              <a:rPr lang="en-US" sz="1100">
                <a:solidFill>
                  <a:schemeClr val="dk1"/>
                </a:solidFill>
              </a:rPr>
              <a:t>Surfaces bottlenecks from degree plans to guide curriculum planning</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b="1" sz="1100">
              <a:solidFill>
                <a:schemeClr val="dk1"/>
              </a:solidFill>
            </a:endParaRPr>
          </a:p>
          <a:p>
            <a:pPr indent="0" lvl="0" marL="0" rtl="0" algn="l">
              <a:spcBef>
                <a:spcPts val="1200"/>
              </a:spcBef>
              <a:spcAft>
                <a:spcPts val="0"/>
              </a:spcAft>
              <a:buNone/>
            </a:pPr>
            <a:r>
              <a:t/>
            </a:r>
            <a:endParaRPr sz="1800">
              <a:solidFill>
                <a:schemeClr val="dk1"/>
              </a:solidFill>
            </a:endParaRPr>
          </a:p>
        </p:txBody>
      </p:sp>
      <p:cxnSp>
        <p:nvCxnSpPr>
          <p:cNvPr id="158" name="Google Shape;158;p6"/>
          <p:cNvCxnSpPr/>
          <p:nvPr/>
        </p:nvCxnSpPr>
        <p:spPr>
          <a:xfrm>
            <a:off x="3755850" y="2344075"/>
            <a:ext cx="0" cy="3713100"/>
          </a:xfrm>
          <a:prstGeom prst="straightConnector1">
            <a:avLst/>
          </a:prstGeom>
          <a:noFill/>
          <a:ln cap="flat" cmpd="sng" w="9525">
            <a:solidFill>
              <a:srgbClr val="B7B7B7"/>
            </a:solidFill>
            <a:prstDash val="solid"/>
            <a:round/>
            <a:headEnd len="med" w="med" type="none"/>
            <a:tailEnd len="med" w="med" type="none"/>
          </a:ln>
        </p:spPr>
      </p:cxnSp>
      <p:cxnSp>
        <p:nvCxnSpPr>
          <p:cNvPr id="159" name="Google Shape;159;p6"/>
          <p:cNvCxnSpPr/>
          <p:nvPr/>
        </p:nvCxnSpPr>
        <p:spPr>
          <a:xfrm>
            <a:off x="7510450" y="2288650"/>
            <a:ext cx="0" cy="3713100"/>
          </a:xfrm>
          <a:prstGeom prst="straightConnector1">
            <a:avLst/>
          </a:prstGeom>
          <a:noFill/>
          <a:ln cap="flat" cmpd="sng" w="9525">
            <a:solidFill>
              <a:srgbClr val="B7B7B7"/>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7"/>
          <p:cNvSpPr txBox="1"/>
          <p:nvPr>
            <p:ph type="title"/>
          </p:nvPr>
        </p:nvSpPr>
        <p:spPr>
          <a:xfrm>
            <a:off x="436721" y="705783"/>
            <a:ext cx="11155800" cy="6579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100000"/>
              </a:lnSpc>
              <a:spcBef>
                <a:spcPts val="0"/>
              </a:spcBef>
              <a:spcAft>
                <a:spcPts val="0"/>
              </a:spcAft>
              <a:buClr>
                <a:schemeClr val="dk1"/>
              </a:buClr>
              <a:buSzPct val="100000"/>
              <a:buFont typeface="Arial"/>
              <a:buNone/>
            </a:pPr>
            <a:r>
              <a:rPr lang="en-US"/>
              <a:t>Sprint Schedule</a:t>
            </a:r>
            <a:endParaRPr/>
          </a:p>
        </p:txBody>
      </p:sp>
      <p:graphicFrame>
        <p:nvGraphicFramePr>
          <p:cNvPr id="165" name="Google Shape;165;p7"/>
          <p:cNvGraphicFramePr/>
          <p:nvPr/>
        </p:nvGraphicFramePr>
        <p:xfrm>
          <a:off x="364160" y="1363670"/>
          <a:ext cx="3000000" cy="3000000"/>
        </p:xfrm>
        <a:graphic>
          <a:graphicData uri="http://schemas.openxmlformats.org/drawingml/2006/table">
            <a:tbl>
              <a:tblPr>
                <a:noFill/>
                <a:tableStyleId>{5A5AA019-4260-48F8-A88A-3F80767368B4}</a:tableStyleId>
              </a:tblPr>
              <a:tblGrid>
                <a:gridCol w="2441700"/>
                <a:gridCol w="1084150"/>
                <a:gridCol w="1810050"/>
                <a:gridCol w="1084150"/>
                <a:gridCol w="1602650"/>
                <a:gridCol w="3441000"/>
              </a:tblGrid>
              <a:tr h="180675">
                <a:tc>
                  <a:txBody>
                    <a:bodyPr/>
                    <a:lstStyle/>
                    <a:p>
                      <a:pPr indent="0" lvl="0" marL="0" marR="0" rtl="0" algn="l">
                        <a:spcBef>
                          <a:spcPts val="0"/>
                        </a:spcBef>
                        <a:spcAft>
                          <a:spcPts val="0"/>
                        </a:spcAft>
                        <a:buClr>
                          <a:srgbClr val="000000"/>
                        </a:buClr>
                        <a:buSzPts val="1000"/>
                        <a:buFont typeface="Arial"/>
                        <a:buNone/>
                      </a:pPr>
                      <a:r>
                        <a:rPr b="1" i="0" lang="en-US" sz="1000" u="none" cap="none" strike="noStrike">
                          <a:solidFill>
                            <a:srgbClr val="000000"/>
                          </a:solidFill>
                          <a:latin typeface="Arial"/>
                          <a:ea typeface="Arial"/>
                          <a:cs typeface="Arial"/>
                          <a:sym typeface="Arial"/>
                        </a:rPr>
                        <a:t>Sprint 0 May 21 - June 14</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29050">
                <a:tc>
                  <a:txBody>
                    <a:bodyPr/>
                    <a:lstStyle/>
                    <a:p>
                      <a:pPr indent="0" lvl="0" marL="0" marR="0" rtl="0" algn="l">
                        <a:spcBef>
                          <a:spcPts val="0"/>
                        </a:spcBef>
                        <a:spcAft>
                          <a:spcPts val="0"/>
                        </a:spcAft>
                        <a:buClr>
                          <a:srgbClr val="000000"/>
                        </a:buClr>
                        <a:buSzPts val="1000"/>
                        <a:buFont typeface="Arial"/>
                        <a:buNone/>
                      </a:pPr>
                      <a:r>
                        <a:rPr b="1" i="0" lang="en-US" sz="1000" u="none" cap="none" strike="noStrike">
                          <a:solidFill>
                            <a:srgbClr val="000000"/>
                          </a:solidFill>
                          <a:latin typeface="Arial"/>
                          <a:ea typeface="Arial"/>
                          <a:cs typeface="Arial"/>
                          <a:sym typeface="Arial"/>
                        </a:rPr>
                        <a:t>Name</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Assigned To</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Status</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Priority</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Estimation (days)</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Notes</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80675">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Minimum Viable Product Defined</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Charles/Tara</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Complete</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FF00"/>
                    </a:solidFill>
                  </a:tcPr>
                </a:tc>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High</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0000"/>
                    </a:solidFill>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80675">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Create User Personas</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Bella/Andeen</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In Progress</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00"/>
                    </a:solidFill>
                  </a:tcPr>
                </a:tc>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High</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0000"/>
                    </a:solidFill>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80675">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Create Team Roles</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Team</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Scheduled – meeting</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Scheduled for June 9 meeting</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80675">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Establish Weekly Meetings</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Team</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Scheduled – meeting</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Scheduled for June 9 meeting</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80675">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Set up Github and Wikipage</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Charles</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Complete</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FF00"/>
                    </a:solidFill>
                  </a:tcPr>
                </a:tc>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High</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0000"/>
                    </a:solidFill>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4425">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Deliverable 1 - Put Together in PPT &amp; video</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James</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Scheduled</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4425">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Create Schedule</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Arial"/>
                        <a:buNone/>
                      </a:pPr>
                      <a:r>
                        <a:rPr lang="en-US" sz="1000"/>
                        <a:t>Younes</a:t>
                      </a:r>
                      <a:r>
                        <a:rPr b="0" i="0" lang="en-US" sz="1000" u="none" cap="none" strike="noStrike">
                          <a:solidFill>
                            <a:srgbClr val="000000"/>
                          </a:solidFill>
                          <a:latin typeface="Arial"/>
                          <a:ea typeface="Arial"/>
                          <a:cs typeface="Arial"/>
                          <a:sym typeface="Arial"/>
                        </a:rPr>
                        <a:t>/James</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Complete</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FF00"/>
                    </a:solidFill>
                  </a:tcPr>
                </a:tc>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High</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0000"/>
                    </a:solidFill>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80675">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Create User Stories</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Team</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Use extra time to work ahead before end of sprint 0</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80675">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80675">
                <a:tc>
                  <a:txBody>
                    <a:bodyPr/>
                    <a:lstStyle/>
                    <a:p>
                      <a:pPr indent="0" lvl="0" marL="0" marR="0" rtl="0" algn="l">
                        <a:spcBef>
                          <a:spcPts val="0"/>
                        </a:spcBef>
                        <a:spcAft>
                          <a:spcPts val="0"/>
                        </a:spcAft>
                        <a:buClr>
                          <a:srgbClr val="000000"/>
                        </a:buClr>
                        <a:buSzPts val="1000"/>
                        <a:buFont typeface="Arial"/>
                        <a:buNone/>
                      </a:pPr>
                      <a:r>
                        <a:rPr b="1" i="0" lang="en-US" sz="1000" u="none" cap="none" strike="noStrike">
                          <a:solidFill>
                            <a:srgbClr val="000000"/>
                          </a:solidFill>
                          <a:latin typeface="Arial"/>
                          <a:ea typeface="Arial"/>
                          <a:cs typeface="Arial"/>
                          <a:sym typeface="Arial"/>
                        </a:rPr>
                        <a:t>Sprint 1 June 14 - July 13</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29050">
                <a:tc>
                  <a:txBody>
                    <a:bodyPr/>
                    <a:lstStyle/>
                    <a:p>
                      <a:pPr indent="0" lvl="0" marL="0" marR="0" rtl="0" algn="l">
                        <a:spcBef>
                          <a:spcPts val="0"/>
                        </a:spcBef>
                        <a:spcAft>
                          <a:spcPts val="0"/>
                        </a:spcAft>
                        <a:buClr>
                          <a:srgbClr val="000000"/>
                        </a:buClr>
                        <a:buSzPts val="1000"/>
                        <a:buFont typeface="Arial"/>
                        <a:buNone/>
                      </a:pPr>
                      <a:r>
                        <a:rPr b="1" i="0" lang="en-US" sz="1000" u="none" cap="none" strike="noStrike">
                          <a:solidFill>
                            <a:srgbClr val="000000"/>
                          </a:solidFill>
                          <a:latin typeface="Arial"/>
                          <a:ea typeface="Arial"/>
                          <a:cs typeface="Arial"/>
                          <a:sym typeface="Arial"/>
                        </a:rPr>
                        <a:t>Name</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Assigned To</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Status</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Priority</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Estimation (days)</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Notes</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80675">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Design App</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Frontend</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80675">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Create Homepage</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Frontend</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80675">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Setup Email JS</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Frontend</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Need backend coordination</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80675">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Stylize Website</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Frontend</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80675">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Deploy to Webserver</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Frontend</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80675">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Create python webserver</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Backend</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80675">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Connect to AWS S3</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Backend</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80675">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Implement User Account Creation</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Backend</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80675">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Set up AI integration</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Backend</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4425">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Create Agile Board</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SCRUM Master</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 </a:t>
                      </a:r>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4425">
                <a:tc>
                  <a:txBody>
                    <a:bodyPr/>
                    <a:lstStyle/>
                    <a:p>
                      <a:pPr indent="0" lvl="0" marL="0" marR="0" rtl="0" algn="l">
                        <a:spcBef>
                          <a:spcPts val="0"/>
                        </a:spcBef>
                        <a:spcAft>
                          <a:spcPts val="0"/>
                        </a:spcAft>
                        <a:buNone/>
                      </a:pPr>
                      <a:r>
                        <a:rPr lang="en-US" sz="1000"/>
                        <a:t>Sprint 1 Deliverable</a:t>
                      </a:r>
                      <a:endParaRPr b="0" i="0" sz="1000" u="none" cap="none" strike="noStrike">
                        <a:solidFill>
                          <a:srgbClr val="000000"/>
                        </a:solidFill>
                        <a:latin typeface="Arial"/>
                        <a:ea typeface="Arial"/>
                        <a:cs typeface="Arial"/>
                        <a:sym typeface="Arial"/>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rPr lang="en-US" sz="1000"/>
                        <a:t>Team</a:t>
                      </a:r>
                      <a:endParaRPr b="0" i="0" sz="1000" u="none" cap="none" strike="noStrike">
                        <a:solidFill>
                          <a:srgbClr val="000000"/>
                        </a:solidFill>
                        <a:latin typeface="Arial"/>
                        <a:ea typeface="Arial"/>
                        <a:cs typeface="Arial"/>
                        <a:sym typeface="Arial"/>
                      </a:endParaRPr>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000" u="none" cap="none" strike="noStrike"/>
                    </a:p>
                  </a:txBody>
                  <a:tcPr marT="5375" marB="5375" marR="5375" marL="53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166" name="Google Shape;166;p7"/>
          <p:cNvSpPr/>
          <p:nvPr/>
        </p:nvSpPr>
        <p:spPr>
          <a:xfrm>
            <a:off x="2828925" y="2516188"/>
            <a:ext cx="12192000" cy="4572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7" name="Google Shape;167;p7"/>
          <p:cNvSpPr/>
          <p:nvPr/>
        </p:nvSpPr>
        <p:spPr>
          <a:xfrm>
            <a:off x="282735" y="6372512"/>
            <a:ext cx="12192000" cy="4572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aphicFrame>
        <p:nvGraphicFramePr>
          <p:cNvPr id="168" name="Google Shape;168;p7"/>
          <p:cNvGraphicFramePr/>
          <p:nvPr/>
        </p:nvGraphicFramePr>
        <p:xfrm>
          <a:off x="364172" y="5990875"/>
          <a:ext cx="3000000" cy="3000000"/>
        </p:xfrm>
        <a:graphic>
          <a:graphicData uri="http://schemas.openxmlformats.org/drawingml/2006/table">
            <a:tbl>
              <a:tblPr>
                <a:noFill/>
                <a:tableStyleId>{5A5AA019-4260-48F8-A88A-3F80767368B4}</a:tableStyleId>
              </a:tblPr>
              <a:tblGrid>
                <a:gridCol w="2440225"/>
                <a:gridCol w="1084550"/>
                <a:gridCol w="1811200"/>
                <a:gridCol w="1084550"/>
                <a:gridCol w="1605125"/>
                <a:gridCol w="3438025"/>
              </a:tblGrid>
              <a:tr h="200025">
                <a:tc>
                  <a:txBody>
                    <a:bodyPr/>
                    <a:lstStyle/>
                    <a:p>
                      <a:pPr indent="0" lvl="0" marL="0" marR="0" rtl="0" algn="l">
                        <a:spcBef>
                          <a:spcPts val="0"/>
                        </a:spcBef>
                        <a:spcAft>
                          <a:spcPts val="0"/>
                        </a:spcAft>
                        <a:buClr>
                          <a:schemeClr val="dk1"/>
                        </a:buClr>
                        <a:buSzPts val="1000"/>
                        <a:buFont typeface="Arial"/>
                        <a:buNone/>
                      </a:pPr>
                      <a:r>
                        <a:rPr b="1" lang="en-US" sz="1000" u="none" cap="none" strike="noStrike"/>
                        <a:t>Sprint 2 July 14 - Aug 12</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spcBef>
                          <a:spcPts val="0"/>
                        </a:spcBef>
                        <a:spcAft>
                          <a:spcPts val="0"/>
                        </a:spcAft>
                        <a:buClr>
                          <a:schemeClr val="dk1"/>
                        </a:buClr>
                        <a:buSzPts val="1000"/>
                        <a:buFont typeface="Arial"/>
                        <a:buNone/>
                      </a:pPr>
                      <a:r>
                        <a:rPr b="1" lang="en-US" sz="1000" u="none" cap="none" strike="noStrike"/>
                        <a:t>Name</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Assigned To</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Status</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Priority</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Estimation (days)</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Notes</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spcBef>
                          <a:spcPts val="0"/>
                        </a:spcBef>
                        <a:spcAft>
                          <a:spcPts val="0"/>
                        </a:spcAft>
                        <a:buClr>
                          <a:schemeClr val="dk1"/>
                        </a:buClr>
                        <a:buSzPts val="1000"/>
                        <a:buFont typeface="Arial"/>
                        <a:buNone/>
                      </a:pPr>
                      <a:r>
                        <a:rPr lang="en-US" sz="1000" u="none" cap="none" strike="noStrike"/>
                        <a:t>Connect Frontend to Backend</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spcBef>
                          <a:spcPts val="0"/>
                        </a:spcBef>
                        <a:spcAft>
                          <a:spcPts val="0"/>
                        </a:spcAft>
                        <a:buClr>
                          <a:schemeClr val="dk1"/>
                        </a:buClr>
                        <a:buSzPts val="1000"/>
                        <a:buFont typeface="Arial"/>
                        <a:buNone/>
                      </a:pPr>
                      <a:r>
                        <a:rPr lang="en-US" sz="1000" u="none" cap="none" strike="noStrike"/>
                        <a:t>Anything left over</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000"/>
                        <a:buFont typeface="Arial"/>
                        <a:buNone/>
                      </a:pPr>
                      <a:r>
                        <a:rPr lang="en-US" sz="1000" u="none" cap="none" strike="noStrike"/>
                        <a:t>General Placeholder</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8"/>
          <p:cNvSpPr txBox="1"/>
          <p:nvPr>
            <p:ph type="title"/>
          </p:nvPr>
        </p:nvSpPr>
        <p:spPr>
          <a:xfrm>
            <a:off x="521208" y="978408"/>
            <a:ext cx="11155680" cy="763765"/>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Arial"/>
              <a:buNone/>
            </a:pPr>
            <a:r>
              <a:rPr lang="en-US"/>
              <a:t>Retrospective</a:t>
            </a:r>
            <a:endParaRPr/>
          </a:p>
        </p:txBody>
      </p:sp>
      <p:sp>
        <p:nvSpPr>
          <p:cNvPr id="174" name="Google Shape;174;p8"/>
          <p:cNvSpPr txBox="1"/>
          <p:nvPr>
            <p:ph idx="1" type="body"/>
          </p:nvPr>
        </p:nvSpPr>
        <p:spPr>
          <a:xfrm>
            <a:off x="521208" y="2358189"/>
            <a:ext cx="3794760" cy="3987747"/>
          </a:xfrm>
          <a:prstGeom prst="rect">
            <a:avLst/>
          </a:prstGeom>
          <a:noFill/>
          <a:ln>
            <a:noFill/>
          </a:ln>
        </p:spPr>
        <p:txBody>
          <a:bodyPr anchorCtr="0" anchor="t" bIns="45700" lIns="91425" spcFirstLastPara="1" rIns="91425" wrap="square" tIns="45700">
            <a:normAutofit/>
          </a:bodyPr>
          <a:lstStyle/>
          <a:p>
            <a:pPr indent="-228600" lvl="0" marL="228600" rtl="0" algn="l">
              <a:lnSpc>
                <a:spcPct val="110000"/>
              </a:lnSpc>
              <a:spcBef>
                <a:spcPts val="0"/>
              </a:spcBef>
              <a:spcAft>
                <a:spcPts val="0"/>
              </a:spcAft>
              <a:buClr>
                <a:schemeClr val="dk1"/>
              </a:buClr>
              <a:buSzPts val="1800"/>
              <a:buChar char="•"/>
            </a:pPr>
            <a:r>
              <a:rPr lang="en-US"/>
              <a:t>Tasks/Stories complete:</a:t>
            </a:r>
            <a:endParaRPr/>
          </a:p>
          <a:p>
            <a:pPr indent="-228600" lvl="1" marL="685800" rtl="0" algn="l">
              <a:lnSpc>
                <a:spcPct val="110000"/>
              </a:lnSpc>
              <a:spcBef>
                <a:spcPts val="500"/>
              </a:spcBef>
              <a:spcAft>
                <a:spcPts val="0"/>
              </a:spcAft>
              <a:buClr>
                <a:schemeClr val="dk1"/>
              </a:buClr>
              <a:buSzPts val="1600"/>
              <a:buChar char="•"/>
            </a:pPr>
            <a:r>
              <a:rPr lang="en-US"/>
              <a:t>MVP defined</a:t>
            </a:r>
            <a:endParaRPr/>
          </a:p>
          <a:p>
            <a:pPr indent="-228600" lvl="1" marL="685800" rtl="0" algn="l">
              <a:lnSpc>
                <a:spcPct val="110000"/>
              </a:lnSpc>
              <a:spcBef>
                <a:spcPts val="500"/>
              </a:spcBef>
              <a:spcAft>
                <a:spcPts val="0"/>
              </a:spcAft>
              <a:buClr>
                <a:schemeClr val="dk1"/>
              </a:buClr>
              <a:buSzPts val="1600"/>
              <a:buChar char="•"/>
            </a:pPr>
            <a:r>
              <a:rPr lang="en-US"/>
              <a:t>Create User Personas</a:t>
            </a:r>
            <a:endParaRPr/>
          </a:p>
          <a:p>
            <a:pPr indent="-228600" lvl="1" marL="685800" rtl="0" algn="l">
              <a:lnSpc>
                <a:spcPct val="110000"/>
              </a:lnSpc>
              <a:spcBef>
                <a:spcPts val="500"/>
              </a:spcBef>
              <a:spcAft>
                <a:spcPts val="0"/>
              </a:spcAft>
              <a:buClr>
                <a:schemeClr val="dk1"/>
              </a:buClr>
              <a:buSzPts val="1600"/>
              <a:buChar char="•"/>
            </a:pPr>
            <a:r>
              <a:rPr lang="en-US"/>
              <a:t>Create Team Roles</a:t>
            </a:r>
            <a:endParaRPr/>
          </a:p>
          <a:p>
            <a:pPr indent="-228600" lvl="1" marL="685800" rtl="0" algn="l">
              <a:lnSpc>
                <a:spcPct val="110000"/>
              </a:lnSpc>
              <a:spcBef>
                <a:spcPts val="500"/>
              </a:spcBef>
              <a:spcAft>
                <a:spcPts val="0"/>
              </a:spcAft>
              <a:buClr>
                <a:schemeClr val="dk1"/>
              </a:buClr>
              <a:buSzPts val="1600"/>
              <a:buChar char="•"/>
            </a:pPr>
            <a:r>
              <a:rPr lang="en-US"/>
              <a:t>Establish Weekly Meetings</a:t>
            </a:r>
            <a:endParaRPr/>
          </a:p>
          <a:p>
            <a:pPr indent="-228600" lvl="1" marL="685800" rtl="0" algn="l">
              <a:lnSpc>
                <a:spcPct val="110000"/>
              </a:lnSpc>
              <a:spcBef>
                <a:spcPts val="500"/>
              </a:spcBef>
              <a:spcAft>
                <a:spcPts val="0"/>
              </a:spcAft>
              <a:buClr>
                <a:schemeClr val="dk1"/>
              </a:buClr>
              <a:buSzPts val="1600"/>
              <a:buChar char="•"/>
            </a:pPr>
            <a:r>
              <a:rPr lang="en-US"/>
              <a:t>Set Up Github and Wikipage</a:t>
            </a:r>
            <a:endParaRPr/>
          </a:p>
          <a:p>
            <a:pPr indent="-228600" lvl="1" marL="685800" rtl="0" algn="l">
              <a:lnSpc>
                <a:spcPct val="110000"/>
              </a:lnSpc>
              <a:spcBef>
                <a:spcPts val="500"/>
              </a:spcBef>
              <a:spcAft>
                <a:spcPts val="0"/>
              </a:spcAft>
              <a:buClr>
                <a:schemeClr val="dk1"/>
              </a:buClr>
              <a:buSzPts val="1600"/>
              <a:buChar char="•"/>
            </a:pPr>
            <a:r>
              <a:rPr lang="en-US"/>
              <a:t>Create Schedule</a:t>
            </a:r>
            <a:endParaRPr/>
          </a:p>
        </p:txBody>
      </p:sp>
      <p:sp>
        <p:nvSpPr>
          <p:cNvPr id="175" name="Google Shape;175;p8"/>
          <p:cNvSpPr txBox="1"/>
          <p:nvPr/>
        </p:nvSpPr>
        <p:spPr>
          <a:xfrm>
            <a:off x="3897590" y="2358188"/>
            <a:ext cx="3794760" cy="3987747"/>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Tasks/Stories incomplete:</a:t>
            </a:r>
            <a:endParaRPr/>
          </a:p>
          <a:p>
            <a:pPr indent="-228600" lvl="1" marL="685800" marR="0" rtl="0" algn="l">
              <a:lnSpc>
                <a:spcPct val="110000"/>
              </a:lnSpc>
              <a:spcBef>
                <a:spcPts val="50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Final video edited/uploaded – James (can’t be done until this meeting concludes)</a:t>
            </a:r>
            <a:endParaRPr/>
          </a:p>
          <a:p>
            <a:pPr indent="-228600" lvl="1" marL="685800" marR="0" rtl="0" algn="l">
              <a:lnSpc>
                <a:spcPct val="110000"/>
              </a:lnSpc>
              <a:spcBef>
                <a:spcPts val="50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Create User stories – Using extra time from June 9 – 14 to generate these before Sprint 1</a:t>
            </a:r>
            <a:endParaRPr/>
          </a:p>
        </p:txBody>
      </p:sp>
      <p:sp>
        <p:nvSpPr>
          <p:cNvPr id="176" name="Google Shape;176;p8"/>
          <p:cNvSpPr txBox="1"/>
          <p:nvPr/>
        </p:nvSpPr>
        <p:spPr>
          <a:xfrm>
            <a:off x="7876032" y="2358188"/>
            <a:ext cx="3794760" cy="3987747"/>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Metrics</a:t>
            </a:r>
            <a:endParaRPr/>
          </a:p>
          <a:p>
            <a:pPr indent="-228600" lvl="1" marL="685800" marR="0" rtl="0" algn="l">
              <a:lnSpc>
                <a:spcPct val="110000"/>
              </a:lnSpc>
              <a:spcBef>
                <a:spcPts val="50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6/8 tasks complete</a:t>
            </a:r>
            <a:endParaRPr/>
          </a:p>
          <a:p>
            <a:pPr indent="-228600" lvl="1" marL="685800" marR="0" rtl="0" algn="l">
              <a:lnSpc>
                <a:spcPct val="110000"/>
              </a:lnSpc>
              <a:spcBef>
                <a:spcPts val="50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Final video can’t be complete until after meeting.</a:t>
            </a:r>
            <a:endParaRPr/>
          </a:p>
          <a:p>
            <a:pPr indent="-228600" lvl="1" marL="685800" marR="0" rtl="0" algn="l">
              <a:lnSpc>
                <a:spcPct val="110000"/>
              </a:lnSpc>
              <a:spcBef>
                <a:spcPts val="50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Extra time in Sprint 0 to get a head start on Sprint 1 User Stories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9"/>
          <p:cNvSpPr txBox="1"/>
          <p:nvPr>
            <p:ph type="title"/>
          </p:nvPr>
        </p:nvSpPr>
        <p:spPr>
          <a:xfrm>
            <a:off x="518160" y="2697480"/>
            <a:ext cx="11155680" cy="146304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Arial"/>
              <a:buNone/>
            </a:pPr>
            <a:r>
              <a:rPr lang="en-US"/>
              <a:t>What went well?</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0"/>
          <p:cNvSpPr txBox="1"/>
          <p:nvPr>
            <p:ph type="title"/>
          </p:nvPr>
        </p:nvSpPr>
        <p:spPr>
          <a:xfrm>
            <a:off x="438912" y="2697480"/>
            <a:ext cx="11155680" cy="146304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Arial"/>
              <a:buNone/>
            </a:pPr>
            <a:r>
              <a:rPr lang="en-US"/>
              <a:t>What needs improvement?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GestaltVTI">
  <a:themeElements>
    <a:clrScheme name="Gestalt">
      <a:dk1>
        <a:srgbClr val="000000"/>
      </a:dk1>
      <a:lt1>
        <a:srgbClr val="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