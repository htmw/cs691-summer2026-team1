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Montserrat"/>
      <p:regular r:id="rId24"/>
      <p:bold r:id="rId25"/>
      <p:italic r:id="rId26"/>
      <p:boldItalic r:id="rId27"/>
    </p:embeddedFont>
    <p:embeddedFont>
      <p:font typeface="Lato"/>
      <p:regular r:id="rId28"/>
      <p:bold r:id="rId29"/>
      <p:italic r:id="rId30"/>
      <p:boldItalic r:id="rId31"/>
    </p:embeddedFont>
    <p:embeddedFont>
      <p:font typeface="Montserrat ExtraBold"/>
      <p:bold r:id="rId32"/>
      <p:boldItalic r:id="rId33"/>
    </p:embeddedFont>
    <p:embeddedFont>
      <p:font typeface="Roboto Mon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Montserrat-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italic.fntdata"/><Relationship Id="rId25" Type="http://schemas.openxmlformats.org/officeDocument/2006/relationships/font" Target="fonts/Montserrat-bold.fntdata"/><Relationship Id="rId28" Type="http://schemas.openxmlformats.org/officeDocument/2006/relationships/font" Target="fonts/Lato-regular.fntdata"/><Relationship Id="rId27" Type="http://schemas.openxmlformats.org/officeDocument/2006/relationships/font" Target="fonts/Montserrat-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6.xml"/><Relationship Id="rId33" Type="http://schemas.openxmlformats.org/officeDocument/2006/relationships/font" Target="fonts/MontserratExtraBold-boldItalic.fntdata"/><Relationship Id="rId10" Type="http://schemas.openxmlformats.org/officeDocument/2006/relationships/slide" Target="slides/slide5.xml"/><Relationship Id="rId32" Type="http://schemas.openxmlformats.org/officeDocument/2006/relationships/font" Target="fonts/MontserratExtraBold-bold.fntdata"/><Relationship Id="rId13" Type="http://schemas.openxmlformats.org/officeDocument/2006/relationships/slide" Target="slides/slide8.xml"/><Relationship Id="rId35" Type="http://schemas.openxmlformats.org/officeDocument/2006/relationships/font" Target="fonts/RobotoMono-bold.fntdata"/><Relationship Id="rId12" Type="http://schemas.openxmlformats.org/officeDocument/2006/relationships/slide" Target="slides/slide7.xml"/><Relationship Id="rId34" Type="http://schemas.openxmlformats.org/officeDocument/2006/relationships/font" Target="fonts/RobotoMono-regular.fntdata"/><Relationship Id="rId15" Type="http://schemas.openxmlformats.org/officeDocument/2006/relationships/slide" Target="slides/slide10.xml"/><Relationship Id="rId37" Type="http://schemas.openxmlformats.org/officeDocument/2006/relationships/font" Target="fonts/RobotoMono-boldItalic.fntdata"/><Relationship Id="rId14" Type="http://schemas.openxmlformats.org/officeDocument/2006/relationships/slide" Target="slides/slide9.xml"/><Relationship Id="rId36" Type="http://schemas.openxmlformats.org/officeDocument/2006/relationships/font" Target="fonts/RobotoMono-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c673ce968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ec673ce968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ec673ce968_0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ec673ce968_0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ec673ce968_0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ec673ce968_0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ec673ce968_0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ec673ce968_0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ec673ce968_0_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ec673ce968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c673ce968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ec673ce968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c673ce968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ec673ce968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ec673ce968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ec673ce968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c673ce968_0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ec673ce968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ec673ce968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ec673ce968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c673ce968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ec673ce968_0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c673ce968_0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ec673ce968_0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ec673ce968_0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ec673ce968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ec673ce968_0_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ec673ce968_0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ec673ce968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ec673ce968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ec673ce968_0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ec673ce968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ec673ce968_0_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ec673ce968_0_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github.com/orgs/2026-PaceU-Capstone/projects/2/views/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youtube.com/watch?v=a9u2yZvsqHA" TargetMode="External"/><Relationship Id="rId4" Type="http://schemas.openxmlformats.org/officeDocument/2006/relationships/hyperlink" Target="https://www.youtube.com/watch?v=pJYOG6klqj8"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Sprint 1 Planning &amp; Weekly Meeting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4"/>
          <p:cNvSpPr txBox="1"/>
          <p:nvPr>
            <p:ph type="title"/>
          </p:nvPr>
        </p:nvSpPr>
        <p:spPr>
          <a:xfrm>
            <a:off x="1108750" y="1620125"/>
            <a:ext cx="7038900" cy="1643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i="1" lang="en" sz="2500">
                <a:latin typeface="Montserrat ExtraBold"/>
                <a:ea typeface="Montserrat ExtraBold"/>
                <a:cs typeface="Montserrat ExtraBold"/>
                <a:sym typeface="Montserrat ExtraBold"/>
              </a:rPr>
              <a:t>"If you had an unlimited budget to upgrade exactly one piece of hardware in your current desk setup, what would it be?" </a:t>
            </a:r>
            <a:endParaRPr i="1" sz="3800">
              <a:latin typeface="Montserrat ExtraBold"/>
              <a:ea typeface="Montserrat ExtraBold"/>
              <a:cs typeface="Montserrat ExtraBold"/>
              <a:sym typeface="Montserrat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5"/>
          <p:cNvSpPr txBox="1"/>
          <p:nvPr>
            <p:ph type="title"/>
          </p:nvPr>
        </p:nvSpPr>
        <p:spPr>
          <a:xfrm>
            <a:off x="1297500" y="440925"/>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QA/QC</a:t>
            </a:r>
            <a:endParaRPr/>
          </a:p>
        </p:txBody>
      </p:sp>
      <p:sp>
        <p:nvSpPr>
          <p:cNvPr id="145" name="Google Shape;145;p15"/>
          <p:cNvSpPr txBox="1"/>
          <p:nvPr>
            <p:ph idx="1" type="body"/>
          </p:nvPr>
        </p:nvSpPr>
        <p:spPr>
          <a:xfrm>
            <a:off x="1297500" y="1583275"/>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Need 1-2 people</a:t>
            </a:r>
            <a:endParaRPr/>
          </a:p>
          <a:p>
            <a:pPr indent="0" lvl="0" marL="0" rtl="0" algn="l">
              <a:spcBef>
                <a:spcPts val="1200"/>
              </a:spcBef>
              <a:spcAft>
                <a:spcPts val="0"/>
              </a:spcAft>
              <a:buNone/>
            </a:pPr>
            <a:r>
              <a:rPr lang="en"/>
              <a:t>QA/QC 1 - Charles Varga</a:t>
            </a:r>
            <a:endParaRPr/>
          </a:p>
          <a:p>
            <a:pPr indent="0" lvl="0" marL="0" rtl="0" algn="l">
              <a:spcBef>
                <a:spcPts val="1200"/>
              </a:spcBef>
              <a:spcAft>
                <a:spcPts val="1200"/>
              </a:spcAft>
              <a:buNone/>
            </a:pPr>
            <a:r>
              <a:rPr lang="en"/>
              <a:t>QA/QC 2 - James Simpson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Team Working Agreement</a:t>
            </a:r>
            <a:endParaRPr/>
          </a:p>
        </p:txBody>
      </p:sp>
      <p:sp>
        <p:nvSpPr>
          <p:cNvPr id="151" name="Google Shape;151;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0" lvl="0" marL="0" rtl="0" algn="l">
              <a:lnSpc>
                <a:spcPct val="115833"/>
              </a:lnSpc>
              <a:spcBef>
                <a:spcPts val="0"/>
              </a:spcBef>
              <a:spcAft>
                <a:spcPts val="0"/>
              </a:spcAft>
              <a:buNone/>
            </a:pPr>
            <a:r>
              <a:t/>
            </a:r>
            <a:endParaRPr sz="1200">
              <a:latin typeface="Aptos"/>
              <a:ea typeface="Aptos"/>
              <a:cs typeface="Aptos"/>
              <a:sym typeface="Aptos"/>
            </a:endParaRPr>
          </a:p>
          <a:p>
            <a:pPr indent="-304800" lvl="0" marL="457200" rtl="0" algn="l">
              <a:lnSpc>
                <a:spcPct val="115833"/>
              </a:lnSpc>
              <a:spcBef>
                <a:spcPts val="800"/>
              </a:spcBef>
              <a:spcAft>
                <a:spcPts val="0"/>
              </a:spcAft>
              <a:buSzPts val="1200"/>
              <a:buFont typeface="Aptos"/>
              <a:buChar char="●"/>
            </a:pPr>
            <a:r>
              <a:rPr lang="en" sz="1200">
                <a:latin typeface="Aptos"/>
                <a:ea typeface="Aptos"/>
                <a:cs typeface="Aptos"/>
                <a:sym typeface="Aptos"/>
              </a:rPr>
              <a:t>Decision Making – Consensus, voting when necessary.  Most decisions thus far have been reached by consensus, and the only vote that was taken was for the Project Logo, which was unanimous anyway.</a:t>
            </a:r>
            <a:endParaRPr sz="1200">
              <a:latin typeface="Aptos"/>
              <a:ea typeface="Aptos"/>
              <a:cs typeface="Aptos"/>
              <a:sym typeface="Aptos"/>
            </a:endParaRPr>
          </a:p>
          <a:p>
            <a:pPr indent="-304800" lvl="0" marL="457200" rtl="0" algn="l">
              <a:lnSpc>
                <a:spcPct val="115833"/>
              </a:lnSpc>
              <a:spcBef>
                <a:spcPts val="0"/>
              </a:spcBef>
              <a:spcAft>
                <a:spcPts val="0"/>
              </a:spcAft>
              <a:buSzPts val="1200"/>
              <a:buFont typeface="Aptos"/>
              <a:buChar char="●"/>
            </a:pPr>
            <a:r>
              <a:rPr lang="en" sz="1200">
                <a:latin typeface="Aptos"/>
                <a:ea typeface="Aptos"/>
                <a:cs typeface="Aptos"/>
                <a:sym typeface="Aptos"/>
              </a:rPr>
              <a:t>-Team meetings – Decided using When2Meet on a weekly basis.  Team has varying schedules week on week, so this is the best as opposed to a set meeting time.</a:t>
            </a:r>
            <a:endParaRPr sz="1200">
              <a:latin typeface="Aptos"/>
              <a:ea typeface="Aptos"/>
              <a:cs typeface="Aptos"/>
              <a:sym typeface="Aptos"/>
            </a:endParaRPr>
          </a:p>
          <a:p>
            <a:pPr indent="-304800" lvl="0" marL="457200" rtl="0" algn="l">
              <a:lnSpc>
                <a:spcPct val="115833"/>
              </a:lnSpc>
              <a:spcBef>
                <a:spcPts val="0"/>
              </a:spcBef>
              <a:spcAft>
                <a:spcPts val="0"/>
              </a:spcAft>
              <a:buSzPts val="1200"/>
              <a:buFont typeface="Aptos"/>
              <a:buChar char="●"/>
            </a:pPr>
            <a:r>
              <a:rPr lang="en" sz="1200">
                <a:latin typeface="Aptos"/>
                <a:ea typeface="Aptos"/>
                <a:cs typeface="Aptos"/>
                <a:sym typeface="Aptos"/>
              </a:rPr>
              <a:t>-Team keeps teem accountable.  We will use group accountability and help remind each other of deadlines.</a:t>
            </a:r>
            <a:endParaRPr sz="1200">
              <a:latin typeface="Aptos"/>
              <a:ea typeface="Aptos"/>
              <a:cs typeface="Aptos"/>
              <a:sym typeface="Aptos"/>
            </a:endParaRPr>
          </a:p>
          <a:p>
            <a:pPr indent="-304800" lvl="0" marL="457200" rtl="0" algn="l">
              <a:lnSpc>
                <a:spcPct val="115833"/>
              </a:lnSpc>
              <a:spcBef>
                <a:spcPts val="0"/>
              </a:spcBef>
              <a:spcAft>
                <a:spcPts val="0"/>
              </a:spcAft>
              <a:buSzPts val="1200"/>
              <a:buFont typeface="Aptos"/>
              <a:buChar char="●"/>
            </a:pPr>
            <a:r>
              <a:rPr lang="en" sz="1200">
                <a:latin typeface="Aptos"/>
                <a:ea typeface="Aptos"/>
                <a:cs typeface="Aptos"/>
                <a:sym typeface="Aptos"/>
              </a:rPr>
              <a:t>-Thus far, we have been planning for a few extra days at the end of each sprint just in case things were missed.  In Sprint 0, a few items were missed, but we had a few days clear things up.</a:t>
            </a:r>
            <a:endParaRPr sz="1200">
              <a:latin typeface="Aptos"/>
              <a:ea typeface="Aptos"/>
              <a:cs typeface="Aptos"/>
              <a:sym typeface="Aptos"/>
            </a:endParaRPr>
          </a:p>
          <a:p>
            <a:pPr indent="0" lvl="0" marL="0" rtl="0" algn="l">
              <a:spcBef>
                <a:spcPts val="8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7"/>
          <p:cNvSpPr txBox="1"/>
          <p:nvPr>
            <p:ph type="title"/>
          </p:nvPr>
        </p:nvSpPr>
        <p:spPr>
          <a:xfrm>
            <a:off x="1297500" y="393750"/>
            <a:ext cx="7038900" cy="447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Kanban Board</a:t>
            </a:r>
            <a:endParaRPr/>
          </a:p>
        </p:txBody>
      </p:sp>
      <p:sp>
        <p:nvSpPr>
          <p:cNvPr id="157" name="Google Shape;157;p17"/>
          <p:cNvSpPr txBox="1"/>
          <p:nvPr>
            <p:ph idx="1" type="body"/>
          </p:nvPr>
        </p:nvSpPr>
        <p:spPr>
          <a:xfrm>
            <a:off x="1087375" y="1516850"/>
            <a:ext cx="7038900" cy="508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Link: </a:t>
            </a:r>
            <a:r>
              <a:rPr lang="en" u="sng">
                <a:solidFill>
                  <a:schemeClr val="hlink"/>
                </a:solidFill>
                <a:hlinkClick r:id="rId3"/>
              </a:rPr>
              <a:t>https://github.com/orgs/2026-PaceU-Capstone/projects/2/views/1</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ph type="title"/>
          </p:nvPr>
        </p:nvSpPr>
        <p:spPr>
          <a:xfrm>
            <a:off x="1297500" y="393750"/>
            <a:ext cx="7038900" cy="447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GitHub Familiarity</a:t>
            </a:r>
            <a:endParaRPr/>
          </a:p>
        </p:txBody>
      </p:sp>
      <p:sp>
        <p:nvSpPr>
          <p:cNvPr id="163" name="Google Shape;163;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Helpful videos: </a:t>
            </a:r>
            <a:endParaRPr/>
          </a:p>
          <a:p>
            <a:pPr indent="0" lvl="0" marL="0" rtl="0" algn="l">
              <a:spcBef>
                <a:spcPts val="1200"/>
              </a:spcBef>
              <a:spcAft>
                <a:spcPts val="0"/>
              </a:spcAft>
              <a:buNone/>
            </a:pPr>
            <a:r>
              <a:rPr lang="en"/>
              <a:t>-10 minute guide: </a:t>
            </a:r>
            <a:r>
              <a:rPr lang="en" u="sng">
                <a:solidFill>
                  <a:schemeClr val="hlink"/>
                </a:solidFill>
                <a:hlinkClick r:id="rId3"/>
              </a:rPr>
              <a:t>https://www.youtube.com/watch?v=a9u2yZvsqHA</a:t>
            </a:r>
            <a:endParaRPr/>
          </a:p>
          <a:p>
            <a:pPr indent="0" lvl="0" marL="0" rtl="0" algn="l">
              <a:spcBef>
                <a:spcPts val="1200"/>
              </a:spcBef>
              <a:spcAft>
                <a:spcPts val="0"/>
              </a:spcAft>
              <a:buNone/>
            </a:pPr>
            <a:r>
              <a:rPr lang="en"/>
              <a:t>-In-depth guide: </a:t>
            </a:r>
            <a:r>
              <a:rPr lang="en" u="sng">
                <a:solidFill>
                  <a:schemeClr val="hlink"/>
                </a:solidFill>
                <a:hlinkClick r:id="rId4"/>
              </a:rPr>
              <a:t>https://www.youtube.com/watch?v=pJYOG6klqj8</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Sprint 1 Goals</a:t>
            </a:r>
            <a:endParaRPr/>
          </a:p>
        </p:txBody>
      </p:sp>
      <p:sp>
        <p:nvSpPr>
          <p:cNvPr id="169" name="Google Shape;169;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Building the core backend for the Python Optimization Engine.</a:t>
            </a:r>
            <a:endParaRPr/>
          </a:p>
          <a:p>
            <a:pPr indent="-311150" lvl="0" marL="457200" rtl="0" algn="l">
              <a:spcBef>
                <a:spcPts val="0"/>
              </a:spcBef>
              <a:spcAft>
                <a:spcPts val="0"/>
              </a:spcAft>
              <a:buSzPts val="1300"/>
              <a:buChar char="●"/>
            </a:pPr>
            <a:r>
              <a:rPr lang="en"/>
              <a:t>Drafting the basic visual UI.</a:t>
            </a:r>
            <a:endParaRPr/>
          </a:p>
          <a:p>
            <a:pPr indent="-311150" lvl="0" marL="457200" rtl="0" algn="l">
              <a:spcBef>
                <a:spcPts val="0"/>
              </a:spcBef>
              <a:spcAft>
                <a:spcPts val="0"/>
              </a:spcAft>
              <a:buSzPts val="1300"/>
              <a:buChar char="●"/>
            </a:pPr>
            <a:r>
              <a:rPr lang="en"/>
              <a:t>Setting up the initial AI resume parsing pipeline using Gemini.</a:t>
            </a:r>
            <a:endParaRPr/>
          </a:p>
          <a:p>
            <a:pPr indent="-311150" lvl="0" marL="457200" rtl="0" algn="l">
              <a:spcBef>
                <a:spcPts val="0"/>
              </a:spcBef>
              <a:spcAft>
                <a:spcPts val="0"/>
              </a:spcAft>
              <a:buSzPts val="1300"/>
              <a:buChar char="●"/>
            </a:pPr>
            <a:r>
              <a:rPr lang="en"/>
              <a:t>“Working Software”</a:t>
            </a:r>
            <a:endParaRPr/>
          </a:p>
          <a:p>
            <a:pPr indent="-311150" lvl="0" marL="457200" rtl="0" algn="l">
              <a:spcBef>
                <a:spcPts val="0"/>
              </a:spcBef>
              <a:spcAft>
                <a:spcPts val="0"/>
              </a:spcAft>
              <a:buSzPts val="1300"/>
              <a:buChar char="●"/>
            </a:pPr>
            <a:r>
              <a:rPr lang="en"/>
              <a:t>QA/Testing for every User Story</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Story Points</a:t>
            </a:r>
            <a:endParaRPr/>
          </a:p>
        </p:txBody>
      </p:sp>
      <p:sp>
        <p:nvSpPr>
          <p:cNvPr id="175" name="Google Shape;175;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Default is</a:t>
            </a:r>
            <a:r>
              <a:rPr b="1" lang="en"/>
              <a:t> 2 </a:t>
            </a:r>
            <a:r>
              <a:rPr lang="en"/>
              <a:t>story points.  This means:</a:t>
            </a:r>
            <a:endParaRPr/>
          </a:p>
          <a:p>
            <a:pPr indent="0" lvl="0" marL="0" rtl="0" algn="l">
              <a:spcBef>
                <a:spcPts val="1200"/>
              </a:spcBef>
              <a:spcAft>
                <a:spcPts val="0"/>
              </a:spcAft>
              <a:buNone/>
            </a:pPr>
            <a:r>
              <a:rPr lang="en"/>
              <a:t>-No unknowns</a:t>
            </a:r>
            <a:endParaRPr/>
          </a:p>
          <a:p>
            <a:pPr indent="0" lvl="0" marL="0" rtl="0" algn="l">
              <a:spcBef>
                <a:spcPts val="1200"/>
              </a:spcBef>
              <a:spcAft>
                <a:spcPts val="0"/>
              </a:spcAft>
              <a:buNone/>
            </a:pPr>
            <a:r>
              <a:rPr lang="en"/>
              <a:t>-Baseline task is purely mechanical</a:t>
            </a:r>
            <a:endParaRPr/>
          </a:p>
          <a:p>
            <a:pPr indent="0" lvl="0" marL="0" rtl="0" algn="l">
              <a:spcBef>
                <a:spcPts val="1200"/>
              </a:spcBef>
              <a:spcAft>
                <a:spcPts val="0"/>
              </a:spcAft>
              <a:buNone/>
            </a:pPr>
            <a:r>
              <a:rPr lang="en"/>
              <a:t>-No complex algorithmic logic.</a:t>
            </a:r>
            <a:endParaRPr/>
          </a:p>
          <a:p>
            <a:pPr indent="0" lvl="0" marL="0" rtl="0" algn="l">
              <a:spcBef>
                <a:spcPts val="1200"/>
              </a:spcBef>
              <a:spcAft>
                <a:spcPts val="1200"/>
              </a:spcAft>
              <a:buNone/>
            </a:pPr>
            <a:r>
              <a:rPr lang="en"/>
              <a:t>-Obvious definition of “done”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1"/>
          <p:cNvSpPr txBox="1"/>
          <p:nvPr>
            <p:ph type="title"/>
          </p:nvPr>
        </p:nvSpPr>
        <p:spPr>
          <a:xfrm>
            <a:off x="1281775" y="244325"/>
            <a:ext cx="7038900" cy="526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Priority Categories</a:t>
            </a:r>
            <a:endParaRPr/>
          </a:p>
        </p:txBody>
      </p:sp>
      <p:sp>
        <p:nvSpPr>
          <p:cNvPr id="181" name="Google Shape;181;p21"/>
          <p:cNvSpPr txBox="1"/>
          <p:nvPr>
            <p:ph idx="1" type="body"/>
          </p:nvPr>
        </p:nvSpPr>
        <p:spPr>
          <a:xfrm>
            <a:off x="70800" y="1504625"/>
            <a:ext cx="4501200" cy="33792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None/>
            </a:pPr>
            <a:r>
              <a:rPr b="1" lang="en">
                <a:latin typeface="Arial"/>
                <a:ea typeface="Arial"/>
                <a:cs typeface="Arial"/>
                <a:sym typeface="Arial"/>
              </a:rPr>
              <a:t>🔴 URGENT (The "Drop Everything" Level)</a:t>
            </a:r>
            <a:endParaRPr b="1">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Definition:</a:t>
            </a:r>
            <a:r>
              <a:rPr lang="en" sz="1100">
                <a:latin typeface="Arial"/>
                <a:ea typeface="Arial"/>
                <a:cs typeface="Arial"/>
                <a:sym typeface="Arial"/>
              </a:rPr>
              <a:t> This issue is completely blocking one or more team members from working, or it threatens your ability to submit an upcoming syllabus deliverable. It must be fixed immediately. </a:t>
            </a:r>
            <a:r>
              <a:rPr b="1" lang="en" sz="1100">
                <a:latin typeface="Arial"/>
                <a:ea typeface="Arial"/>
                <a:cs typeface="Arial"/>
                <a:sym typeface="Arial"/>
              </a:rPr>
              <a:t>Examples:</a:t>
            </a:r>
            <a:endParaRPr b="1" sz="1100">
              <a:latin typeface="Arial"/>
              <a:ea typeface="Arial"/>
              <a:cs typeface="Arial"/>
              <a:sym typeface="Arial"/>
            </a:endParaRPr>
          </a:p>
          <a:p>
            <a:pPr indent="-298450" lvl="0" marL="457200" rtl="0" algn="l">
              <a:spcBef>
                <a:spcPts val="1200"/>
              </a:spcBef>
              <a:spcAft>
                <a:spcPts val="0"/>
              </a:spcAft>
              <a:buClr>
                <a:schemeClr val="lt1"/>
              </a:buClr>
              <a:buSzPts val="1100"/>
              <a:buFont typeface="Arial"/>
              <a:buChar char="●"/>
            </a:pPr>
            <a:r>
              <a:rPr b="1" lang="en" sz="1100">
                <a:latin typeface="Arial"/>
                <a:ea typeface="Arial"/>
                <a:cs typeface="Arial"/>
                <a:sym typeface="Arial"/>
              </a:rPr>
              <a:t>(Infrastructure):</a:t>
            </a:r>
            <a:r>
              <a:rPr lang="en" sz="1100">
                <a:latin typeface="Arial"/>
                <a:ea typeface="Arial"/>
                <a:cs typeface="Arial"/>
                <a:sym typeface="Arial"/>
              </a:rPr>
              <a:t> "The Render backend server is crashing on startup, meaning the frontend team cannot test any of their API calls."</a:t>
            </a:r>
            <a:endParaRPr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b="1" lang="en" sz="1100">
                <a:latin typeface="Arial"/>
                <a:ea typeface="Arial"/>
                <a:cs typeface="Arial"/>
                <a:sym typeface="Arial"/>
              </a:rPr>
              <a:t>(Documentation):</a:t>
            </a:r>
            <a:r>
              <a:rPr lang="en" sz="1100">
                <a:latin typeface="Arial"/>
                <a:ea typeface="Arial"/>
                <a:cs typeface="Arial"/>
                <a:sym typeface="Arial"/>
              </a:rPr>
              <a:t> "Professor Wong's Deliverable 1 deadline is tomorrow, and the mandatory AI Disclosure Slide has not been written yet."</a:t>
            </a:r>
            <a:endParaRPr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b="1" lang="en" sz="1100">
                <a:latin typeface="Arial"/>
                <a:ea typeface="Arial"/>
                <a:cs typeface="Arial"/>
                <a:sym typeface="Arial"/>
              </a:rPr>
              <a:t>(Database):</a:t>
            </a:r>
            <a:r>
              <a:rPr lang="en" sz="1100">
                <a:latin typeface="Arial"/>
                <a:ea typeface="Arial"/>
                <a:cs typeface="Arial"/>
                <a:sym typeface="Arial"/>
              </a:rPr>
              <a:t> "Someone accidentally dropped the PostgreSQL database tables, and the app is completely down."</a:t>
            </a:r>
            <a:endParaRPr sz="1100">
              <a:latin typeface="Arial"/>
              <a:ea typeface="Arial"/>
              <a:cs typeface="Arial"/>
              <a:sym typeface="Arial"/>
            </a:endParaRPr>
          </a:p>
          <a:p>
            <a:pPr indent="0" lvl="0" marL="0" rtl="0" algn="l">
              <a:spcBef>
                <a:spcPts val="1200"/>
              </a:spcBef>
              <a:spcAft>
                <a:spcPts val="1200"/>
              </a:spcAft>
              <a:buNone/>
            </a:pPr>
            <a:r>
              <a:t/>
            </a:r>
            <a:endParaRPr/>
          </a:p>
        </p:txBody>
      </p:sp>
      <p:sp>
        <p:nvSpPr>
          <p:cNvPr id="182" name="Google Shape;182;p21"/>
          <p:cNvSpPr txBox="1"/>
          <p:nvPr>
            <p:ph idx="1" type="body"/>
          </p:nvPr>
        </p:nvSpPr>
        <p:spPr>
          <a:xfrm>
            <a:off x="4572000" y="1504625"/>
            <a:ext cx="4527600" cy="33792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a:latin typeface="Arial"/>
                <a:ea typeface="Arial"/>
                <a:cs typeface="Arial"/>
                <a:sym typeface="Arial"/>
              </a:rPr>
              <a:t>🟠 HIGH (The "Core MVP" Level)</a:t>
            </a:r>
            <a:endParaRPr b="1">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Definition:</a:t>
            </a:r>
            <a:r>
              <a:rPr lang="en" sz="1100">
                <a:latin typeface="Arial"/>
                <a:ea typeface="Arial"/>
                <a:cs typeface="Arial"/>
                <a:sym typeface="Arial"/>
              </a:rPr>
              <a:t> This is a "Must-Have" feature for the current sprint. Without completing this ticket, the Sprint Goal will not be met, but it is not currently blocking anyone else from doing their job. </a:t>
            </a:r>
            <a:r>
              <a:rPr b="1" lang="en" sz="1100">
                <a:latin typeface="Arial"/>
                <a:ea typeface="Arial"/>
                <a:cs typeface="Arial"/>
                <a:sym typeface="Arial"/>
              </a:rPr>
              <a:t>Examples:</a:t>
            </a:r>
            <a:endParaRPr b="1" sz="1100">
              <a:latin typeface="Arial"/>
              <a:ea typeface="Arial"/>
              <a:cs typeface="Arial"/>
              <a:sym typeface="Arial"/>
            </a:endParaRPr>
          </a:p>
          <a:p>
            <a:pPr indent="-298450" lvl="0" marL="457200" rtl="0" algn="l">
              <a:spcBef>
                <a:spcPts val="1200"/>
              </a:spcBef>
              <a:spcAft>
                <a:spcPts val="0"/>
              </a:spcAft>
              <a:buClr>
                <a:schemeClr val="lt1"/>
              </a:buClr>
              <a:buSzPts val="1100"/>
              <a:buFont typeface="Arial"/>
              <a:buChar char="●"/>
            </a:pPr>
            <a:r>
              <a:rPr b="1" lang="en" sz="1100">
                <a:latin typeface="Arial"/>
                <a:ea typeface="Arial"/>
                <a:cs typeface="Arial"/>
                <a:sym typeface="Arial"/>
              </a:rPr>
              <a:t>(Backend CSP):</a:t>
            </a:r>
            <a:r>
              <a:rPr lang="en" sz="1100">
                <a:latin typeface="Arial"/>
                <a:ea typeface="Arial"/>
                <a:cs typeface="Arial"/>
                <a:sym typeface="Arial"/>
              </a:rPr>
              <a:t> "Write the Python constraint logic that prevents a user from scheduling a class if they haven't taken its prerequisite." </a:t>
            </a:r>
            <a:r>
              <a:rPr i="1" lang="en" sz="1100">
                <a:latin typeface="Arial"/>
                <a:ea typeface="Arial"/>
                <a:cs typeface="Arial"/>
                <a:sym typeface="Arial"/>
              </a:rPr>
              <a:t>(This is the core value of the app).</a:t>
            </a:r>
            <a:endParaRPr i="1"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b="1" lang="en" sz="1100">
                <a:latin typeface="Arial"/>
                <a:ea typeface="Arial"/>
                <a:cs typeface="Arial"/>
                <a:sym typeface="Arial"/>
              </a:rPr>
              <a:t>(AI Parser):</a:t>
            </a:r>
            <a:r>
              <a:rPr lang="en" sz="1100">
                <a:latin typeface="Arial"/>
                <a:ea typeface="Arial"/>
                <a:cs typeface="Arial"/>
                <a:sym typeface="Arial"/>
              </a:rPr>
              <a:t> "Integrate the LLM API to successfully extract a previous degree from a standard PDF."</a:t>
            </a:r>
            <a:endParaRPr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b="1" lang="en" sz="1100">
                <a:latin typeface="Arial"/>
                <a:ea typeface="Arial"/>
                <a:cs typeface="Arial"/>
                <a:sym typeface="Arial"/>
              </a:rPr>
              <a:t>(Frontend UI):</a:t>
            </a:r>
            <a:r>
              <a:rPr lang="en" sz="1100">
                <a:latin typeface="Arial"/>
                <a:ea typeface="Arial"/>
                <a:cs typeface="Arial"/>
                <a:sym typeface="Arial"/>
              </a:rPr>
              <a:t> "Build the basic React form where a student inputs their desired credit load and starting term."</a:t>
            </a:r>
            <a:endParaRPr sz="1100">
              <a:latin typeface="Arial"/>
              <a:ea typeface="Arial"/>
              <a:cs typeface="Arial"/>
              <a:sym typeface="Arial"/>
            </a:endParaRPr>
          </a:p>
          <a:p>
            <a:pPr indent="0" lvl="0" marL="0" rtl="0" algn="l">
              <a:spcBef>
                <a:spcPts val="1200"/>
              </a:spcBef>
              <a:spcAft>
                <a:spcPts val="1200"/>
              </a:spcAft>
              <a:buNone/>
            </a:pPr>
            <a:r>
              <a:t/>
            </a:r>
            <a:endParaRPr b="1">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Priority Categories (con’t)</a:t>
            </a:r>
            <a:endParaRPr/>
          </a:p>
        </p:txBody>
      </p:sp>
      <p:sp>
        <p:nvSpPr>
          <p:cNvPr id="188" name="Google Shape;188;p22"/>
          <p:cNvSpPr txBox="1"/>
          <p:nvPr>
            <p:ph idx="1" type="body"/>
          </p:nvPr>
        </p:nvSpPr>
        <p:spPr>
          <a:xfrm>
            <a:off x="4860175" y="1449575"/>
            <a:ext cx="4011300" cy="32457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a:latin typeface="Arial"/>
                <a:ea typeface="Arial"/>
                <a:cs typeface="Arial"/>
                <a:sym typeface="Arial"/>
              </a:rPr>
              <a:t>🟢 LOW (The "Polish &amp; Backlog" Level)</a:t>
            </a:r>
            <a:endParaRPr b="1">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Definition:</a:t>
            </a:r>
            <a:r>
              <a:rPr lang="en" sz="1100">
                <a:latin typeface="Arial"/>
                <a:ea typeface="Arial"/>
                <a:cs typeface="Arial"/>
                <a:sym typeface="Arial"/>
              </a:rPr>
              <a:t> This is a "Could-Have." These are quality-of-life improvements, minor UI tweaks, or features we want to build if we finish all other sprint work early. </a:t>
            </a:r>
            <a:r>
              <a:rPr b="1" lang="en" sz="1100">
                <a:latin typeface="Arial"/>
                <a:ea typeface="Arial"/>
                <a:cs typeface="Arial"/>
                <a:sym typeface="Arial"/>
              </a:rPr>
              <a:t>Examples:</a:t>
            </a:r>
            <a:endParaRPr b="1" sz="1100">
              <a:latin typeface="Arial"/>
              <a:ea typeface="Arial"/>
              <a:cs typeface="Arial"/>
              <a:sym typeface="Arial"/>
            </a:endParaRPr>
          </a:p>
          <a:p>
            <a:pPr indent="-298450" lvl="0" marL="457200" rtl="0" algn="l">
              <a:spcBef>
                <a:spcPts val="1200"/>
              </a:spcBef>
              <a:spcAft>
                <a:spcPts val="0"/>
              </a:spcAft>
              <a:buClr>
                <a:schemeClr val="lt1"/>
              </a:buClr>
              <a:buSzPts val="1100"/>
              <a:buFont typeface="Arial"/>
              <a:buChar char="●"/>
            </a:pPr>
            <a:r>
              <a:rPr b="1" lang="en" sz="1100">
                <a:latin typeface="Arial"/>
                <a:ea typeface="Arial"/>
                <a:cs typeface="Arial"/>
                <a:sym typeface="Arial"/>
              </a:rPr>
              <a:t>(Frontend UI):</a:t>
            </a:r>
            <a:r>
              <a:rPr lang="en" sz="1100">
                <a:latin typeface="Arial"/>
                <a:ea typeface="Arial"/>
                <a:cs typeface="Arial"/>
                <a:sym typeface="Arial"/>
              </a:rPr>
              <a:t> "Add a 'Dark Mode' toggle to the React dashboard."</a:t>
            </a:r>
            <a:endParaRPr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b="1" lang="en" sz="1100">
                <a:latin typeface="Arial"/>
                <a:ea typeface="Arial"/>
                <a:cs typeface="Arial"/>
                <a:sym typeface="Arial"/>
              </a:rPr>
              <a:t>(Backend CSP):</a:t>
            </a:r>
            <a:r>
              <a:rPr lang="en" sz="1100">
                <a:latin typeface="Arial"/>
                <a:ea typeface="Arial"/>
                <a:cs typeface="Arial"/>
                <a:sym typeface="Arial"/>
              </a:rPr>
              <a:t> "Refactor the constraint algorithm to run 0.5 seconds faster." </a:t>
            </a:r>
            <a:r>
              <a:rPr i="1" lang="en" sz="1100">
                <a:latin typeface="Arial"/>
                <a:ea typeface="Arial"/>
                <a:cs typeface="Arial"/>
                <a:sym typeface="Arial"/>
              </a:rPr>
              <a:t>(Unless the app is lagging horribly, optimization isn't needed for the MVP scale).</a:t>
            </a:r>
            <a:endParaRPr i="1" sz="1100">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b="1" lang="en" sz="1100">
                <a:latin typeface="Arial"/>
                <a:ea typeface="Arial"/>
                <a:cs typeface="Arial"/>
                <a:sym typeface="Arial"/>
              </a:rPr>
              <a:t>(Infrastructure):</a:t>
            </a:r>
            <a:r>
              <a:rPr lang="en" sz="1100">
                <a:latin typeface="Arial"/>
                <a:ea typeface="Arial"/>
                <a:cs typeface="Arial"/>
                <a:sym typeface="Arial"/>
              </a:rPr>
              <a:t> "Automate a bot to post in Discord every time a GitHub issue is closed."</a:t>
            </a:r>
            <a:endParaRPr sz="1100">
              <a:latin typeface="Arial"/>
              <a:ea typeface="Arial"/>
              <a:cs typeface="Arial"/>
              <a:sym typeface="Arial"/>
            </a:endParaRPr>
          </a:p>
          <a:p>
            <a:pPr indent="0" lvl="0" marL="0" rtl="0" algn="l">
              <a:spcBef>
                <a:spcPts val="1200"/>
              </a:spcBef>
              <a:spcAft>
                <a:spcPts val="1200"/>
              </a:spcAft>
              <a:buNone/>
            </a:pPr>
            <a:r>
              <a:t/>
            </a:r>
            <a:endParaRPr/>
          </a:p>
        </p:txBody>
      </p:sp>
      <p:sp>
        <p:nvSpPr>
          <p:cNvPr id="189" name="Google Shape;189;p22"/>
          <p:cNvSpPr txBox="1"/>
          <p:nvPr>
            <p:ph idx="1" type="body"/>
          </p:nvPr>
        </p:nvSpPr>
        <p:spPr>
          <a:xfrm>
            <a:off x="330300" y="1449575"/>
            <a:ext cx="4356900" cy="33792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None/>
            </a:pPr>
            <a:r>
              <a:rPr b="1" lang="en">
                <a:highlight>
                  <a:schemeClr val="dk1"/>
                </a:highlight>
                <a:latin typeface="Arial"/>
                <a:ea typeface="Arial"/>
                <a:cs typeface="Arial"/>
                <a:sym typeface="Arial"/>
              </a:rPr>
              <a:t>🟡 MEDIUM (The "Important but Flexible" Level)</a:t>
            </a:r>
            <a:endParaRPr b="1">
              <a:highlight>
                <a:schemeClr val="dk1"/>
              </a:highlight>
              <a:latin typeface="Arial"/>
              <a:ea typeface="Arial"/>
              <a:cs typeface="Arial"/>
              <a:sym typeface="Arial"/>
            </a:endParaRPr>
          </a:p>
          <a:p>
            <a:pPr indent="0" lvl="0" marL="0" rtl="0" algn="l">
              <a:spcBef>
                <a:spcPts val="1200"/>
              </a:spcBef>
              <a:spcAft>
                <a:spcPts val="0"/>
              </a:spcAft>
              <a:buNone/>
            </a:pPr>
            <a:r>
              <a:rPr b="1" lang="en" sz="1100">
                <a:highlight>
                  <a:schemeClr val="dk1"/>
                </a:highlight>
                <a:latin typeface="Arial"/>
                <a:ea typeface="Arial"/>
                <a:cs typeface="Arial"/>
                <a:sym typeface="Arial"/>
              </a:rPr>
              <a:t>Definition:</a:t>
            </a:r>
            <a:r>
              <a:rPr lang="en" sz="1100">
                <a:highlight>
                  <a:schemeClr val="dk1"/>
                </a:highlight>
                <a:latin typeface="Arial"/>
                <a:ea typeface="Arial"/>
                <a:cs typeface="Arial"/>
                <a:sym typeface="Arial"/>
              </a:rPr>
              <a:t> This is a "Should-Have." It adds significant value to the project and makes the app better, but if it rolls over to the next sprint, the core MVP will still function. </a:t>
            </a:r>
            <a:r>
              <a:rPr b="1" lang="en" sz="1100">
                <a:highlight>
                  <a:schemeClr val="dk1"/>
                </a:highlight>
                <a:latin typeface="Arial"/>
                <a:ea typeface="Arial"/>
                <a:cs typeface="Arial"/>
                <a:sym typeface="Arial"/>
              </a:rPr>
              <a:t>Examples:</a:t>
            </a:r>
            <a:endParaRPr b="1" sz="1100">
              <a:highlight>
                <a:schemeClr val="dk1"/>
              </a:highlight>
              <a:latin typeface="Arial"/>
              <a:ea typeface="Arial"/>
              <a:cs typeface="Arial"/>
              <a:sym typeface="Arial"/>
            </a:endParaRPr>
          </a:p>
          <a:p>
            <a:pPr indent="-298450" lvl="0" marL="457200" rtl="0" algn="l">
              <a:spcBef>
                <a:spcPts val="1200"/>
              </a:spcBef>
              <a:spcAft>
                <a:spcPts val="0"/>
              </a:spcAft>
              <a:buClr>
                <a:schemeClr val="lt1"/>
              </a:buClr>
              <a:buSzPts val="1100"/>
              <a:buFont typeface="Arial"/>
              <a:buChar char="●"/>
            </a:pPr>
            <a:r>
              <a:rPr b="1" lang="en" sz="1100">
                <a:highlight>
                  <a:schemeClr val="dk1"/>
                </a:highlight>
                <a:latin typeface="Arial"/>
                <a:ea typeface="Arial"/>
                <a:cs typeface="Arial"/>
                <a:sym typeface="Arial"/>
              </a:rPr>
              <a:t>(Frontend UI):</a:t>
            </a:r>
            <a:r>
              <a:rPr lang="en" sz="1100">
                <a:highlight>
                  <a:schemeClr val="dk1"/>
                </a:highlight>
                <a:latin typeface="Arial"/>
                <a:ea typeface="Arial"/>
                <a:cs typeface="Arial"/>
                <a:sym typeface="Arial"/>
              </a:rPr>
              <a:t> "Implement the Mermaid.js/D3.js interactive flowchart to visualize the schedule." </a:t>
            </a:r>
            <a:r>
              <a:rPr i="1" lang="en" sz="1100">
                <a:highlight>
                  <a:schemeClr val="dk1"/>
                </a:highlight>
                <a:latin typeface="Arial"/>
                <a:ea typeface="Arial"/>
                <a:cs typeface="Arial"/>
                <a:sym typeface="Arial"/>
              </a:rPr>
              <a:t>(It's important, but the backend could just output a plain text list of classes as a temporary fallback).</a:t>
            </a:r>
            <a:endParaRPr i="1" sz="1100">
              <a:highlight>
                <a:schemeClr val="dk1"/>
              </a:highlight>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b="1" lang="en" sz="1100">
                <a:highlight>
                  <a:schemeClr val="dk1"/>
                </a:highlight>
                <a:latin typeface="Arial"/>
                <a:ea typeface="Arial"/>
                <a:cs typeface="Arial"/>
                <a:sym typeface="Arial"/>
              </a:rPr>
              <a:t>(AI Parser):</a:t>
            </a:r>
            <a:r>
              <a:rPr lang="en" sz="1100">
                <a:highlight>
                  <a:schemeClr val="dk1"/>
                </a:highlight>
                <a:latin typeface="Arial"/>
                <a:ea typeface="Arial"/>
                <a:cs typeface="Arial"/>
                <a:sym typeface="Arial"/>
              </a:rPr>
              <a:t> "Write the edge-case error handling for when a user uploads a </a:t>
            </a:r>
            <a:r>
              <a:rPr lang="en" sz="1100">
                <a:highlight>
                  <a:schemeClr val="dk1"/>
                </a:highlight>
                <a:latin typeface="Roboto Mono"/>
                <a:ea typeface="Roboto Mono"/>
                <a:cs typeface="Roboto Mono"/>
                <a:sym typeface="Roboto Mono"/>
              </a:rPr>
              <a:t>.jpeg</a:t>
            </a:r>
            <a:r>
              <a:rPr lang="en" sz="1100">
                <a:highlight>
                  <a:schemeClr val="dk1"/>
                </a:highlight>
                <a:latin typeface="Arial"/>
                <a:ea typeface="Arial"/>
                <a:cs typeface="Arial"/>
                <a:sym typeface="Arial"/>
              </a:rPr>
              <a:t> instead of a </a:t>
            </a:r>
            <a:r>
              <a:rPr lang="en" sz="1100">
                <a:highlight>
                  <a:schemeClr val="dk1"/>
                </a:highlight>
                <a:latin typeface="Roboto Mono"/>
                <a:ea typeface="Roboto Mono"/>
                <a:cs typeface="Roboto Mono"/>
                <a:sym typeface="Roboto Mono"/>
              </a:rPr>
              <a:t>.pdf</a:t>
            </a:r>
            <a:r>
              <a:rPr lang="en" sz="1100">
                <a:highlight>
                  <a:schemeClr val="dk1"/>
                </a:highlight>
                <a:latin typeface="Arial"/>
                <a:ea typeface="Arial"/>
                <a:cs typeface="Arial"/>
                <a:sym typeface="Arial"/>
              </a:rPr>
              <a:t>."</a:t>
            </a:r>
            <a:endParaRPr sz="1100">
              <a:highlight>
                <a:schemeClr val="dk1"/>
              </a:highlight>
              <a:latin typeface="Arial"/>
              <a:ea typeface="Arial"/>
              <a:cs typeface="Arial"/>
              <a:sym typeface="Arial"/>
            </a:endParaRPr>
          </a:p>
          <a:p>
            <a:pPr indent="-298450" lvl="0" marL="457200" rtl="0" algn="l">
              <a:spcBef>
                <a:spcPts val="0"/>
              </a:spcBef>
              <a:spcAft>
                <a:spcPts val="0"/>
              </a:spcAft>
              <a:buClr>
                <a:schemeClr val="lt1"/>
              </a:buClr>
              <a:buSzPts val="1100"/>
              <a:buFont typeface="Arial"/>
              <a:buChar char="●"/>
            </a:pPr>
            <a:r>
              <a:rPr b="1" lang="en" sz="1100">
                <a:highlight>
                  <a:schemeClr val="dk1"/>
                </a:highlight>
                <a:latin typeface="Arial"/>
                <a:ea typeface="Arial"/>
                <a:cs typeface="Arial"/>
                <a:sym typeface="Arial"/>
              </a:rPr>
              <a:t>(Documentation):</a:t>
            </a:r>
            <a:r>
              <a:rPr lang="en" sz="1100">
                <a:highlight>
                  <a:schemeClr val="dk1"/>
                </a:highlight>
                <a:latin typeface="Arial"/>
                <a:ea typeface="Arial"/>
                <a:cs typeface="Arial"/>
                <a:sym typeface="Arial"/>
              </a:rPr>
              <a:t> "Draft the user deployment manual for the Wiki page." </a:t>
            </a:r>
            <a:r>
              <a:rPr i="1" lang="en" sz="1100">
                <a:highlight>
                  <a:schemeClr val="dk1"/>
                </a:highlight>
                <a:latin typeface="Arial"/>
                <a:ea typeface="Arial"/>
                <a:cs typeface="Arial"/>
                <a:sym typeface="Arial"/>
              </a:rPr>
              <a:t>(Required eventually, but not critical during active coding weeks).</a:t>
            </a:r>
            <a:endParaRPr i="1" sz="1100">
              <a:highlight>
                <a:schemeClr val="dk1"/>
              </a:highlight>
              <a:latin typeface="Arial"/>
              <a:ea typeface="Arial"/>
              <a:cs typeface="Arial"/>
              <a:sym typeface="Arial"/>
            </a:endParaRPr>
          </a:p>
          <a:p>
            <a:pPr indent="0" lvl="0" marL="0" rtl="0" algn="l">
              <a:spcBef>
                <a:spcPts val="1200"/>
              </a:spcBef>
              <a:spcAft>
                <a:spcPts val="1200"/>
              </a:spcAft>
              <a:buNone/>
            </a:pPr>
            <a:r>
              <a:t/>
            </a:r>
            <a:endParaRPr b="1">
              <a:highlight>
                <a:schemeClr val="dk1"/>
              </a:highlight>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3"/>
          <p:cNvSpPr txBox="1"/>
          <p:nvPr>
            <p:ph type="title"/>
          </p:nvPr>
        </p:nvSpPr>
        <p:spPr>
          <a:xfrm>
            <a:off x="1156600" y="71300"/>
            <a:ext cx="7038900" cy="463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Categories</a:t>
            </a:r>
            <a:endParaRPr/>
          </a:p>
        </p:txBody>
      </p:sp>
      <p:pic>
        <p:nvPicPr>
          <p:cNvPr id="195" name="Google Shape;195;p23"/>
          <p:cNvPicPr preferRelativeResize="0"/>
          <p:nvPr/>
        </p:nvPicPr>
        <p:blipFill rotWithShape="1">
          <a:blip r:embed="rId3">
            <a:alphaModFix/>
          </a:blip>
          <a:srcRect b="15096" l="0" r="0" t="0"/>
          <a:stretch/>
        </p:blipFill>
        <p:spPr>
          <a:xfrm>
            <a:off x="570550" y="1866875"/>
            <a:ext cx="3248025" cy="857250"/>
          </a:xfrm>
          <a:prstGeom prst="rect">
            <a:avLst/>
          </a:prstGeom>
          <a:noFill/>
          <a:ln>
            <a:noFill/>
          </a:ln>
        </p:spPr>
      </p:pic>
      <p:pic>
        <p:nvPicPr>
          <p:cNvPr id="196" name="Google Shape;196;p23"/>
          <p:cNvPicPr preferRelativeResize="0"/>
          <p:nvPr/>
        </p:nvPicPr>
        <p:blipFill>
          <a:blip r:embed="rId4">
            <a:alphaModFix/>
          </a:blip>
          <a:stretch>
            <a:fillRect/>
          </a:stretch>
        </p:blipFill>
        <p:spPr>
          <a:xfrm>
            <a:off x="4737500" y="1886013"/>
            <a:ext cx="3505200" cy="857250"/>
          </a:xfrm>
          <a:prstGeom prst="rect">
            <a:avLst/>
          </a:prstGeom>
          <a:noFill/>
          <a:ln>
            <a:noFill/>
          </a:ln>
        </p:spPr>
      </p:pic>
      <p:sp>
        <p:nvSpPr>
          <p:cNvPr id="197" name="Google Shape;197;p23"/>
          <p:cNvSpPr txBox="1"/>
          <p:nvPr/>
        </p:nvSpPr>
        <p:spPr>
          <a:xfrm>
            <a:off x="468300" y="2784100"/>
            <a:ext cx="3920100" cy="163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lt1"/>
                </a:solidFill>
              </a:rPr>
              <a:t>This column means the Card is still being developed.  For example, the user story, or QA/QC tasks may still be being developed.</a:t>
            </a:r>
            <a:endParaRPr sz="1100">
              <a:solidFill>
                <a:schemeClr val="lt1"/>
              </a:solidFill>
            </a:endParaRPr>
          </a:p>
          <a:p>
            <a:pPr indent="0" lvl="0" marL="0" rtl="0" algn="l">
              <a:lnSpc>
                <a:spcPct val="115000"/>
              </a:lnSpc>
              <a:spcBef>
                <a:spcPts val="1200"/>
              </a:spcBef>
              <a:spcAft>
                <a:spcPts val="0"/>
              </a:spcAft>
              <a:buNone/>
            </a:pPr>
            <a:r>
              <a:rPr lang="en" sz="1100">
                <a:solidFill>
                  <a:schemeClr val="lt1"/>
                </a:solidFill>
              </a:rPr>
              <a:t>Before an item leaves this column, QA/QC writes specific test cases (0-3) for the User Story.  If zero, explain why.</a:t>
            </a:r>
            <a:endParaRPr sz="1100">
              <a:solidFill>
                <a:schemeClr val="lt1"/>
              </a:solidFill>
            </a:endParaRPr>
          </a:p>
          <a:p>
            <a:pPr indent="0" lvl="0" marL="0" rtl="0" algn="l">
              <a:lnSpc>
                <a:spcPct val="115000"/>
              </a:lnSpc>
              <a:spcBef>
                <a:spcPts val="1200"/>
              </a:spcBef>
              <a:spcAft>
                <a:spcPts val="1200"/>
              </a:spcAft>
              <a:buNone/>
            </a:pPr>
            <a:r>
              <a:rPr lang="en" sz="1100">
                <a:solidFill>
                  <a:schemeClr val="lt1"/>
                </a:solidFill>
              </a:rPr>
              <a:t>***NOTE ANY USE OF AI***</a:t>
            </a:r>
            <a:endParaRPr sz="11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4"/>
          <p:cNvSpPr txBox="1"/>
          <p:nvPr>
            <p:ph type="title"/>
          </p:nvPr>
        </p:nvSpPr>
        <p:spPr>
          <a:xfrm>
            <a:off x="1297500" y="393750"/>
            <a:ext cx="7038900" cy="471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Categories (con’t)</a:t>
            </a:r>
            <a:endParaRPr/>
          </a:p>
        </p:txBody>
      </p:sp>
      <p:pic>
        <p:nvPicPr>
          <p:cNvPr id="203" name="Google Shape;203;p24"/>
          <p:cNvPicPr preferRelativeResize="0"/>
          <p:nvPr/>
        </p:nvPicPr>
        <p:blipFill>
          <a:blip r:embed="rId3">
            <a:alphaModFix/>
          </a:blip>
          <a:stretch>
            <a:fillRect/>
          </a:stretch>
        </p:blipFill>
        <p:spPr>
          <a:xfrm>
            <a:off x="545600" y="1394963"/>
            <a:ext cx="3343275" cy="1019175"/>
          </a:xfrm>
          <a:prstGeom prst="rect">
            <a:avLst/>
          </a:prstGeom>
          <a:noFill/>
          <a:ln>
            <a:noFill/>
          </a:ln>
        </p:spPr>
      </p:pic>
      <p:pic>
        <p:nvPicPr>
          <p:cNvPr id="204" name="Google Shape;204;p24"/>
          <p:cNvPicPr preferRelativeResize="0"/>
          <p:nvPr/>
        </p:nvPicPr>
        <p:blipFill>
          <a:blip r:embed="rId4">
            <a:alphaModFix/>
          </a:blip>
          <a:stretch>
            <a:fillRect/>
          </a:stretch>
        </p:blipFill>
        <p:spPr>
          <a:xfrm>
            <a:off x="4689975" y="1380675"/>
            <a:ext cx="3333750" cy="1047750"/>
          </a:xfrm>
          <a:prstGeom prst="rect">
            <a:avLst/>
          </a:prstGeom>
          <a:noFill/>
          <a:ln>
            <a:noFill/>
          </a:ln>
        </p:spPr>
      </p:pic>
      <p:pic>
        <p:nvPicPr>
          <p:cNvPr id="205" name="Google Shape;205;p24"/>
          <p:cNvPicPr preferRelativeResize="0"/>
          <p:nvPr/>
        </p:nvPicPr>
        <p:blipFill>
          <a:blip r:embed="rId5">
            <a:alphaModFix/>
          </a:blip>
          <a:stretch>
            <a:fillRect/>
          </a:stretch>
        </p:blipFill>
        <p:spPr>
          <a:xfrm>
            <a:off x="521788" y="2879650"/>
            <a:ext cx="3390900" cy="1085850"/>
          </a:xfrm>
          <a:prstGeom prst="rect">
            <a:avLst/>
          </a:prstGeom>
          <a:noFill/>
          <a:ln>
            <a:noFill/>
          </a:ln>
        </p:spPr>
      </p:pic>
      <p:sp>
        <p:nvSpPr>
          <p:cNvPr id="206" name="Google Shape;206;p24"/>
          <p:cNvSpPr txBox="1"/>
          <p:nvPr/>
        </p:nvSpPr>
        <p:spPr>
          <a:xfrm>
            <a:off x="4746675" y="2516700"/>
            <a:ext cx="4046100" cy="229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lt1"/>
                </a:solidFill>
              </a:rPr>
              <a:t>-Developer submits Pull Request to to the develop branch.</a:t>
            </a:r>
            <a:endParaRPr sz="1100">
              <a:solidFill>
                <a:schemeClr val="lt1"/>
              </a:solidFill>
            </a:endParaRPr>
          </a:p>
          <a:p>
            <a:pPr indent="0" lvl="0" marL="0" rtl="0" algn="l">
              <a:lnSpc>
                <a:spcPct val="115000"/>
              </a:lnSpc>
              <a:spcBef>
                <a:spcPts val="1200"/>
              </a:spcBef>
              <a:spcAft>
                <a:spcPts val="0"/>
              </a:spcAft>
              <a:buNone/>
            </a:pPr>
            <a:r>
              <a:rPr lang="en" sz="1100">
                <a:solidFill>
                  <a:schemeClr val="lt1"/>
                </a:solidFill>
              </a:rPr>
              <a:t>-QA/QC executes test cases determined when User Story was created.</a:t>
            </a:r>
            <a:endParaRPr sz="1100">
              <a:solidFill>
                <a:schemeClr val="lt1"/>
              </a:solidFill>
            </a:endParaRPr>
          </a:p>
          <a:p>
            <a:pPr indent="0" lvl="0" marL="0" rtl="0" algn="l">
              <a:lnSpc>
                <a:spcPct val="115000"/>
              </a:lnSpc>
              <a:spcBef>
                <a:spcPts val="1200"/>
              </a:spcBef>
              <a:spcAft>
                <a:spcPts val="0"/>
              </a:spcAft>
              <a:buNone/>
            </a:pPr>
            <a:r>
              <a:rPr lang="en" sz="1100">
                <a:solidFill>
                  <a:schemeClr val="lt1"/>
                </a:solidFill>
              </a:rPr>
              <a:t>-QA/QC verifies feature passed tests.</a:t>
            </a:r>
            <a:endParaRPr sz="1100">
              <a:solidFill>
                <a:schemeClr val="lt1"/>
              </a:solidFill>
            </a:endParaRPr>
          </a:p>
          <a:p>
            <a:pPr indent="0" lvl="0" marL="0" rtl="0" algn="l">
              <a:lnSpc>
                <a:spcPct val="115000"/>
              </a:lnSpc>
              <a:spcBef>
                <a:spcPts val="1200"/>
              </a:spcBef>
              <a:spcAft>
                <a:spcPts val="0"/>
              </a:spcAft>
              <a:buNone/>
            </a:pPr>
            <a:r>
              <a:rPr lang="en" sz="1100">
                <a:solidFill>
                  <a:schemeClr val="lt1"/>
                </a:solidFill>
              </a:rPr>
              <a:t>-Test Coverage field updated.</a:t>
            </a:r>
            <a:endParaRPr sz="1100">
              <a:solidFill>
                <a:schemeClr val="lt1"/>
              </a:solidFill>
            </a:endParaRPr>
          </a:p>
          <a:p>
            <a:pPr indent="0" lvl="0" marL="0" rtl="0" algn="l">
              <a:lnSpc>
                <a:spcPct val="115000"/>
              </a:lnSpc>
              <a:spcBef>
                <a:spcPts val="1200"/>
              </a:spcBef>
              <a:spcAft>
                <a:spcPts val="0"/>
              </a:spcAft>
              <a:buNone/>
            </a:pPr>
            <a:r>
              <a:rPr lang="en" sz="1100">
                <a:solidFill>
                  <a:schemeClr val="lt1"/>
                </a:solidFill>
              </a:rPr>
              <a:t>-Card goes to done.</a:t>
            </a:r>
            <a:endParaRPr sz="1100">
              <a:solidFill>
                <a:schemeClr val="lt1"/>
              </a:solidFill>
            </a:endParaRPr>
          </a:p>
          <a:p>
            <a:pPr indent="0" lvl="0" marL="0" rtl="0" algn="l">
              <a:lnSpc>
                <a:spcPct val="115000"/>
              </a:lnSpc>
              <a:spcBef>
                <a:spcPts val="1200"/>
              </a:spcBef>
              <a:spcAft>
                <a:spcPts val="1200"/>
              </a:spcAft>
              <a:buNone/>
            </a:pPr>
            <a:r>
              <a:rPr lang="en" sz="1100">
                <a:solidFill>
                  <a:schemeClr val="lt1"/>
                </a:solidFill>
              </a:rPr>
              <a:t>-Important for metrics (deliverable)</a:t>
            </a:r>
            <a:endParaRPr sz="1100">
              <a:solidFill>
                <a:schemeClr val="lt1"/>
              </a:solidFill>
            </a:endParaRPr>
          </a:p>
        </p:txBody>
      </p:sp>
      <p:sp>
        <p:nvSpPr>
          <p:cNvPr id="207" name="Google Shape;207;p24"/>
          <p:cNvSpPr txBox="1"/>
          <p:nvPr/>
        </p:nvSpPr>
        <p:spPr>
          <a:xfrm>
            <a:off x="251050" y="4057850"/>
            <a:ext cx="40461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100">
                <a:solidFill>
                  <a:schemeClr val="lt1"/>
                </a:solidFill>
              </a:rPr>
              <a:t>Code is reviewed, passes automated tests, documented, and successfully deployed to the development environment. </a:t>
            </a:r>
            <a:endParaRPr sz="11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can we plausibly do?</a:t>
            </a:r>
            <a:endParaRPr/>
          </a:p>
        </p:txBody>
      </p:sp>
      <p:sp>
        <p:nvSpPr>
          <p:cNvPr id="213" name="Google Shape;213;p2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AutoNum type="arabicPeriod"/>
            </a:pPr>
            <a:r>
              <a:rPr lang="en"/>
              <a:t>Must haves: Everything else</a:t>
            </a:r>
            <a:endParaRPr/>
          </a:p>
          <a:p>
            <a:pPr indent="0" lvl="0" marL="457200" rtl="0" algn="l">
              <a:spcBef>
                <a:spcPts val="1200"/>
              </a:spcBef>
              <a:spcAft>
                <a:spcPts val="0"/>
              </a:spcAft>
              <a:buNone/>
            </a:pPr>
            <a:r>
              <a:t/>
            </a:r>
            <a:endParaRPr/>
          </a:p>
          <a:p>
            <a:pPr indent="-311150" lvl="0" marL="457200" rtl="0" algn="l">
              <a:spcBef>
                <a:spcPts val="1200"/>
              </a:spcBef>
              <a:spcAft>
                <a:spcPts val="0"/>
              </a:spcAft>
              <a:buSzPts val="1300"/>
              <a:buAutoNum type="arabicPeriod"/>
            </a:pPr>
            <a:r>
              <a:rPr lang="en"/>
              <a:t>Should have: Email JS</a:t>
            </a:r>
            <a:endParaRPr/>
          </a:p>
          <a:p>
            <a:pPr indent="0" lvl="0" marL="457200" rtl="0" algn="l">
              <a:spcBef>
                <a:spcPts val="1200"/>
              </a:spcBef>
              <a:spcAft>
                <a:spcPts val="0"/>
              </a:spcAft>
              <a:buNone/>
            </a:pPr>
            <a:r>
              <a:t/>
            </a:r>
            <a:endParaRPr/>
          </a:p>
          <a:p>
            <a:pPr indent="-311150" lvl="0" marL="457200" rtl="0" algn="l">
              <a:spcBef>
                <a:spcPts val="1200"/>
              </a:spcBef>
              <a:spcAft>
                <a:spcPts val="0"/>
              </a:spcAft>
              <a:buSzPts val="1300"/>
              <a:buAutoNum type="arabicPeriod"/>
            </a:pPr>
            <a:r>
              <a:rPr lang="en"/>
              <a:t>Could Have:</a:t>
            </a:r>
            <a:endParaRPr/>
          </a:p>
          <a:p>
            <a:pPr indent="0" lvl="0" marL="457200" rtl="0" algn="l">
              <a:spcBef>
                <a:spcPts val="1200"/>
              </a:spcBef>
              <a:spcAft>
                <a:spcPts val="0"/>
              </a:spcAft>
              <a:buNone/>
            </a:pPr>
            <a:r>
              <a:t/>
            </a:r>
            <a:endParaRPr/>
          </a:p>
          <a:p>
            <a:pPr indent="-311150" lvl="0" marL="457200" rtl="0" algn="l">
              <a:spcBef>
                <a:spcPts val="1200"/>
              </a:spcBef>
              <a:spcAft>
                <a:spcPts val="0"/>
              </a:spcAft>
              <a:buSzPts val="1300"/>
              <a:buAutoNum type="arabicPeriod"/>
            </a:pPr>
            <a:r>
              <a:rPr lang="en"/>
              <a:t>Won’t Have: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6"/>
          <p:cNvSpPr txBox="1"/>
          <p:nvPr>
            <p:ph type="title"/>
          </p:nvPr>
        </p:nvSpPr>
        <p:spPr>
          <a:xfrm>
            <a:off x="1297500" y="393750"/>
            <a:ext cx="7038900" cy="54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Branching Strategy</a:t>
            </a:r>
            <a:endParaRPr/>
          </a:p>
        </p:txBody>
      </p:sp>
      <p:sp>
        <p:nvSpPr>
          <p:cNvPr id="219" name="Google Shape;219;p26"/>
          <p:cNvSpPr txBox="1"/>
          <p:nvPr>
            <p:ph idx="1" type="body"/>
          </p:nvPr>
        </p:nvSpPr>
        <p:spPr>
          <a:xfrm>
            <a:off x="652800" y="1543950"/>
            <a:ext cx="7683600" cy="3418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sz="1400">
                <a:solidFill>
                  <a:srgbClr val="188038"/>
                </a:solidFill>
                <a:highlight>
                  <a:schemeClr val="dk1"/>
                </a:highlight>
                <a:latin typeface="Arial"/>
                <a:ea typeface="Arial"/>
                <a:cs typeface="Arial"/>
                <a:sym typeface="Arial"/>
              </a:rPr>
              <a:t>main</a:t>
            </a:r>
            <a:r>
              <a:rPr b="1" lang="en" sz="1400">
                <a:solidFill>
                  <a:srgbClr val="000000"/>
                </a:solidFill>
                <a:highlight>
                  <a:schemeClr val="dk1"/>
                </a:highlight>
                <a:latin typeface="Arial"/>
                <a:ea typeface="Arial"/>
                <a:cs typeface="Arial"/>
                <a:sym typeface="Arial"/>
              </a:rPr>
              <a:t> </a:t>
            </a:r>
            <a:r>
              <a:rPr b="1" lang="en" sz="1400">
                <a:highlight>
                  <a:schemeClr val="dk1"/>
                </a:highlight>
                <a:latin typeface="Arial"/>
                <a:ea typeface="Arial"/>
                <a:cs typeface="Arial"/>
                <a:sym typeface="Arial"/>
              </a:rPr>
              <a:t>(or</a:t>
            </a:r>
            <a:r>
              <a:rPr b="1" lang="en" sz="1400">
                <a:solidFill>
                  <a:srgbClr val="000000"/>
                </a:solidFill>
                <a:highlight>
                  <a:schemeClr val="dk1"/>
                </a:highlight>
                <a:latin typeface="Arial"/>
                <a:ea typeface="Arial"/>
                <a:cs typeface="Arial"/>
                <a:sym typeface="Arial"/>
              </a:rPr>
              <a:t> </a:t>
            </a:r>
            <a:r>
              <a:rPr b="1" lang="en" sz="1400">
                <a:solidFill>
                  <a:srgbClr val="188038"/>
                </a:solidFill>
                <a:highlight>
                  <a:schemeClr val="dk1"/>
                </a:highlight>
                <a:latin typeface="Arial"/>
                <a:ea typeface="Arial"/>
                <a:cs typeface="Arial"/>
                <a:sym typeface="Arial"/>
              </a:rPr>
              <a:t>master</a:t>
            </a:r>
            <a:r>
              <a:rPr b="1" lang="en" sz="1400">
                <a:highlight>
                  <a:schemeClr val="dk1"/>
                </a:highlight>
                <a:latin typeface="Arial"/>
                <a:ea typeface="Arial"/>
                <a:cs typeface="Arial"/>
                <a:sym typeface="Arial"/>
              </a:rPr>
              <a:t>)</a:t>
            </a:r>
            <a:r>
              <a:rPr lang="en" sz="1400">
                <a:highlight>
                  <a:schemeClr val="dk1"/>
                </a:highlight>
                <a:latin typeface="Arial"/>
                <a:ea typeface="Arial"/>
                <a:cs typeface="Arial"/>
                <a:sym typeface="Arial"/>
              </a:rPr>
              <a:t>: This branch is reserved for "production-ready" code. It should reflect the state of the project at the end of each sprint.</a:t>
            </a:r>
            <a:endParaRPr sz="1400">
              <a:highlight>
                <a:schemeClr val="dk1"/>
              </a:highlight>
              <a:latin typeface="Arial"/>
              <a:ea typeface="Arial"/>
              <a:cs typeface="Arial"/>
              <a:sym typeface="Arial"/>
            </a:endParaRPr>
          </a:p>
          <a:p>
            <a:pPr indent="-310833" lvl="0" marL="457200" rtl="0" algn="l">
              <a:spcBef>
                <a:spcPts val="0"/>
              </a:spcBef>
              <a:spcAft>
                <a:spcPts val="0"/>
              </a:spcAft>
              <a:buClr>
                <a:srgbClr val="000000"/>
              </a:buClr>
              <a:buSzPct val="100000"/>
              <a:buFont typeface="Arial"/>
              <a:buChar char="●"/>
            </a:pPr>
            <a:r>
              <a:rPr b="1" lang="en" sz="1400">
                <a:highlight>
                  <a:schemeClr val="dk1"/>
                </a:highlight>
                <a:latin typeface="Arial"/>
                <a:ea typeface="Arial"/>
                <a:cs typeface="Arial"/>
                <a:sym typeface="Arial"/>
              </a:rPr>
              <a:t>Rule:</a:t>
            </a:r>
            <a:r>
              <a:rPr lang="en" sz="1400">
                <a:highlight>
                  <a:schemeClr val="dk1"/>
                </a:highlight>
                <a:latin typeface="Arial"/>
                <a:ea typeface="Arial"/>
                <a:cs typeface="Arial"/>
                <a:sym typeface="Arial"/>
              </a:rPr>
              <a:t> Never commit directly to</a:t>
            </a:r>
            <a:r>
              <a:rPr lang="en" sz="1400">
                <a:solidFill>
                  <a:srgbClr val="000000"/>
                </a:solidFill>
                <a:highlight>
                  <a:schemeClr val="dk1"/>
                </a:highlight>
                <a:latin typeface="Arial"/>
                <a:ea typeface="Arial"/>
                <a:cs typeface="Arial"/>
                <a:sym typeface="Arial"/>
              </a:rPr>
              <a:t> </a:t>
            </a:r>
            <a:r>
              <a:rPr lang="en" sz="1400">
                <a:solidFill>
                  <a:srgbClr val="188038"/>
                </a:solidFill>
                <a:highlight>
                  <a:schemeClr val="dk1"/>
                </a:highlight>
                <a:latin typeface="Arial"/>
                <a:ea typeface="Arial"/>
                <a:cs typeface="Arial"/>
                <a:sym typeface="Arial"/>
              </a:rPr>
              <a:t>main</a:t>
            </a:r>
            <a:r>
              <a:rPr lang="en" sz="1400">
                <a:solidFill>
                  <a:srgbClr val="000000"/>
                </a:solidFill>
                <a:highlight>
                  <a:schemeClr val="dk1"/>
                </a:highlight>
                <a:latin typeface="Arial"/>
                <a:ea typeface="Arial"/>
                <a:cs typeface="Arial"/>
                <a:sym typeface="Arial"/>
              </a:rPr>
              <a:t>.</a:t>
            </a:r>
            <a:endParaRPr sz="1400">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rPr b="1" lang="en" sz="1400">
                <a:solidFill>
                  <a:srgbClr val="188038"/>
                </a:solidFill>
                <a:highlight>
                  <a:schemeClr val="dk1"/>
                </a:highlight>
                <a:latin typeface="Arial"/>
                <a:ea typeface="Arial"/>
                <a:cs typeface="Arial"/>
                <a:sym typeface="Arial"/>
              </a:rPr>
              <a:t>develop</a:t>
            </a:r>
            <a:r>
              <a:rPr lang="en" sz="1400">
                <a:solidFill>
                  <a:srgbClr val="000000"/>
                </a:solidFill>
                <a:highlight>
                  <a:schemeClr val="dk1"/>
                </a:highlight>
                <a:latin typeface="Arial"/>
                <a:ea typeface="Arial"/>
                <a:cs typeface="Arial"/>
                <a:sym typeface="Arial"/>
              </a:rPr>
              <a:t>: </a:t>
            </a:r>
            <a:r>
              <a:rPr lang="en" sz="1400">
                <a:highlight>
                  <a:schemeClr val="dk1"/>
                </a:highlight>
                <a:latin typeface="Arial"/>
                <a:ea typeface="Arial"/>
                <a:cs typeface="Arial"/>
                <a:sym typeface="Arial"/>
              </a:rPr>
              <a:t>This is the integration branch. This is where the team merges their work before it is ready to be finalized for a sprint milestone.</a:t>
            </a:r>
            <a:endParaRPr sz="1400">
              <a:highlight>
                <a:schemeClr val="dk1"/>
              </a:highlight>
              <a:latin typeface="Arial"/>
              <a:ea typeface="Arial"/>
              <a:cs typeface="Arial"/>
              <a:sym typeface="Arial"/>
            </a:endParaRPr>
          </a:p>
          <a:p>
            <a:pPr indent="-310833" lvl="0" marL="457200" rtl="0" algn="l">
              <a:spcBef>
                <a:spcPts val="0"/>
              </a:spcBef>
              <a:spcAft>
                <a:spcPts val="0"/>
              </a:spcAft>
              <a:buClr>
                <a:srgbClr val="000000"/>
              </a:buClr>
              <a:buSzPct val="100000"/>
              <a:buFont typeface="Arial"/>
              <a:buChar char="●"/>
            </a:pPr>
            <a:r>
              <a:rPr b="1" lang="en" sz="1400">
                <a:highlight>
                  <a:schemeClr val="dk1"/>
                </a:highlight>
                <a:latin typeface="Arial"/>
                <a:ea typeface="Arial"/>
                <a:cs typeface="Arial"/>
                <a:sym typeface="Arial"/>
              </a:rPr>
              <a:t>Rule:</a:t>
            </a:r>
            <a:r>
              <a:rPr lang="en" sz="1400">
                <a:highlight>
                  <a:schemeClr val="dk1"/>
                </a:highlight>
                <a:latin typeface="Arial"/>
                <a:ea typeface="Arial"/>
                <a:cs typeface="Arial"/>
                <a:sym typeface="Arial"/>
              </a:rPr>
              <a:t> If you are working on a new feature or bug fix, you branch off of</a:t>
            </a:r>
            <a:r>
              <a:rPr lang="en" sz="1400">
                <a:solidFill>
                  <a:srgbClr val="000000"/>
                </a:solidFill>
                <a:highlight>
                  <a:schemeClr val="dk1"/>
                </a:highlight>
                <a:latin typeface="Arial"/>
                <a:ea typeface="Arial"/>
                <a:cs typeface="Arial"/>
                <a:sym typeface="Arial"/>
              </a:rPr>
              <a:t> </a:t>
            </a:r>
            <a:r>
              <a:rPr lang="en" sz="1400">
                <a:solidFill>
                  <a:srgbClr val="188038"/>
                </a:solidFill>
                <a:highlight>
                  <a:schemeClr val="dk1"/>
                </a:highlight>
                <a:latin typeface="Arial"/>
                <a:ea typeface="Arial"/>
                <a:cs typeface="Arial"/>
                <a:sym typeface="Arial"/>
              </a:rPr>
              <a:t>develop</a:t>
            </a:r>
            <a:r>
              <a:rPr lang="en" sz="1400">
                <a:solidFill>
                  <a:srgbClr val="000000"/>
                </a:solidFill>
                <a:highlight>
                  <a:schemeClr val="dk1"/>
                </a:highlight>
                <a:latin typeface="Arial"/>
                <a:ea typeface="Arial"/>
                <a:cs typeface="Arial"/>
                <a:sym typeface="Arial"/>
              </a:rPr>
              <a:t>.</a:t>
            </a:r>
            <a:endParaRPr sz="1400">
              <a:solidFill>
                <a:srgbClr val="000000"/>
              </a:solidFill>
              <a:highlight>
                <a:schemeClr val="dk1"/>
              </a:highlight>
              <a:latin typeface="Arial"/>
              <a:ea typeface="Arial"/>
              <a:cs typeface="Arial"/>
              <a:sym typeface="Arial"/>
            </a:endParaRPr>
          </a:p>
          <a:p>
            <a:pPr indent="0" lvl="0" marL="0" rtl="0" algn="l">
              <a:spcBef>
                <a:spcPts val="1200"/>
              </a:spcBef>
              <a:spcAft>
                <a:spcPts val="0"/>
              </a:spcAft>
              <a:buNone/>
            </a:pPr>
            <a:r>
              <a:rPr b="1" lang="en" sz="1400">
                <a:solidFill>
                  <a:srgbClr val="188038"/>
                </a:solidFill>
                <a:highlight>
                  <a:schemeClr val="dk1"/>
                </a:highlight>
                <a:latin typeface="Arial"/>
                <a:ea typeface="Arial"/>
                <a:cs typeface="Arial"/>
                <a:sym typeface="Arial"/>
              </a:rPr>
              <a:t>feature/*</a:t>
            </a:r>
            <a:r>
              <a:rPr b="1" lang="en" sz="1400">
                <a:solidFill>
                  <a:srgbClr val="000000"/>
                </a:solidFill>
                <a:highlight>
                  <a:schemeClr val="dk1"/>
                </a:highlight>
                <a:latin typeface="Arial"/>
                <a:ea typeface="Arial"/>
                <a:cs typeface="Arial"/>
                <a:sym typeface="Arial"/>
              </a:rPr>
              <a:t> </a:t>
            </a:r>
            <a:r>
              <a:rPr b="1" lang="en" sz="1400">
                <a:highlight>
                  <a:schemeClr val="dk1"/>
                </a:highlight>
                <a:latin typeface="Arial"/>
                <a:ea typeface="Arial"/>
                <a:cs typeface="Arial"/>
                <a:sym typeface="Arial"/>
              </a:rPr>
              <a:t>(Feature Branches)</a:t>
            </a:r>
            <a:r>
              <a:rPr lang="en" sz="1400">
                <a:highlight>
                  <a:schemeClr val="dk1"/>
                </a:highlight>
                <a:latin typeface="Arial"/>
                <a:ea typeface="Arial"/>
                <a:cs typeface="Arial"/>
                <a:sym typeface="Arial"/>
              </a:rPr>
              <a:t>: Create a new branch for every task (e.g., </a:t>
            </a:r>
            <a:r>
              <a:rPr lang="en" sz="1400">
                <a:solidFill>
                  <a:srgbClr val="188038"/>
                </a:solidFill>
                <a:highlight>
                  <a:schemeClr val="dk1"/>
                </a:highlight>
                <a:latin typeface="Arial"/>
                <a:ea typeface="Arial"/>
                <a:cs typeface="Arial"/>
                <a:sym typeface="Arial"/>
              </a:rPr>
              <a:t>feature/resume-parser-api</a:t>
            </a:r>
            <a:r>
              <a:rPr lang="en" sz="1400">
                <a:solidFill>
                  <a:srgbClr val="000000"/>
                </a:solidFill>
                <a:highlight>
                  <a:schemeClr val="dk1"/>
                </a:highlight>
                <a:latin typeface="Arial"/>
                <a:ea typeface="Arial"/>
                <a:cs typeface="Arial"/>
                <a:sym typeface="Arial"/>
              </a:rPr>
              <a:t>, </a:t>
            </a:r>
            <a:r>
              <a:rPr lang="en" sz="1400">
                <a:solidFill>
                  <a:srgbClr val="188038"/>
                </a:solidFill>
                <a:highlight>
                  <a:schemeClr val="dk1"/>
                </a:highlight>
                <a:latin typeface="Arial"/>
                <a:ea typeface="Arial"/>
                <a:cs typeface="Arial"/>
                <a:sym typeface="Arial"/>
              </a:rPr>
              <a:t>feature/sprint-1-ui</a:t>
            </a:r>
            <a:r>
              <a:rPr lang="en" sz="1400">
                <a:solidFill>
                  <a:srgbClr val="000000"/>
                </a:solidFill>
                <a:highlight>
                  <a:schemeClr val="dk1"/>
                </a:highlight>
                <a:latin typeface="Arial"/>
                <a:ea typeface="Arial"/>
                <a:cs typeface="Arial"/>
                <a:sym typeface="Arial"/>
              </a:rPr>
              <a:t>).</a:t>
            </a:r>
            <a:endParaRPr sz="1400">
              <a:solidFill>
                <a:srgbClr val="000000"/>
              </a:solidFill>
              <a:highlight>
                <a:schemeClr val="dk1"/>
              </a:highlight>
              <a:latin typeface="Arial"/>
              <a:ea typeface="Arial"/>
              <a:cs typeface="Arial"/>
              <a:sym typeface="Arial"/>
            </a:endParaRPr>
          </a:p>
          <a:p>
            <a:pPr indent="-310833" lvl="0" marL="457200" rtl="0" algn="l">
              <a:spcBef>
                <a:spcPts val="0"/>
              </a:spcBef>
              <a:spcAft>
                <a:spcPts val="0"/>
              </a:spcAft>
              <a:buClr>
                <a:srgbClr val="000000"/>
              </a:buClr>
              <a:buSzPct val="100000"/>
              <a:buFont typeface="Arial"/>
              <a:buChar char="●"/>
            </a:pPr>
            <a:r>
              <a:rPr b="1" lang="en" sz="1400">
                <a:highlight>
                  <a:schemeClr val="dk1"/>
                </a:highlight>
                <a:latin typeface="Arial"/>
                <a:ea typeface="Arial"/>
                <a:cs typeface="Arial"/>
                <a:sym typeface="Arial"/>
              </a:rPr>
              <a:t>Rule:</a:t>
            </a:r>
            <a:r>
              <a:rPr lang="en" sz="1400">
                <a:highlight>
                  <a:schemeClr val="dk1"/>
                </a:highlight>
                <a:latin typeface="Arial"/>
                <a:ea typeface="Arial"/>
                <a:cs typeface="Arial"/>
                <a:sym typeface="Arial"/>
              </a:rPr>
              <a:t> Once a feature is finished and tested, merge it back into</a:t>
            </a:r>
            <a:r>
              <a:rPr lang="en" sz="1400">
                <a:solidFill>
                  <a:srgbClr val="000000"/>
                </a:solidFill>
                <a:highlight>
                  <a:schemeClr val="dk1"/>
                </a:highlight>
                <a:latin typeface="Arial"/>
                <a:ea typeface="Arial"/>
                <a:cs typeface="Arial"/>
                <a:sym typeface="Arial"/>
              </a:rPr>
              <a:t> </a:t>
            </a:r>
            <a:r>
              <a:rPr lang="en" sz="1400">
                <a:solidFill>
                  <a:srgbClr val="188038"/>
                </a:solidFill>
                <a:highlight>
                  <a:schemeClr val="dk1"/>
                </a:highlight>
                <a:latin typeface="Arial"/>
                <a:ea typeface="Arial"/>
                <a:cs typeface="Arial"/>
                <a:sym typeface="Arial"/>
              </a:rPr>
              <a:t>develop</a:t>
            </a:r>
            <a:r>
              <a:rPr lang="en" sz="1400">
                <a:solidFill>
                  <a:srgbClr val="000000"/>
                </a:solidFill>
                <a:highlight>
                  <a:schemeClr val="dk1"/>
                </a:highlight>
                <a:latin typeface="Arial"/>
                <a:ea typeface="Arial"/>
                <a:cs typeface="Arial"/>
                <a:sym typeface="Arial"/>
              </a:rPr>
              <a:t> </a:t>
            </a:r>
            <a:r>
              <a:rPr lang="en" sz="1400">
                <a:highlight>
                  <a:schemeClr val="dk1"/>
                </a:highlight>
                <a:latin typeface="Arial"/>
                <a:ea typeface="Arial"/>
                <a:cs typeface="Arial"/>
                <a:sym typeface="Arial"/>
              </a:rPr>
              <a:t>via a Pull Request (PR).</a:t>
            </a:r>
            <a:endParaRPr sz="1400">
              <a:highlight>
                <a:schemeClr val="dk1"/>
              </a:highlight>
              <a:latin typeface="Arial"/>
              <a:ea typeface="Arial"/>
              <a:cs typeface="Arial"/>
              <a:sym typeface="Arial"/>
            </a:endParaRPr>
          </a:p>
          <a:p>
            <a:pPr indent="0" lvl="0" marL="0" rtl="0" algn="l">
              <a:spcBef>
                <a:spcPts val="1200"/>
              </a:spcBef>
              <a:spcAft>
                <a:spcPts val="0"/>
              </a:spcAft>
              <a:buNone/>
            </a:pPr>
            <a:r>
              <a:rPr lang="en" sz="1400">
                <a:highlight>
                  <a:schemeClr val="dk1"/>
                </a:highlight>
                <a:latin typeface="Arial"/>
                <a:ea typeface="Arial"/>
                <a:cs typeface="Arial"/>
                <a:sym typeface="Arial"/>
              </a:rPr>
              <a:t>We will start with a blank main, branch off develop (and features will branch off of that).  At the end of Sprint 1, we will merge all working branches into develop, then merge develop into main.  There will then be a code freeze until Sprint 2.</a:t>
            </a:r>
            <a:endParaRPr sz="1400">
              <a:highlight>
                <a:schemeClr val="dk1"/>
              </a:highlight>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Branching Strategy (con’t)</a:t>
            </a:r>
            <a:endParaRPr/>
          </a:p>
        </p:txBody>
      </p:sp>
      <p:sp>
        <p:nvSpPr>
          <p:cNvPr id="225" name="Google Shape;225;p2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Pull before you push.  Always pull changes from </a:t>
            </a:r>
            <a:r>
              <a:rPr lang="en">
                <a:solidFill>
                  <a:srgbClr val="188038"/>
                </a:solidFill>
              </a:rPr>
              <a:t>develop </a:t>
            </a:r>
            <a:r>
              <a:rPr lang="en"/>
              <a:t>into the feature branch, not from main.</a:t>
            </a:r>
            <a:endParaRPr/>
          </a:p>
          <a:p>
            <a:pPr indent="-311150" lvl="0" marL="457200" rtl="0" algn="l">
              <a:spcBef>
                <a:spcPts val="0"/>
              </a:spcBef>
              <a:spcAft>
                <a:spcPts val="0"/>
              </a:spcAft>
              <a:buSzPts val="1300"/>
              <a:buChar char="●"/>
            </a:pPr>
            <a:r>
              <a:rPr lang="en"/>
              <a:t>Small, atomic commits.  Keep commits focused on a </a:t>
            </a:r>
            <a:r>
              <a:rPr lang="en"/>
              <a:t>single</a:t>
            </a:r>
            <a:r>
              <a:rPr lang="en"/>
              <a:t> task, such as “add regex validation to resume parser.”</a:t>
            </a:r>
            <a:endParaRPr/>
          </a:p>
          <a:p>
            <a:pPr indent="-311150" lvl="0" marL="457200" rtl="0" algn="l">
              <a:spcBef>
                <a:spcPts val="0"/>
              </a:spcBef>
              <a:spcAft>
                <a:spcPts val="0"/>
              </a:spcAft>
              <a:buSzPts val="1300"/>
              <a:buChar char="●"/>
            </a:pPr>
            <a:r>
              <a:rPr lang="en"/>
              <a:t>One Feature, One Branch.  Keep each task in its own branch.  Example: if working on resume parser and decide to fix a UI bug, make two separate branches from </a:t>
            </a:r>
            <a:r>
              <a:rPr lang="en">
                <a:solidFill>
                  <a:srgbClr val="188038"/>
                </a:solidFill>
              </a:rPr>
              <a:t>develop</a:t>
            </a:r>
            <a:r>
              <a:rPr lang="en"/>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Further Discussion:</a:t>
            </a:r>
            <a:endParaRPr/>
          </a:p>
        </p:txBody>
      </p:sp>
      <p:sp>
        <p:nvSpPr>
          <p:cNvPr id="231" name="Google Shape;231;p2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if someone is blocked?</a:t>
            </a:r>
            <a:endParaRPr/>
          </a:p>
          <a:p>
            <a:pPr indent="0" lvl="0" marL="0" rtl="0" algn="l">
              <a:spcBef>
                <a:spcPts val="1200"/>
              </a:spcBef>
              <a:spcAft>
                <a:spcPts val="0"/>
              </a:spcAft>
              <a:buNone/>
            </a:pPr>
            <a:r>
              <a:rPr lang="en"/>
              <a:t>Async Communication?</a:t>
            </a:r>
            <a:endParaRPr/>
          </a:p>
          <a:p>
            <a:pPr indent="0" lvl="0" marL="0" rtl="0" algn="l">
              <a:spcBef>
                <a:spcPts val="1200"/>
              </a:spcBef>
              <a:spcAft>
                <a:spcPts val="0"/>
              </a:spcAft>
              <a:buNone/>
            </a:pPr>
            <a:r>
              <a:rPr lang="en"/>
              <a:t>Stand-ups?</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AI Disclosure</a:t>
            </a:r>
            <a:endParaRPr/>
          </a:p>
        </p:txBody>
      </p:sp>
      <p:sp>
        <p:nvSpPr>
          <p:cNvPr id="237" name="Google Shape;237;p2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-Disclose any use of AI in code, documentation or process.</a:t>
            </a:r>
            <a:endParaRPr/>
          </a:p>
          <a:p>
            <a:pPr indent="0" lvl="0" marL="0" rtl="0" algn="l">
              <a:spcBef>
                <a:spcPts val="1200"/>
              </a:spcBef>
              <a:spcAft>
                <a:spcPts val="0"/>
              </a:spcAft>
              <a:buNone/>
            </a:pPr>
            <a:r>
              <a:rPr lang="en"/>
              <a:t>-AI Disclosure for this PPT:</a:t>
            </a:r>
            <a:endParaRPr/>
          </a:p>
          <a:p>
            <a:pPr indent="0" lvl="0" marL="0" rtl="0" algn="l">
              <a:spcBef>
                <a:spcPts val="1200"/>
              </a:spcBef>
              <a:spcAft>
                <a:spcPts val="0"/>
              </a:spcAft>
              <a:buNone/>
            </a:pPr>
            <a:r>
              <a:rPr lang="en"/>
              <a:t>	-What was used? Google Gemini Chat.</a:t>
            </a:r>
            <a:endParaRPr/>
          </a:p>
          <a:p>
            <a:pPr indent="0" lvl="0" marL="0" rtl="0" algn="l">
              <a:spcBef>
                <a:spcPts val="1200"/>
              </a:spcBef>
              <a:spcAft>
                <a:spcPts val="0"/>
              </a:spcAft>
              <a:buNone/>
            </a:pPr>
            <a:r>
              <a:rPr lang="en"/>
              <a:t>	-How was it applied? Generating examples for priority categories and proofreading.</a:t>
            </a:r>
            <a:endParaRPr/>
          </a:p>
          <a:p>
            <a:pPr indent="0" lvl="0" marL="0" rtl="0" algn="l">
              <a:spcBef>
                <a:spcPts val="1200"/>
              </a:spcBef>
              <a:spcAft>
                <a:spcPts val="0"/>
              </a:spcAft>
              <a:buNone/>
            </a:pPr>
            <a:r>
              <a:rPr lang="en"/>
              <a:t>	-Why was this the right choice? Needed assistance in proofing and finding examples.</a:t>
            </a:r>
            <a:endParaRPr/>
          </a:p>
          <a:p>
            <a:pPr indent="0" lvl="0" marL="0" rtl="0" algn="l">
              <a:spcBef>
                <a:spcPts val="1200"/>
              </a:spcBef>
              <a:spcAft>
                <a:spcPts val="0"/>
              </a:spcAft>
              <a:buNone/>
            </a:pPr>
            <a:r>
              <a:rPr lang="en"/>
              <a:t>-AI Disclosure from Sprint 0:</a:t>
            </a:r>
            <a:endParaRPr/>
          </a:p>
          <a:p>
            <a:pPr indent="0" lvl="0" marL="0" rtl="0" algn="l">
              <a:spcBef>
                <a:spcPts val="1200"/>
              </a:spcBef>
              <a:spcAft>
                <a:spcPts val="1200"/>
              </a:spcAft>
              <a:buNone/>
            </a:pPr>
            <a:r>
              <a:rPr lang="en"/>
              <a:t>ChatGPT was used to generate the project logo.  It was used in the interest of time.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0"/>
          <p:cNvSpPr txBox="1"/>
          <p:nvPr>
            <p:ph type="title"/>
          </p:nvPr>
        </p:nvSpPr>
        <p:spPr>
          <a:xfrm>
            <a:off x="1297500" y="422725"/>
            <a:ext cx="7038900" cy="42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Week 1</a:t>
            </a:r>
            <a:endParaRPr/>
          </a:p>
        </p:txBody>
      </p:sp>
      <p:sp>
        <p:nvSpPr>
          <p:cNvPr id="243" name="Google Shape;243;p3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Complete User Stories</a:t>
            </a:r>
            <a:endParaRPr/>
          </a:p>
          <a:p>
            <a:pPr indent="-311150" lvl="0" marL="457200" rtl="0" algn="l">
              <a:spcBef>
                <a:spcPts val="0"/>
              </a:spcBef>
              <a:spcAft>
                <a:spcPts val="0"/>
              </a:spcAft>
              <a:buSzPts val="1300"/>
              <a:buChar char="●"/>
            </a:pPr>
            <a:r>
              <a:rPr lang="en"/>
              <a:t>QA/QC Test Cases</a:t>
            </a:r>
            <a:endParaRPr/>
          </a:p>
          <a:p>
            <a:pPr indent="-311150" lvl="0" marL="457200" rtl="0" algn="l">
              <a:spcBef>
                <a:spcPts val="0"/>
              </a:spcBef>
              <a:spcAft>
                <a:spcPts val="0"/>
              </a:spcAft>
              <a:buSzPts val="1300"/>
              <a:buChar char="●"/>
            </a:pPr>
            <a:r>
              <a:rPr lang="en"/>
              <a:t>All cards in the Ready column so we can start coding</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