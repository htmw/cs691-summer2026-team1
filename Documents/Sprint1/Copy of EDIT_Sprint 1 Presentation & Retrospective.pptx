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Montserrat"/>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42e72c8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42e72c8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c673ce968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ec673ce968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42e72c87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42e72c87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42e72c87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42e72c87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c673ce968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c673ce968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c673ce968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c673ce968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42e72c87a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f42e72c87a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42e72c87a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f42e72c87a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42e72c87a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f42e72c87a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42e72c87a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42e72c87a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42e72c87a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f42e72c87a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42e72c87a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f42e72c87a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42e72c87a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42e72c87a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4a48b1e2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4a48b1e2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4a48b1e2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4a48b1e2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4a48b1e2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f4a48b1e2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4a48b1e2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f4a48b1e2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4a48b1e2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f4a48b1e2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42e72c87a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f42e72c87a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4e4d533eb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4e4d533e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4e4d533e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f4e4d533e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4e4d533e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4e4d533e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4e4d533eb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f4e4d533eb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42e72c87a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42e72c87a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0" name="Shape 130"/>
        <p:cNvGrpSpPr/>
        <p:nvPr/>
      </p:nvGrpSpPr>
      <p:grpSpPr>
        <a:xfrm>
          <a:off x="0" y="0"/>
          <a:ext cx="0" cy="0"/>
          <a:chOff x="0" y="0"/>
          <a:chExt cx="0" cy="0"/>
        </a:xfrm>
      </p:grpSpPr>
      <p:sp>
        <p:nvSpPr>
          <p:cNvPr id="131" name="Google Shape;131;p13"/>
          <p:cNvSpPr txBox="1"/>
          <p:nvPr>
            <p:ph type="title"/>
          </p:nvPr>
        </p:nvSpPr>
        <p:spPr>
          <a:xfrm>
            <a:off x="390906" y="733806"/>
            <a:ext cx="8367000" cy="10974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13"/>
          <p:cNvSpPr txBox="1"/>
          <p:nvPr>
            <p:ph idx="1" type="body"/>
          </p:nvPr>
        </p:nvSpPr>
        <p:spPr>
          <a:xfrm>
            <a:off x="390906" y="1933956"/>
            <a:ext cx="8367000" cy="2825700"/>
          </a:xfrm>
          <a:prstGeom prst="rect">
            <a:avLst/>
          </a:prstGeom>
          <a:noFill/>
          <a:ln>
            <a:noFill/>
          </a:ln>
        </p:spPr>
        <p:txBody>
          <a:bodyPr anchorCtr="0" anchor="t" bIns="34275" lIns="68575" spcFirstLastPara="1" rIns="68575" wrap="square" tIns="34275">
            <a:normAutofit/>
          </a:bodyPr>
          <a:lstStyle>
            <a:lvl1pPr indent="-317500" lvl="0" marL="457200" algn="l">
              <a:lnSpc>
                <a:spcPct val="110000"/>
              </a:lnSpc>
              <a:spcBef>
                <a:spcPts val="800"/>
              </a:spcBef>
              <a:spcAft>
                <a:spcPts val="0"/>
              </a:spcAft>
              <a:buClr>
                <a:schemeClr val="dk1"/>
              </a:buClr>
              <a:buSzPts val="1400"/>
              <a:buChar char="●"/>
              <a:defRPr/>
            </a:lvl1pPr>
            <a:lvl2pPr indent="-317500" lvl="1" marL="914400" algn="l">
              <a:lnSpc>
                <a:spcPct val="110000"/>
              </a:lnSpc>
              <a:spcBef>
                <a:spcPts val="1200"/>
              </a:spcBef>
              <a:spcAft>
                <a:spcPts val="0"/>
              </a:spcAft>
              <a:buClr>
                <a:schemeClr val="dk1"/>
              </a:buClr>
              <a:buSzPts val="1400"/>
              <a:buChar char="○"/>
              <a:defRPr/>
            </a:lvl2pPr>
            <a:lvl3pPr indent="-317500" lvl="2" marL="1371600" algn="l">
              <a:lnSpc>
                <a:spcPct val="110000"/>
              </a:lnSpc>
              <a:spcBef>
                <a:spcPts val="1200"/>
              </a:spcBef>
              <a:spcAft>
                <a:spcPts val="0"/>
              </a:spcAft>
              <a:buClr>
                <a:schemeClr val="dk1"/>
              </a:buClr>
              <a:buSzPts val="1400"/>
              <a:buChar char="■"/>
              <a:defRPr/>
            </a:lvl3pPr>
            <a:lvl4pPr indent="-317500" lvl="3" marL="1828800" algn="l">
              <a:lnSpc>
                <a:spcPct val="110000"/>
              </a:lnSpc>
              <a:spcBef>
                <a:spcPts val="1200"/>
              </a:spcBef>
              <a:spcAft>
                <a:spcPts val="0"/>
              </a:spcAft>
              <a:buClr>
                <a:schemeClr val="dk1"/>
              </a:buClr>
              <a:buSzPts val="1400"/>
              <a:buChar char="●"/>
              <a:defRPr/>
            </a:lvl4pPr>
            <a:lvl5pPr indent="-317500" lvl="4" marL="2286000" algn="l">
              <a:lnSpc>
                <a:spcPct val="11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33" name="Google Shape;133;p13"/>
          <p:cNvSpPr txBox="1"/>
          <p:nvPr>
            <p:ph idx="10" type="dt"/>
          </p:nvPr>
        </p:nvSpPr>
        <p:spPr>
          <a:xfrm>
            <a:off x="390906" y="4814316"/>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34" name="Google Shape;134;p13"/>
          <p:cNvSpPr txBox="1"/>
          <p:nvPr>
            <p:ph idx="11" type="ftr"/>
          </p:nvPr>
        </p:nvSpPr>
        <p:spPr>
          <a:xfrm>
            <a:off x="390906" y="75438"/>
            <a:ext cx="30861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35" name="Google Shape;135;p13"/>
          <p:cNvSpPr txBox="1"/>
          <p:nvPr>
            <p:ph idx="12" type="sldNum"/>
          </p:nvPr>
        </p:nvSpPr>
        <p:spPr>
          <a:xfrm>
            <a:off x="8593074" y="4814316"/>
            <a:ext cx="4803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github.com/orgs/2026-PaceU-Capstone/projects/2/views/1" TargetMode="Externa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github.com/orgs/2026-PaceU-Capstone/projects/2/views/1" TargetMode="Externa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hyperlink" Target="https://ideaboardz.com/for/Sprint%201%20Retrospective/5796994" TargetMode="Externa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Sprint 1 Presentation &amp; Retrospective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Agenda</a:t>
            </a:r>
            <a:endParaRPr/>
          </a:p>
        </p:txBody>
      </p:sp>
      <p:sp>
        <p:nvSpPr>
          <p:cNvPr id="146" name="Google Shape;146;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Old Business: Team Member Roles &amp; Responsibilities, Project Description, Team Working Agreement, Personas, MVP, </a:t>
            </a:r>
            <a:r>
              <a:rPr lang="en"/>
              <a:t>Technology Stack.</a:t>
            </a:r>
            <a:endParaRPr/>
          </a:p>
          <a:p>
            <a:pPr indent="0" lvl="0" marL="0" rtl="0" algn="l">
              <a:spcBef>
                <a:spcPts val="1200"/>
              </a:spcBef>
              <a:spcAft>
                <a:spcPts val="0"/>
              </a:spcAft>
              <a:buNone/>
            </a:pPr>
            <a:r>
              <a:rPr lang="en"/>
              <a:t>New Business: Diagrams, Sprint 1 Kanban Status, Metrics.</a:t>
            </a:r>
            <a:endParaRPr/>
          </a:p>
          <a:p>
            <a:pPr indent="0" lvl="0" marL="0" rtl="0" algn="l">
              <a:spcBef>
                <a:spcPts val="1200"/>
              </a:spcBef>
              <a:spcAft>
                <a:spcPts val="0"/>
              </a:spcAft>
              <a:buNone/>
            </a:pPr>
            <a:r>
              <a:rPr lang="en"/>
              <a:t>Demo of Current Product</a:t>
            </a:r>
            <a:endParaRPr/>
          </a:p>
          <a:p>
            <a:pPr indent="0" lvl="0" marL="0" rtl="0" algn="l">
              <a:spcBef>
                <a:spcPts val="1200"/>
              </a:spcBef>
              <a:spcAft>
                <a:spcPts val="0"/>
              </a:spcAft>
              <a:buNone/>
            </a:pPr>
            <a:r>
              <a:rPr lang="en"/>
              <a:t>Retrospective (IdeaBoardz)</a:t>
            </a:r>
            <a:endParaRPr/>
          </a:p>
          <a:p>
            <a:pPr indent="0" lvl="0" marL="0" rtl="0" algn="l">
              <a:spcBef>
                <a:spcPts val="1200"/>
              </a:spcBef>
              <a:spcAft>
                <a:spcPts val="1200"/>
              </a:spcAft>
              <a:buNone/>
            </a:pPr>
            <a:r>
              <a:rPr lang="en"/>
              <a:t>Sprint 2 Planning &amp; Goals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297500" y="4746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a:t>
            </a:r>
            <a:endParaRPr/>
          </a:p>
        </p:txBody>
      </p:sp>
      <p:sp>
        <p:nvSpPr>
          <p:cNvPr id="152" name="Google Shape;152;p16"/>
          <p:cNvSpPr txBox="1"/>
          <p:nvPr>
            <p:ph idx="1" type="body"/>
          </p:nvPr>
        </p:nvSpPr>
        <p:spPr>
          <a:xfrm>
            <a:off x="1297500" y="1583275"/>
            <a:ext cx="70389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Charles Varga - DevOps/Tech Architect</a:t>
            </a:r>
            <a:endParaRPr/>
          </a:p>
          <a:p>
            <a:pPr indent="0" lvl="0" marL="0" rtl="0" algn="l">
              <a:spcBef>
                <a:spcPts val="1200"/>
              </a:spcBef>
              <a:spcAft>
                <a:spcPts val="0"/>
              </a:spcAft>
              <a:buNone/>
            </a:pPr>
            <a:r>
              <a:rPr lang="en"/>
              <a:t>Tara Edney - Frontend</a:t>
            </a:r>
            <a:endParaRPr/>
          </a:p>
          <a:p>
            <a:pPr indent="0" lvl="0" marL="0" rtl="0" algn="l">
              <a:spcBef>
                <a:spcPts val="1200"/>
              </a:spcBef>
              <a:spcAft>
                <a:spcPts val="0"/>
              </a:spcAft>
              <a:buNone/>
            </a:pPr>
            <a:r>
              <a:rPr lang="en"/>
              <a:t>Andeen Daley (Data Engineer/Database)</a:t>
            </a:r>
            <a:endParaRPr/>
          </a:p>
          <a:p>
            <a:pPr indent="0" lvl="0" marL="0" rtl="0" algn="l">
              <a:spcBef>
                <a:spcPts val="1200"/>
              </a:spcBef>
              <a:spcAft>
                <a:spcPts val="0"/>
              </a:spcAft>
              <a:buNone/>
            </a:pPr>
            <a:r>
              <a:rPr lang="en"/>
              <a:t>Younes Roumila (Backend)</a:t>
            </a:r>
            <a:endParaRPr/>
          </a:p>
          <a:p>
            <a:pPr indent="0" lvl="0" marL="0" rtl="0" algn="l">
              <a:spcBef>
                <a:spcPts val="1200"/>
              </a:spcBef>
              <a:spcAft>
                <a:spcPts val="0"/>
              </a:spcAft>
              <a:buNone/>
            </a:pPr>
            <a:r>
              <a:rPr lang="en"/>
              <a:t>Bella Gerken (AI/NLP Integration)</a:t>
            </a:r>
            <a:br>
              <a:rPr lang="en"/>
            </a:br>
            <a:br>
              <a:rPr lang="en"/>
            </a:br>
            <a:endParaRPr/>
          </a:p>
          <a:p>
            <a:pPr indent="0" lvl="0" marL="0" rtl="0" algn="l">
              <a:spcBef>
                <a:spcPts val="1200"/>
              </a:spcBef>
              <a:spcAft>
                <a:spcPts val="0"/>
              </a:spcAft>
              <a:buNone/>
            </a:pPr>
            <a:r>
              <a:rPr lang="en"/>
              <a:t>QA/QC 1 - Charles Varga</a:t>
            </a:r>
            <a:endParaRPr/>
          </a:p>
          <a:p>
            <a:pPr indent="0" lvl="0" marL="0" rtl="0" algn="l">
              <a:spcBef>
                <a:spcPts val="1200"/>
              </a:spcBef>
              <a:spcAft>
                <a:spcPts val="1200"/>
              </a:spcAft>
              <a:buNone/>
            </a:pPr>
            <a:r>
              <a:rPr lang="en"/>
              <a:t>QA/QC 2 - James Simpson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Improvements from Feedback</a:t>
            </a:r>
            <a:endParaRPr/>
          </a:p>
        </p:txBody>
      </p:sp>
      <p:sp>
        <p:nvSpPr>
          <p:cNvPr id="158" name="Google Shape;158;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-Using IdeaBoardz for retrospective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Project Description</a:t>
            </a:r>
            <a:endParaRPr b="1"/>
          </a:p>
        </p:txBody>
      </p:sp>
      <p:sp>
        <p:nvSpPr>
          <p:cNvPr id="164" name="Google Shape;164;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lnSpc>
                <a:spcPct val="110000"/>
              </a:lnSpc>
              <a:spcBef>
                <a:spcPts val="0"/>
              </a:spcBef>
              <a:spcAft>
                <a:spcPts val="0"/>
              </a:spcAft>
              <a:buClr>
                <a:srgbClr val="000000"/>
              </a:buClr>
              <a:buSzPts val="1800"/>
              <a:buFont typeface="Arial"/>
              <a:buNone/>
            </a:pPr>
            <a:r>
              <a:rPr lang="en" sz="1800">
                <a:latin typeface="Arial"/>
                <a:ea typeface="Arial"/>
                <a:cs typeface="Arial"/>
                <a:sym typeface="Arial"/>
              </a:rPr>
              <a:t>The Intelligent Academic Path Optimizer is a proposed application which will streamline the academic advising workflow. The app is designed to use AI to facilitate decision making when generating a conflict-free academic schedule for students. By utilizing the Constraint Satisfaction Problem algorithms and predictive modeling, the application will dynamically output the most efficient path to graduation based on specific student parameters.</a:t>
            </a:r>
            <a:endParaRPr sz="18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Working Agreement</a:t>
            </a:r>
            <a:endParaRPr/>
          </a:p>
        </p:txBody>
      </p:sp>
      <p:sp>
        <p:nvSpPr>
          <p:cNvPr id="170" name="Google Shape;170;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0" lvl="0" marL="0" rtl="0" algn="l">
              <a:lnSpc>
                <a:spcPct val="115833"/>
              </a:lnSpc>
              <a:spcBef>
                <a:spcPts val="0"/>
              </a:spcBef>
              <a:spcAft>
                <a:spcPts val="0"/>
              </a:spcAft>
              <a:buNone/>
            </a:pPr>
            <a:r>
              <a:t/>
            </a:r>
            <a:endParaRPr sz="1200">
              <a:latin typeface="Aptos"/>
              <a:ea typeface="Aptos"/>
              <a:cs typeface="Aptos"/>
              <a:sym typeface="Aptos"/>
            </a:endParaRPr>
          </a:p>
          <a:p>
            <a:pPr indent="-304800" lvl="0" marL="457200" rtl="0" algn="l">
              <a:lnSpc>
                <a:spcPct val="115833"/>
              </a:lnSpc>
              <a:spcBef>
                <a:spcPts val="800"/>
              </a:spcBef>
              <a:spcAft>
                <a:spcPts val="0"/>
              </a:spcAft>
              <a:buSzPts val="1200"/>
              <a:buFont typeface="Aptos"/>
              <a:buChar char="●"/>
            </a:pPr>
            <a:r>
              <a:rPr lang="en" sz="1200">
                <a:latin typeface="Aptos"/>
                <a:ea typeface="Aptos"/>
                <a:cs typeface="Aptos"/>
                <a:sym typeface="Aptos"/>
              </a:rPr>
              <a:t>Decision Making – Consensus, voting when necessary.  Most decisions thus far have been reached by consensus, and the only vote that was taken was for the Project Logo, which was unanimous anyway.</a:t>
            </a:r>
            <a:endParaRPr sz="1200">
              <a:latin typeface="Aptos"/>
              <a:ea typeface="Aptos"/>
              <a:cs typeface="Aptos"/>
              <a:sym typeface="Aptos"/>
            </a:endParaRPr>
          </a:p>
          <a:p>
            <a:pPr indent="-304800" lvl="0" marL="457200" rtl="0" algn="l">
              <a:lnSpc>
                <a:spcPct val="115833"/>
              </a:lnSpc>
              <a:spcBef>
                <a:spcPts val="0"/>
              </a:spcBef>
              <a:spcAft>
                <a:spcPts val="0"/>
              </a:spcAft>
              <a:buSzPts val="1200"/>
              <a:buFont typeface="Aptos"/>
              <a:buChar char="●"/>
            </a:pPr>
            <a:r>
              <a:rPr lang="en" sz="1200">
                <a:latin typeface="Aptos"/>
                <a:ea typeface="Aptos"/>
                <a:cs typeface="Aptos"/>
                <a:sym typeface="Aptos"/>
              </a:rPr>
              <a:t>-Team meetings – Decided using When2Meet on a weekly basis.  Team has varying schedules week on week, so this is the best as opposed to a set meeting time.</a:t>
            </a:r>
            <a:endParaRPr sz="1200">
              <a:latin typeface="Aptos"/>
              <a:ea typeface="Aptos"/>
              <a:cs typeface="Aptos"/>
              <a:sym typeface="Aptos"/>
            </a:endParaRPr>
          </a:p>
          <a:p>
            <a:pPr indent="-304800" lvl="0" marL="457200" rtl="0" algn="l">
              <a:lnSpc>
                <a:spcPct val="115833"/>
              </a:lnSpc>
              <a:spcBef>
                <a:spcPts val="0"/>
              </a:spcBef>
              <a:spcAft>
                <a:spcPts val="0"/>
              </a:spcAft>
              <a:buSzPts val="1200"/>
              <a:buFont typeface="Aptos"/>
              <a:buChar char="●"/>
            </a:pPr>
            <a:r>
              <a:rPr lang="en" sz="1200">
                <a:latin typeface="Aptos"/>
                <a:ea typeface="Aptos"/>
                <a:cs typeface="Aptos"/>
                <a:sym typeface="Aptos"/>
              </a:rPr>
              <a:t>-Team keeps teem accountable.  We will use group accountability and help remind each other of deadlines.</a:t>
            </a:r>
            <a:endParaRPr sz="1200">
              <a:latin typeface="Aptos"/>
              <a:ea typeface="Aptos"/>
              <a:cs typeface="Aptos"/>
              <a:sym typeface="Aptos"/>
            </a:endParaRPr>
          </a:p>
          <a:p>
            <a:pPr indent="-304800" lvl="0" marL="457200" rtl="0" algn="l">
              <a:lnSpc>
                <a:spcPct val="115833"/>
              </a:lnSpc>
              <a:spcBef>
                <a:spcPts val="0"/>
              </a:spcBef>
              <a:spcAft>
                <a:spcPts val="0"/>
              </a:spcAft>
              <a:buSzPts val="1200"/>
              <a:buFont typeface="Aptos"/>
              <a:buChar char="●"/>
            </a:pPr>
            <a:r>
              <a:rPr lang="en" sz="1200">
                <a:latin typeface="Aptos"/>
                <a:ea typeface="Aptos"/>
                <a:cs typeface="Aptos"/>
                <a:sym typeface="Aptos"/>
              </a:rPr>
              <a:t>-Thus far, we have been planning for a few extra days at the end of each sprint just in case things were missed.  In Sprint 0, a few items were missed, but we had a few days clear things up.</a:t>
            </a:r>
            <a:endParaRPr sz="1200">
              <a:latin typeface="Aptos"/>
              <a:ea typeface="Aptos"/>
              <a:cs typeface="Aptos"/>
              <a:sym typeface="Aptos"/>
            </a:endParaRPr>
          </a:p>
          <a:p>
            <a:pPr indent="0" lvl="0" marL="0" rtl="0" algn="l">
              <a:spcBef>
                <a:spcPts val="8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1 Goals</a:t>
            </a:r>
            <a:endParaRPr/>
          </a:p>
        </p:txBody>
      </p:sp>
      <p:sp>
        <p:nvSpPr>
          <p:cNvPr id="176" name="Google Shape;176;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Building the core backend for the Python Optimization Engine.</a:t>
            </a:r>
            <a:endParaRPr/>
          </a:p>
          <a:p>
            <a:pPr indent="-311150" lvl="0" marL="457200" rtl="0" algn="l">
              <a:spcBef>
                <a:spcPts val="0"/>
              </a:spcBef>
              <a:spcAft>
                <a:spcPts val="0"/>
              </a:spcAft>
              <a:buSzPts val="1300"/>
              <a:buChar char="●"/>
            </a:pPr>
            <a:r>
              <a:rPr lang="en"/>
              <a:t>Drafting the basic visual UI.</a:t>
            </a:r>
            <a:endParaRPr/>
          </a:p>
          <a:p>
            <a:pPr indent="-311150" lvl="0" marL="457200" rtl="0" algn="l">
              <a:spcBef>
                <a:spcPts val="0"/>
              </a:spcBef>
              <a:spcAft>
                <a:spcPts val="0"/>
              </a:spcAft>
              <a:buSzPts val="1300"/>
              <a:buChar char="●"/>
            </a:pPr>
            <a:r>
              <a:rPr lang="en"/>
              <a:t>Setting up the initial AI resume parsing pipeline using Gemini.</a:t>
            </a:r>
            <a:endParaRPr/>
          </a:p>
          <a:p>
            <a:pPr indent="-311150" lvl="0" marL="457200" rtl="0" algn="l">
              <a:spcBef>
                <a:spcPts val="0"/>
              </a:spcBef>
              <a:spcAft>
                <a:spcPts val="0"/>
              </a:spcAft>
              <a:buSzPts val="1300"/>
              <a:buChar char="●"/>
            </a:pPr>
            <a:r>
              <a:rPr lang="en"/>
              <a:t>“Working Software”</a:t>
            </a:r>
            <a:endParaRPr/>
          </a:p>
          <a:p>
            <a:pPr indent="-311150" lvl="0" marL="457200" rtl="0" algn="l">
              <a:spcBef>
                <a:spcPts val="0"/>
              </a:spcBef>
              <a:spcAft>
                <a:spcPts val="0"/>
              </a:spcAft>
              <a:buSzPts val="1300"/>
              <a:buChar char="●"/>
            </a:pPr>
            <a:r>
              <a:rPr lang="en"/>
              <a:t>QA/Testing for User Stories that require them.</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390900" y="733802"/>
            <a:ext cx="8367000" cy="743700"/>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chemeClr val="dk1"/>
              </a:buClr>
              <a:buSzPts val="3300"/>
              <a:buFont typeface="Arial"/>
              <a:buNone/>
            </a:pPr>
            <a:r>
              <a:rPr lang="en"/>
              <a:t>Personas</a:t>
            </a:r>
            <a:endParaRPr/>
          </a:p>
        </p:txBody>
      </p:sp>
      <p:sp>
        <p:nvSpPr>
          <p:cNvPr id="182" name="Google Shape;182;p21"/>
          <p:cNvSpPr txBox="1"/>
          <p:nvPr/>
        </p:nvSpPr>
        <p:spPr>
          <a:xfrm>
            <a:off x="411480" y="1645920"/>
            <a:ext cx="2331600" cy="30861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900"/>
              </a:spcBef>
              <a:spcAft>
                <a:spcPts val="0"/>
              </a:spcAft>
              <a:buNone/>
            </a:pPr>
            <a:r>
              <a:rPr b="1" lang="en" sz="800">
                <a:solidFill>
                  <a:schemeClr val="lt1"/>
                </a:solidFill>
              </a:rPr>
              <a:t>Academic Advisor</a:t>
            </a:r>
            <a:r>
              <a:rPr lang="en" sz="800">
                <a:solidFill>
                  <a:schemeClr val="lt1"/>
                </a:solidFill>
              </a:rPr>
              <a:t>: Isabelle Johnson, 42 · Pace University</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Problem</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Manually verifies prereqs and builds schedules for 100+ students</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Changing requirements risk graduation delays</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Goals</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Accurate prereq and degree checks</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Automated scheduling</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Earlier risk flags</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More time to help students</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How IAPO Helps</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Generates valid pathways so she can focus on mentorship</a:t>
            </a:r>
            <a:endParaRPr sz="800">
              <a:solidFill>
                <a:schemeClr val="lt1"/>
              </a:solidFill>
            </a:endParaRPr>
          </a:p>
          <a:p>
            <a:pPr indent="0" lvl="0" marL="0" rtl="0" algn="l">
              <a:lnSpc>
                <a:spcPct val="115000"/>
              </a:lnSpc>
              <a:spcBef>
                <a:spcPts val="900"/>
              </a:spcBef>
              <a:spcAft>
                <a:spcPts val="0"/>
              </a:spcAft>
              <a:buClr>
                <a:schemeClr val="dk1"/>
              </a:buClr>
              <a:buSzPts val="800"/>
              <a:buFont typeface="Arial"/>
              <a:buNone/>
            </a:pPr>
            <a:r>
              <a:t/>
            </a:r>
            <a:endParaRPr b="1" sz="800">
              <a:solidFill>
                <a:schemeClr val="lt1"/>
              </a:solidFill>
            </a:endParaRPr>
          </a:p>
          <a:p>
            <a:pPr indent="0" lvl="0" marL="0" rtl="0" algn="l">
              <a:spcBef>
                <a:spcPts val="900"/>
              </a:spcBef>
              <a:spcAft>
                <a:spcPts val="0"/>
              </a:spcAft>
              <a:buNone/>
            </a:pPr>
            <a:r>
              <a:t/>
            </a:r>
            <a:endParaRPr sz="1400">
              <a:solidFill>
                <a:schemeClr val="lt1"/>
              </a:solidFill>
            </a:endParaRPr>
          </a:p>
        </p:txBody>
      </p:sp>
      <p:sp>
        <p:nvSpPr>
          <p:cNvPr id="183" name="Google Shape;183;p21"/>
          <p:cNvSpPr txBox="1"/>
          <p:nvPr/>
        </p:nvSpPr>
        <p:spPr>
          <a:xfrm>
            <a:off x="3086100" y="1645920"/>
            <a:ext cx="2331600" cy="30861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900"/>
              </a:spcBef>
              <a:spcAft>
                <a:spcPts val="0"/>
              </a:spcAft>
              <a:buNone/>
            </a:pPr>
            <a:r>
              <a:rPr b="1" lang="en" sz="800">
                <a:solidFill>
                  <a:schemeClr val="lt1"/>
                </a:solidFill>
              </a:rPr>
              <a:t>Graduate Student</a:t>
            </a:r>
            <a:r>
              <a:rPr lang="en" sz="800">
                <a:solidFill>
                  <a:schemeClr val="lt1"/>
                </a:solidFill>
              </a:rPr>
              <a:t>:  William Court, 24 · CS Major</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Problem</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Confused about prereqs and availability each semester</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Unclear requirements delay graduation and raise costs</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Goals</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Fastest path to graduate</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"What-if" planning before registering</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Balanced schedule</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Steady GPA</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How IAPO Helps</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Builds an optimized schedule from his credits, goal date, and load</a:t>
            </a:r>
            <a:endParaRPr sz="800">
              <a:solidFill>
                <a:schemeClr val="lt1"/>
              </a:solidFill>
            </a:endParaRPr>
          </a:p>
          <a:p>
            <a:pPr indent="0" lvl="0" marL="0" rtl="0" algn="l">
              <a:lnSpc>
                <a:spcPct val="115000"/>
              </a:lnSpc>
              <a:spcBef>
                <a:spcPts val="900"/>
              </a:spcBef>
              <a:spcAft>
                <a:spcPts val="0"/>
              </a:spcAft>
              <a:buClr>
                <a:schemeClr val="dk1"/>
              </a:buClr>
              <a:buSzPts val="800"/>
              <a:buFont typeface="Arial"/>
              <a:buNone/>
            </a:pPr>
            <a:r>
              <a:t/>
            </a:r>
            <a:endParaRPr b="1" sz="800">
              <a:solidFill>
                <a:schemeClr val="lt1"/>
              </a:solidFill>
            </a:endParaRPr>
          </a:p>
          <a:p>
            <a:pPr indent="0" lvl="0" marL="0" rtl="0" algn="l">
              <a:spcBef>
                <a:spcPts val="900"/>
              </a:spcBef>
              <a:spcAft>
                <a:spcPts val="0"/>
              </a:spcAft>
              <a:buNone/>
            </a:pPr>
            <a:r>
              <a:t/>
            </a:r>
            <a:endParaRPr sz="1400">
              <a:solidFill>
                <a:schemeClr val="lt1"/>
              </a:solidFill>
            </a:endParaRPr>
          </a:p>
        </p:txBody>
      </p:sp>
      <p:sp>
        <p:nvSpPr>
          <p:cNvPr id="184" name="Google Shape;184;p21"/>
          <p:cNvSpPr txBox="1"/>
          <p:nvPr/>
        </p:nvSpPr>
        <p:spPr>
          <a:xfrm>
            <a:off x="5986125" y="1645837"/>
            <a:ext cx="2331600" cy="30861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900"/>
              </a:spcBef>
              <a:spcAft>
                <a:spcPts val="0"/>
              </a:spcAft>
              <a:buNone/>
            </a:pPr>
            <a:r>
              <a:rPr b="1" lang="en" sz="800">
                <a:solidFill>
                  <a:schemeClr val="lt1"/>
                </a:solidFill>
              </a:rPr>
              <a:t>Dept. Administrator</a:t>
            </a:r>
            <a:r>
              <a:rPr lang="en" sz="800">
                <a:solidFill>
                  <a:schemeClr val="lt1"/>
                </a:solidFill>
              </a:rPr>
              <a:t>: Michael Rodriguez, 52 · CS Chair</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Problem</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Little visibility into which prereqs cause delays</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Relies on manual progress reviews</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Goals</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Spot bottlenecks</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Track student progression</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Support data-driven decisions</a:t>
            </a:r>
            <a:endParaRPr sz="800">
              <a:solidFill>
                <a:schemeClr val="lt1"/>
              </a:solidFill>
            </a:endParaRPr>
          </a:p>
          <a:p>
            <a:pPr indent="-215900" lvl="0" marL="342900" rtl="0" algn="l">
              <a:lnSpc>
                <a:spcPct val="110000"/>
              </a:lnSpc>
              <a:spcBef>
                <a:spcPts val="0"/>
              </a:spcBef>
              <a:spcAft>
                <a:spcPts val="0"/>
              </a:spcAft>
              <a:buClr>
                <a:schemeClr val="lt1"/>
              </a:buClr>
              <a:buSzPts val="800"/>
              <a:buChar char="●"/>
            </a:pPr>
            <a:r>
              <a:rPr lang="en" sz="800">
                <a:solidFill>
                  <a:schemeClr val="lt1"/>
                </a:solidFill>
              </a:rPr>
              <a:t>Raise grad rates</a:t>
            </a:r>
            <a:endParaRPr sz="800">
              <a:solidFill>
                <a:schemeClr val="lt1"/>
              </a:solidFill>
            </a:endParaRPr>
          </a:p>
          <a:p>
            <a:pPr indent="0" lvl="0" marL="0" rtl="0" algn="l">
              <a:lnSpc>
                <a:spcPct val="110000"/>
              </a:lnSpc>
              <a:spcBef>
                <a:spcPts val="900"/>
              </a:spcBef>
              <a:spcAft>
                <a:spcPts val="0"/>
              </a:spcAft>
              <a:buNone/>
            </a:pPr>
            <a:r>
              <a:rPr b="1" lang="en" sz="800">
                <a:solidFill>
                  <a:schemeClr val="lt1"/>
                </a:solidFill>
              </a:rPr>
              <a:t>How IAPO Helps</a:t>
            </a:r>
            <a:endParaRPr b="1" sz="800">
              <a:solidFill>
                <a:schemeClr val="lt1"/>
              </a:solidFill>
            </a:endParaRPr>
          </a:p>
          <a:p>
            <a:pPr indent="-215900" lvl="0" marL="342900" rtl="0" algn="l">
              <a:lnSpc>
                <a:spcPct val="110000"/>
              </a:lnSpc>
              <a:spcBef>
                <a:spcPts val="900"/>
              </a:spcBef>
              <a:spcAft>
                <a:spcPts val="0"/>
              </a:spcAft>
              <a:buClr>
                <a:schemeClr val="lt1"/>
              </a:buClr>
              <a:buSzPts val="800"/>
              <a:buChar char="●"/>
            </a:pPr>
            <a:r>
              <a:rPr lang="en" sz="800">
                <a:solidFill>
                  <a:schemeClr val="lt1"/>
                </a:solidFill>
              </a:rPr>
              <a:t>Surfaces bottlenecks from degree plans to guide curriculum planning</a:t>
            </a:r>
            <a:endParaRPr sz="800">
              <a:solidFill>
                <a:schemeClr val="lt1"/>
              </a:solidFill>
            </a:endParaRPr>
          </a:p>
          <a:p>
            <a:pPr indent="0" lvl="0" marL="0" rtl="0" algn="l">
              <a:lnSpc>
                <a:spcPct val="115000"/>
              </a:lnSpc>
              <a:spcBef>
                <a:spcPts val="900"/>
              </a:spcBef>
              <a:spcAft>
                <a:spcPts val="0"/>
              </a:spcAft>
              <a:buClr>
                <a:schemeClr val="dk1"/>
              </a:buClr>
              <a:buSzPts val="800"/>
              <a:buFont typeface="Arial"/>
              <a:buNone/>
            </a:pPr>
            <a:r>
              <a:t/>
            </a:r>
            <a:endParaRPr b="1" sz="800">
              <a:solidFill>
                <a:schemeClr val="lt1"/>
              </a:solidFill>
            </a:endParaRPr>
          </a:p>
          <a:p>
            <a:pPr indent="0" lvl="0" marL="0" rtl="0" algn="l">
              <a:spcBef>
                <a:spcPts val="900"/>
              </a:spcBef>
              <a:spcAft>
                <a:spcPts val="0"/>
              </a:spcAft>
              <a:buNone/>
            </a:pPr>
            <a:r>
              <a:t/>
            </a:r>
            <a:endParaRPr sz="1400">
              <a:solidFill>
                <a:schemeClr val="lt1"/>
              </a:solidFill>
            </a:endParaRPr>
          </a:p>
        </p:txBody>
      </p:sp>
      <p:cxnSp>
        <p:nvCxnSpPr>
          <p:cNvPr id="185" name="Google Shape;185;p21"/>
          <p:cNvCxnSpPr/>
          <p:nvPr/>
        </p:nvCxnSpPr>
        <p:spPr>
          <a:xfrm>
            <a:off x="2816888" y="1758056"/>
            <a:ext cx="0" cy="2784900"/>
          </a:xfrm>
          <a:prstGeom prst="straightConnector1">
            <a:avLst/>
          </a:prstGeom>
          <a:noFill/>
          <a:ln cap="flat" cmpd="sng" w="7150">
            <a:solidFill>
              <a:srgbClr val="B7B7B7"/>
            </a:solidFill>
            <a:prstDash val="solid"/>
            <a:round/>
            <a:headEnd len="med" w="med" type="none"/>
            <a:tailEnd len="med" w="med" type="none"/>
          </a:ln>
        </p:spPr>
      </p:cxnSp>
      <p:cxnSp>
        <p:nvCxnSpPr>
          <p:cNvPr id="186" name="Google Shape;186;p21"/>
          <p:cNvCxnSpPr/>
          <p:nvPr/>
        </p:nvCxnSpPr>
        <p:spPr>
          <a:xfrm>
            <a:off x="5632838" y="1716488"/>
            <a:ext cx="0" cy="2784900"/>
          </a:xfrm>
          <a:prstGeom prst="straightConnector1">
            <a:avLst/>
          </a:prstGeom>
          <a:noFill/>
          <a:ln cap="flat" cmpd="sng" w="7150">
            <a:solidFill>
              <a:srgbClr val="B7B7B7"/>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579879" y="449180"/>
            <a:ext cx="6275400" cy="8232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100000"/>
              </a:lnSpc>
              <a:spcBef>
                <a:spcPts val="0"/>
              </a:spcBef>
              <a:spcAft>
                <a:spcPts val="0"/>
              </a:spcAft>
              <a:buClr>
                <a:schemeClr val="dk1"/>
              </a:buClr>
              <a:buSzPct val="117857"/>
              <a:buFont typeface="Arial"/>
              <a:buNone/>
            </a:pPr>
            <a:r>
              <a:rPr lang="en"/>
              <a:t>Minimum Viable Product (core features)</a:t>
            </a:r>
            <a:endParaRPr/>
          </a:p>
        </p:txBody>
      </p:sp>
      <p:sp>
        <p:nvSpPr>
          <p:cNvPr id="192" name="Google Shape;192;p22"/>
          <p:cNvSpPr txBox="1"/>
          <p:nvPr>
            <p:ph idx="1" type="body"/>
          </p:nvPr>
        </p:nvSpPr>
        <p:spPr>
          <a:xfrm>
            <a:off x="579874" y="1484203"/>
            <a:ext cx="7819200" cy="2919000"/>
          </a:xfrm>
          <a:prstGeom prst="rect">
            <a:avLst/>
          </a:prstGeom>
          <a:noFill/>
          <a:ln>
            <a:noFill/>
          </a:ln>
        </p:spPr>
        <p:txBody>
          <a:bodyPr anchorCtr="0" anchor="t" bIns="34275" lIns="68575" spcFirstLastPara="1" rIns="68575" wrap="square" tIns="34275">
            <a:normAutofit/>
          </a:bodyPr>
          <a:lstStyle/>
          <a:p>
            <a:pPr indent="-254000" lvl="0" marL="342900" rtl="0" algn="l">
              <a:lnSpc>
                <a:spcPct val="110000"/>
              </a:lnSpc>
              <a:spcBef>
                <a:spcPts val="0"/>
              </a:spcBef>
              <a:spcAft>
                <a:spcPts val="0"/>
              </a:spcAft>
              <a:buClr>
                <a:schemeClr val="lt1"/>
              </a:buClr>
              <a:buSzPts val="1400"/>
              <a:buChar char="●"/>
            </a:pPr>
            <a:r>
              <a:rPr lang="en"/>
              <a:t>A user-friendly interface in which the user can interact with the AI tied to the app to receive feedback based on the input</a:t>
            </a:r>
            <a:endParaRPr/>
          </a:p>
          <a:p>
            <a:pPr indent="-254000" lvl="0" marL="342900" rtl="0" algn="l">
              <a:lnSpc>
                <a:spcPct val="110000"/>
              </a:lnSpc>
              <a:spcBef>
                <a:spcPts val="0"/>
              </a:spcBef>
              <a:spcAft>
                <a:spcPts val="0"/>
              </a:spcAft>
              <a:buClr>
                <a:schemeClr val="lt1"/>
              </a:buClr>
              <a:buSzPts val="1400"/>
              <a:buChar char="●"/>
            </a:pPr>
            <a:r>
              <a:rPr lang="en"/>
              <a:t>A text input in which students can specify their particular academic needs to the AI</a:t>
            </a:r>
            <a:endParaRPr/>
          </a:p>
          <a:p>
            <a:pPr indent="-254000" lvl="0" marL="342900" rtl="0" algn="l">
              <a:lnSpc>
                <a:spcPct val="110000"/>
              </a:lnSpc>
              <a:spcBef>
                <a:spcPts val="0"/>
              </a:spcBef>
              <a:spcAft>
                <a:spcPts val="0"/>
              </a:spcAft>
              <a:buClr>
                <a:schemeClr val="lt1"/>
              </a:buClr>
              <a:buSzPts val="1400"/>
              <a:buChar char="●"/>
            </a:pPr>
            <a:r>
              <a:rPr lang="en"/>
              <a:t>A clearly visible feedback mechanism which users can utilize to inform developers about the AI, particularly in cases when it generates incorrect information or hallucinates</a:t>
            </a:r>
            <a:endParaRPr/>
          </a:p>
          <a:p>
            <a:pPr indent="-254000" lvl="0" marL="342900" rtl="0" algn="l">
              <a:lnSpc>
                <a:spcPct val="110000"/>
              </a:lnSpc>
              <a:spcBef>
                <a:spcPts val="0"/>
              </a:spcBef>
              <a:spcAft>
                <a:spcPts val="0"/>
              </a:spcAft>
              <a:buClr>
                <a:schemeClr val="lt1"/>
              </a:buClr>
              <a:buSzPts val="1400"/>
              <a:buChar char="●"/>
            </a:pPr>
            <a:r>
              <a:rPr lang="en"/>
              <a:t>A means for users to select the major that they are pursuing and at which level, be it undergraduate or graduate</a:t>
            </a:r>
            <a:endParaRPr/>
          </a:p>
          <a:p>
            <a:pPr indent="-254000" lvl="0" marL="342900" rtl="0" algn="l">
              <a:lnSpc>
                <a:spcPct val="110000"/>
              </a:lnSpc>
              <a:spcBef>
                <a:spcPts val="0"/>
              </a:spcBef>
              <a:spcAft>
                <a:spcPts val="0"/>
              </a:spcAft>
              <a:buClr>
                <a:schemeClr val="lt1"/>
              </a:buClr>
              <a:buSzPts val="1400"/>
              <a:buChar char="●"/>
            </a:pPr>
            <a:r>
              <a:rPr lang="en"/>
              <a:t>Output from the AI which consists of the classes that the students should take based on specified major as well as any text input for specific academic needs in the prompt, and in which semesters these students should take specific classes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293179" y="550355"/>
            <a:ext cx="6275400" cy="823200"/>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chemeClr val="dk1"/>
              </a:buClr>
              <a:buSzPts val="3300"/>
              <a:buFont typeface="Arial"/>
              <a:buNone/>
            </a:pPr>
            <a:r>
              <a:rPr lang="en"/>
              <a:t>Tech Stack</a:t>
            </a:r>
            <a:endParaRPr/>
          </a:p>
        </p:txBody>
      </p:sp>
      <p:sp>
        <p:nvSpPr>
          <p:cNvPr id="198" name="Google Shape;198;p23"/>
          <p:cNvSpPr txBox="1"/>
          <p:nvPr/>
        </p:nvSpPr>
        <p:spPr>
          <a:xfrm>
            <a:off x="1048481" y="1402613"/>
            <a:ext cx="2037900" cy="3534000"/>
          </a:xfrm>
          <a:prstGeom prst="rect">
            <a:avLst/>
          </a:prstGeom>
          <a:no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rtl="0" algn="l">
              <a:spcBef>
                <a:spcPts val="0"/>
              </a:spcBef>
              <a:spcAft>
                <a:spcPts val="0"/>
              </a:spcAft>
              <a:buNone/>
            </a:pPr>
            <a:r>
              <a:rPr b="1" lang="en" sz="1800">
                <a:solidFill>
                  <a:schemeClr val="lt1"/>
                </a:solidFill>
              </a:rPr>
              <a:t>Frontend </a:t>
            </a:r>
            <a:endParaRPr b="1" sz="1800">
              <a:solidFill>
                <a:schemeClr val="lt1"/>
              </a:solidFill>
            </a:endParaRPr>
          </a:p>
          <a:p>
            <a:pPr indent="0" lvl="0" marL="0" rtl="0" algn="l">
              <a:spcBef>
                <a:spcPts val="0"/>
              </a:spcBef>
              <a:spcAft>
                <a:spcPts val="0"/>
              </a:spcAft>
              <a:buNone/>
            </a:pPr>
            <a:r>
              <a:rPr b="1" lang="en" sz="1800">
                <a:solidFill>
                  <a:schemeClr val="lt1"/>
                </a:solidFill>
              </a:rPr>
              <a:t>(React Website)</a:t>
            </a:r>
            <a:endParaRPr b="1" sz="1800">
              <a:solidFill>
                <a:schemeClr val="lt1"/>
              </a:solidFill>
            </a:endParaRPr>
          </a:p>
          <a:p>
            <a:pPr indent="0" lvl="0" marL="0" rtl="0" algn="l">
              <a:spcBef>
                <a:spcPts val="0"/>
              </a:spcBef>
              <a:spcAft>
                <a:spcPts val="0"/>
              </a:spcAft>
              <a:buNone/>
            </a:pPr>
            <a:r>
              <a:t/>
            </a: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Figma</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React JS</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Native CSS</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Email JS</a:t>
            </a:r>
            <a:endParaRPr b="1" sz="1800">
              <a:solidFill>
                <a:schemeClr val="lt1"/>
              </a:solidFill>
            </a:endParaRPr>
          </a:p>
        </p:txBody>
      </p:sp>
      <p:sp>
        <p:nvSpPr>
          <p:cNvPr id="199" name="Google Shape;199;p23"/>
          <p:cNvSpPr txBox="1"/>
          <p:nvPr/>
        </p:nvSpPr>
        <p:spPr>
          <a:xfrm>
            <a:off x="3166688" y="1402613"/>
            <a:ext cx="2267700" cy="3534000"/>
          </a:xfrm>
          <a:prstGeom prst="rect">
            <a:avLst/>
          </a:prstGeom>
          <a:no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rtl="0" algn="l">
              <a:spcBef>
                <a:spcPts val="0"/>
              </a:spcBef>
              <a:spcAft>
                <a:spcPts val="0"/>
              </a:spcAft>
              <a:buNone/>
            </a:pPr>
            <a:r>
              <a:rPr b="1" lang="en" sz="1800">
                <a:solidFill>
                  <a:schemeClr val="lt1"/>
                </a:solidFill>
              </a:rPr>
              <a:t>Backend </a:t>
            </a:r>
            <a:endParaRPr b="1" sz="1800">
              <a:solidFill>
                <a:schemeClr val="lt1"/>
              </a:solidFill>
            </a:endParaRPr>
          </a:p>
          <a:p>
            <a:pPr indent="0" lvl="0" marL="0" rtl="0" algn="l">
              <a:spcBef>
                <a:spcPts val="0"/>
              </a:spcBef>
              <a:spcAft>
                <a:spcPts val="0"/>
              </a:spcAft>
              <a:buNone/>
            </a:pPr>
            <a:r>
              <a:rPr b="1" lang="en" sz="1800">
                <a:solidFill>
                  <a:schemeClr val="lt1"/>
                </a:solidFill>
              </a:rPr>
              <a:t>(Web Server)</a:t>
            </a:r>
            <a:endParaRPr b="1" sz="1800">
              <a:solidFill>
                <a:schemeClr val="lt1"/>
              </a:solidFill>
            </a:endParaRPr>
          </a:p>
          <a:p>
            <a:pPr indent="0" lvl="0" marL="0" rtl="0" algn="l">
              <a:spcBef>
                <a:spcPts val="0"/>
              </a:spcBef>
              <a:spcAft>
                <a:spcPts val="0"/>
              </a:spcAft>
              <a:buNone/>
            </a:pPr>
            <a:r>
              <a:t/>
            </a: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Python 3.12 w. FastAPI</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Gemini API </a:t>
            </a:r>
            <a:br>
              <a:rPr b="1" lang="en" sz="1800">
                <a:solidFill>
                  <a:schemeClr val="lt1"/>
                </a:solidFill>
              </a:rPr>
            </a:br>
            <a:r>
              <a:rPr b="1" lang="en" sz="1800">
                <a:solidFill>
                  <a:schemeClr val="lt1"/>
                </a:solidFill>
              </a:rPr>
              <a:t>(AI Chat)</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AWS DynamoDB + S3 (Accounts)</a:t>
            </a:r>
            <a:endParaRPr b="1" sz="1800">
              <a:solidFill>
                <a:schemeClr val="lt1"/>
              </a:solidFill>
            </a:endParaRPr>
          </a:p>
        </p:txBody>
      </p:sp>
      <p:sp>
        <p:nvSpPr>
          <p:cNvPr id="200" name="Google Shape;200;p23"/>
          <p:cNvSpPr txBox="1"/>
          <p:nvPr/>
        </p:nvSpPr>
        <p:spPr>
          <a:xfrm>
            <a:off x="5514619" y="1402613"/>
            <a:ext cx="2585400" cy="3534000"/>
          </a:xfrm>
          <a:prstGeom prst="rect">
            <a:avLst/>
          </a:prstGeom>
          <a:no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rtl="0" algn="l">
              <a:spcBef>
                <a:spcPts val="0"/>
              </a:spcBef>
              <a:spcAft>
                <a:spcPts val="0"/>
              </a:spcAft>
              <a:buNone/>
            </a:pPr>
            <a:r>
              <a:rPr b="1" lang="en" sz="1800">
                <a:solidFill>
                  <a:schemeClr val="lt1"/>
                </a:solidFill>
              </a:rPr>
              <a:t>Web Hosting</a:t>
            </a:r>
            <a:endParaRPr b="1" sz="1800">
              <a:solidFill>
                <a:schemeClr val="lt1"/>
              </a:solidFill>
            </a:endParaRPr>
          </a:p>
          <a:p>
            <a:pPr indent="0" lvl="0" marL="0" rtl="0" algn="l">
              <a:spcBef>
                <a:spcPts val="0"/>
              </a:spcBef>
              <a:spcAft>
                <a:spcPts val="0"/>
              </a:spcAft>
              <a:buNone/>
            </a:pPr>
            <a:r>
              <a:t/>
            </a: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Github Pages (Frontend)</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PythonAnywhere (Web Server)</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AWS </a:t>
            </a:r>
            <a:br>
              <a:rPr b="1" lang="en" sz="1800">
                <a:solidFill>
                  <a:schemeClr val="lt1"/>
                </a:solidFill>
              </a:rPr>
            </a:br>
            <a:r>
              <a:rPr b="1" lang="en" sz="1800">
                <a:solidFill>
                  <a:schemeClr val="lt1"/>
                </a:solidFill>
              </a:rPr>
              <a:t>(User Storage)</a:t>
            </a:r>
            <a:br>
              <a:rPr b="1" lang="en" sz="1800">
                <a:solidFill>
                  <a:schemeClr val="lt1"/>
                </a:solidFill>
              </a:rPr>
            </a:br>
            <a:endParaRPr b="1" sz="1800">
              <a:solidFill>
                <a:schemeClr val="lt1"/>
              </a:solidFill>
            </a:endParaRPr>
          </a:p>
          <a:p>
            <a:pPr indent="-279400" lvl="0" marL="342900" rtl="0" algn="l">
              <a:spcBef>
                <a:spcPts val="0"/>
              </a:spcBef>
              <a:spcAft>
                <a:spcPts val="0"/>
              </a:spcAft>
              <a:buClr>
                <a:schemeClr val="lt1"/>
              </a:buClr>
              <a:buSzPts val="1800"/>
              <a:buChar char="-"/>
            </a:pPr>
            <a:r>
              <a:rPr b="1" lang="en" sz="1800">
                <a:solidFill>
                  <a:schemeClr val="lt1"/>
                </a:solidFill>
              </a:rPr>
              <a:t>Gemini (AI Server)</a:t>
            </a:r>
            <a:endParaRPr b="1" sz="1800">
              <a:solidFill>
                <a:schemeClr val="lt1"/>
              </a:solidFill>
            </a:endParaRPr>
          </a:p>
          <a:p>
            <a:pPr indent="0" lvl="0" marL="0" rtl="0" algn="l">
              <a:spcBef>
                <a:spcPts val="0"/>
              </a:spcBef>
              <a:spcAft>
                <a:spcPts val="0"/>
              </a:spcAft>
              <a:buNone/>
            </a:pPr>
            <a:r>
              <a:t/>
            </a:r>
            <a:endParaRPr b="1" sz="18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390906" y="7338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Algorithms</a:t>
            </a:r>
            <a:endParaRPr/>
          </a:p>
        </p:txBody>
      </p:sp>
      <p:sp>
        <p:nvSpPr>
          <p:cNvPr id="206" name="Google Shape;206;p24"/>
          <p:cNvSpPr txBox="1"/>
          <p:nvPr>
            <p:ph idx="1" type="body"/>
          </p:nvPr>
        </p:nvSpPr>
        <p:spPr>
          <a:xfrm>
            <a:off x="390906" y="1933956"/>
            <a:ext cx="8367000" cy="28257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390900" y="244753"/>
            <a:ext cx="8367000" cy="5580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Systems Architecture</a:t>
            </a:r>
            <a:endParaRPr/>
          </a:p>
        </p:txBody>
      </p:sp>
      <p:pic>
        <p:nvPicPr>
          <p:cNvPr id="212" name="Google Shape;212;p25"/>
          <p:cNvPicPr preferRelativeResize="0"/>
          <p:nvPr/>
        </p:nvPicPr>
        <p:blipFill>
          <a:blip r:embed="rId3">
            <a:alphaModFix/>
          </a:blip>
          <a:stretch>
            <a:fillRect/>
          </a:stretch>
        </p:blipFill>
        <p:spPr>
          <a:xfrm>
            <a:off x="793250" y="862403"/>
            <a:ext cx="7115305" cy="40359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390900" y="253178"/>
            <a:ext cx="8367000" cy="621000"/>
          </a:xfrm>
          <a:prstGeom prst="rect">
            <a:avLst/>
          </a:prstGeom>
        </p:spPr>
        <p:txBody>
          <a:bodyPr anchorCtr="0" anchor="t" bIns="34275" lIns="68575" spcFirstLastPara="1" rIns="68575" wrap="square" tIns="34275">
            <a:normAutofit/>
          </a:bodyPr>
          <a:lstStyle/>
          <a:p>
            <a:pPr indent="0" lvl="0" marL="0" rtl="0" algn="ctr">
              <a:spcBef>
                <a:spcPts val="0"/>
              </a:spcBef>
              <a:spcAft>
                <a:spcPts val="0"/>
              </a:spcAft>
              <a:buNone/>
            </a:pPr>
            <a:r>
              <a:rPr lang="en"/>
              <a:t>Database Design</a:t>
            </a:r>
            <a:endParaRPr/>
          </a:p>
        </p:txBody>
      </p:sp>
      <p:pic>
        <p:nvPicPr>
          <p:cNvPr id="218" name="Google Shape;218;p26" title="Screenshot 2026-07-12 at 9.31.15 AM.png"/>
          <p:cNvPicPr preferRelativeResize="0"/>
          <p:nvPr/>
        </p:nvPicPr>
        <p:blipFill>
          <a:blip r:embed="rId3">
            <a:alphaModFix/>
          </a:blip>
          <a:stretch>
            <a:fillRect/>
          </a:stretch>
        </p:blipFill>
        <p:spPr>
          <a:xfrm>
            <a:off x="2361351" y="717650"/>
            <a:ext cx="4291948" cy="43378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ph type="title"/>
          </p:nvPr>
        </p:nvSpPr>
        <p:spPr>
          <a:xfrm>
            <a:off x="355131" y="3332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Product &amp; Sprint 1 Backlog</a:t>
            </a:r>
            <a:endParaRPr/>
          </a:p>
        </p:txBody>
      </p:sp>
      <p:sp>
        <p:nvSpPr>
          <p:cNvPr id="224" name="Google Shape;224;p27"/>
          <p:cNvSpPr txBox="1"/>
          <p:nvPr/>
        </p:nvSpPr>
        <p:spPr>
          <a:xfrm>
            <a:off x="1073100" y="887025"/>
            <a:ext cx="624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https://github.com/orgs/2026-PaceU-Capstone/projects/2/views/1</a:t>
            </a:r>
            <a:endParaRPr/>
          </a:p>
        </p:txBody>
      </p:sp>
      <p:pic>
        <p:nvPicPr>
          <p:cNvPr id="225" name="Google Shape;225;p27"/>
          <p:cNvPicPr preferRelativeResize="0"/>
          <p:nvPr/>
        </p:nvPicPr>
        <p:blipFill>
          <a:blip r:embed="rId4">
            <a:alphaModFix/>
          </a:blip>
          <a:stretch>
            <a:fillRect/>
          </a:stretch>
        </p:blipFill>
        <p:spPr>
          <a:xfrm>
            <a:off x="839175" y="1354081"/>
            <a:ext cx="6880694" cy="340809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388506" y="2128781"/>
            <a:ext cx="8367000" cy="1097400"/>
          </a:xfrm>
          <a:prstGeom prst="rect">
            <a:avLst/>
          </a:prstGeom>
        </p:spPr>
        <p:txBody>
          <a:bodyPr anchorCtr="0" anchor="t" bIns="34275" lIns="68575" spcFirstLastPara="1" rIns="68575" wrap="square" tIns="34275">
            <a:normAutofit/>
          </a:bodyPr>
          <a:lstStyle/>
          <a:p>
            <a:pPr indent="0" lvl="0" marL="0" rtl="0" algn="ctr">
              <a:spcBef>
                <a:spcPts val="0"/>
              </a:spcBef>
              <a:spcAft>
                <a:spcPts val="0"/>
              </a:spcAft>
              <a:buNone/>
            </a:pPr>
            <a:r>
              <a:rPr b="1" lang="en" sz="3600"/>
              <a:t>Metrics</a:t>
            </a:r>
            <a:endParaRPr b="1" sz="3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9"/>
          <p:cNvSpPr txBox="1"/>
          <p:nvPr>
            <p:ph type="title"/>
          </p:nvPr>
        </p:nvSpPr>
        <p:spPr>
          <a:xfrm>
            <a:off x="340825" y="233053"/>
            <a:ext cx="8367000" cy="605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Team Velocity</a:t>
            </a:r>
            <a:endParaRPr/>
          </a:p>
        </p:txBody>
      </p:sp>
      <p:pic>
        <p:nvPicPr>
          <p:cNvPr id="236" name="Google Shape;236;p29" title="Points scored"/>
          <p:cNvPicPr preferRelativeResize="0"/>
          <p:nvPr/>
        </p:nvPicPr>
        <p:blipFill>
          <a:blip r:embed="rId3">
            <a:alphaModFix/>
          </a:blip>
          <a:stretch>
            <a:fillRect/>
          </a:stretch>
        </p:blipFill>
        <p:spPr>
          <a:xfrm>
            <a:off x="796225" y="838453"/>
            <a:ext cx="6469401" cy="400024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312200" y="204428"/>
            <a:ext cx="8367000" cy="512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Burndown</a:t>
            </a:r>
            <a:endParaRPr/>
          </a:p>
        </p:txBody>
      </p:sp>
      <p:pic>
        <p:nvPicPr>
          <p:cNvPr id="242" name="Google Shape;242;p30" title="Points scored"/>
          <p:cNvPicPr preferRelativeResize="0"/>
          <p:nvPr/>
        </p:nvPicPr>
        <p:blipFill>
          <a:blip r:embed="rId3">
            <a:alphaModFix/>
          </a:blip>
          <a:stretch>
            <a:fillRect/>
          </a:stretch>
        </p:blipFill>
        <p:spPr>
          <a:xfrm>
            <a:off x="452850" y="833453"/>
            <a:ext cx="6666099" cy="412187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431431" y="471306"/>
            <a:ext cx="8367000" cy="1097400"/>
          </a:xfrm>
          <a:prstGeom prst="rect">
            <a:avLst/>
          </a:prstGeom>
        </p:spPr>
        <p:txBody>
          <a:bodyPr anchorCtr="0" anchor="t" bIns="34275" lIns="68575" spcFirstLastPara="1" rIns="68575" wrap="square" tIns="34275">
            <a:normAutofit/>
          </a:bodyPr>
          <a:lstStyle/>
          <a:p>
            <a:pPr indent="0" lvl="0" marL="0" rtl="0" algn="ctr">
              <a:spcBef>
                <a:spcPts val="0"/>
              </a:spcBef>
              <a:spcAft>
                <a:spcPts val="0"/>
              </a:spcAft>
              <a:buNone/>
            </a:pPr>
            <a:r>
              <a:rPr lang="en"/>
              <a:t>Completed/Committed Ratio</a:t>
            </a:r>
            <a:endParaRPr/>
          </a:p>
        </p:txBody>
      </p:sp>
      <p:sp>
        <p:nvSpPr>
          <p:cNvPr id="248" name="Google Shape;248;p31"/>
          <p:cNvSpPr txBox="1"/>
          <p:nvPr>
            <p:ph idx="1" type="body"/>
          </p:nvPr>
        </p:nvSpPr>
        <p:spPr>
          <a:xfrm>
            <a:off x="3064504" y="1626350"/>
            <a:ext cx="3015000" cy="2825700"/>
          </a:xfrm>
          <a:prstGeom prst="rect">
            <a:avLst/>
          </a:prstGeom>
        </p:spPr>
        <p:txBody>
          <a:bodyPr anchorCtr="0" anchor="t" bIns="34275" lIns="68575" spcFirstLastPara="1" rIns="68575" wrap="square" tIns="34275">
            <a:normAutofit/>
          </a:bodyPr>
          <a:lstStyle/>
          <a:p>
            <a:pPr indent="0" lvl="0" marL="0" rtl="0" algn="ctr">
              <a:spcBef>
                <a:spcPts val="800"/>
              </a:spcBef>
              <a:spcAft>
                <a:spcPts val="1200"/>
              </a:spcAft>
              <a:buNone/>
            </a:pPr>
            <a:r>
              <a:rPr b="1" lang="en" sz="2400"/>
              <a:t>22</a:t>
            </a:r>
            <a:r>
              <a:rPr b="1" lang="en" sz="2400"/>
              <a:t>/24, 91%</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355131" y="3332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Stories Committed to Sprint 2 (All)</a:t>
            </a:r>
            <a:endParaRPr/>
          </a:p>
        </p:txBody>
      </p:sp>
      <p:sp>
        <p:nvSpPr>
          <p:cNvPr id="254" name="Google Shape;254;p32"/>
          <p:cNvSpPr txBox="1"/>
          <p:nvPr/>
        </p:nvSpPr>
        <p:spPr>
          <a:xfrm>
            <a:off x="1073100" y="887025"/>
            <a:ext cx="624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https://github.com/orgs/2026-PaceU-Capstone/projects/2/views/1</a:t>
            </a:r>
            <a:endParaRPr/>
          </a:p>
        </p:txBody>
      </p:sp>
      <p:pic>
        <p:nvPicPr>
          <p:cNvPr id="255" name="Google Shape;255;p32"/>
          <p:cNvPicPr preferRelativeResize="0"/>
          <p:nvPr/>
        </p:nvPicPr>
        <p:blipFill>
          <a:blip r:embed="rId4">
            <a:alphaModFix/>
          </a:blip>
          <a:stretch>
            <a:fillRect/>
          </a:stretch>
        </p:blipFill>
        <p:spPr>
          <a:xfrm>
            <a:off x="839175" y="1354081"/>
            <a:ext cx="6880694" cy="340809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3"/>
          <p:cNvSpPr txBox="1"/>
          <p:nvPr>
            <p:ph type="title"/>
          </p:nvPr>
        </p:nvSpPr>
        <p:spPr>
          <a:xfrm>
            <a:off x="390906" y="7338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Project Demo</a:t>
            </a:r>
            <a:endParaRPr/>
          </a:p>
        </p:txBody>
      </p:sp>
      <p:sp>
        <p:nvSpPr>
          <p:cNvPr id="261" name="Google Shape;261;p33"/>
          <p:cNvSpPr txBox="1"/>
          <p:nvPr>
            <p:ph idx="1" type="body"/>
          </p:nvPr>
        </p:nvSpPr>
        <p:spPr>
          <a:xfrm>
            <a:off x="390906" y="1933956"/>
            <a:ext cx="8367000" cy="2825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-Frontend Demo</a:t>
            </a:r>
            <a:endParaRPr/>
          </a:p>
          <a:p>
            <a:pPr indent="0" lvl="0" marL="0" rtl="0" algn="l">
              <a:spcBef>
                <a:spcPts val="1200"/>
              </a:spcBef>
              <a:spcAft>
                <a:spcPts val="0"/>
              </a:spcAft>
              <a:buNone/>
            </a:pPr>
            <a:r>
              <a:rPr lang="en"/>
              <a:t>-Backend Demo</a:t>
            </a:r>
            <a:endParaRPr/>
          </a:p>
          <a:p>
            <a:pPr indent="0" lvl="0" marL="0" rtl="0" algn="l">
              <a:spcBef>
                <a:spcPts val="1200"/>
              </a:spcBef>
              <a:spcAft>
                <a:spcPts val="1200"/>
              </a:spcAft>
              <a:buNone/>
            </a:pPr>
            <a:r>
              <a:rPr lang="en"/>
              <a:t>-AI Demo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390906" y="7338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Frontend Demo</a:t>
            </a:r>
            <a:endParaRPr/>
          </a:p>
        </p:txBody>
      </p:sp>
      <p:sp>
        <p:nvSpPr>
          <p:cNvPr id="267" name="Google Shape;267;p34"/>
          <p:cNvSpPr txBox="1"/>
          <p:nvPr>
            <p:ph idx="1" type="body"/>
          </p:nvPr>
        </p:nvSpPr>
        <p:spPr>
          <a:xfrm>
            <a:off x="390906" y="1933956"/>
            <a:ext cx="8367000" cy="28257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390906" y="7338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Backend Demo</a:t>
            </a:r>
            <a:endParaRPr/>
          </a:p>
        </p:txBody>
      </p:sp>
      <p:sp>
        <p:nvSpPr>
          <p:cNvPr id="273" name="Google Shape;273;p35"/>
          <p:cNvSpPr txBox="1"/>
          <p:nvPr>
            <p:ph idx="1" type="body"/>
          </p:nvPr>
        </p:nvSpPr>
        <p:spPr>
          <a:xfrm>
            <a:off x="390906" y="1933956"/>
            <a:ext cx="8367000" cy="28257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6"/>
          <p:cNvSpPr txBox="1"/>
          <p:nvPr>
            <p:ph type="title"/>
          </p:nvPr>
        </p:nvSpPr>
        <p:spPr>
          <a:xfrm>
            <a:off x="390906" y="7338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AI Demo</a:t>
            </a:r>
            <a:endParaRPr/>
          </a:p>
        </p:txBody>
      </p:sp>
      <p:sp>
        <p:nvSpPr>
          <p:cNvPr id="279" name="Google Shape;279;p36"/>
          <p:cNvSpPr txBox="1"/>
          <p:nvPr>
            <p:ph idx="1" type="body"/>
          </p:nvPr>
        </p:nvSpPr>
        <p:spPr>
          <a:xfrm>
            <a:off x="390906" y="1933956"/>
            <a:ext cx="8367000" cy="28257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type="title"/>
          </p:nvPr>
        </p:nvSpPr>
        <p:spPr>
          <a:xfrm>
            <a:off x="498181" y="132881"/>
            <a:ext cx="8367000" cy="1097400"/>
          </a:xfrm>
          <a:prstGeom prst="rect">
            <a:avLst/>
          </a:prstGeom>
        </p:spPr>
        <p:txBody>
          <a:bodyPr anchorCtr="0" anchor="t" bIns="34275" lIns="68575" spcFirstLastPara="1" rIns="68575" wrap="square" tIns="34275">
            <a:normAutofit/>
          </a:bodyPr>
          <a:lstStyle/>
          <a:p>
            <a:pPr indent="0" lvl="0" marL="0" rtl="0" algn="ctr">
              <a:spcBef>
                <a:spcPts val="0"/>
              </a:spcBef>
              <a:spcAft>
                <a:spcPts val="0"/>
              </a:spcAft>
              <a:buNone/>
            </a:pPr>
            <a:r>
              <a:rPr lang="en"/>
              <a:t>Retrospective</a:t>
            </a:r>
            <a:endParaRPr/>
          </a:p>
          <a:p>
            <a:pPr indent="0" lvl="0" marL="0" rtl="0" algn="ctr">
              <a:spcBef>
                <a:spcPts val="0"/>
              </a:spcBef>
              <a:spcAft>
                <a:spcPts val="0"/>
              </a:spcAft>
              <a:buNone/>
            </a:pPr>
            <a:r>
              <a:t/>
            </a:r>
            <a:endParaRPr/>
          </a:p>
        </p:txBody>
      </p:sp>
      <p:sp>
        <p:nvSpPr>
          <p:cNvPr id="285" name="Google Shape;285;p37"/>
          <p:cNvSpPr txBox="1"/>
          <p:nvPr/>
        </p:nvSpPr>
        <p:spPr>
          <a:xfrm>
            <a:off x="1853450" y="623850"/>
            <a:ext cx="5329500" cy="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u="sng">
                <a:solidFill>
                  <a:schemeClr val="hlink"/>
                </a:solidFill>
                <a:latin typeface="Lato"/>
                <a:ea typeface="Lato"/>
                <a:cs typeface="Lato"/>
                <a:sym typeface="Lato"/>
                <a:hlinkClick r:id="rId3"/>
              </a:rPr>
              <a:t>https://ideaboardz.com/for/Sprint%201%20Retrospective/5796994</a:t>
            </a:r>
            <a:endParaRPr sz="1300">
              <a:solidFill>
                <a:schemeClr val="lt1"/>
              </a:solidFill>
              <a:latin typeface="Lato"/>
              <a:ea typeface="Lato"/>
              <a:cs typeface="Lato"/>
              <a:sym typeface="Lato"/>
            </a:endParaRPr>
          </a:p>
        </p:txBody>
      </p:sp>
      <p:pic>
        <p:nvPicPr>
          <p:cNvPr id="286" name="Google Shape;286;p37"/>
          <p:cNvPicPr preferRelativeResize="0"/>
          <p:nvPr/>
        </p:nvPicPr>
        <p:blipFill>
          <a:blip r:embed="rId4">
            <a:alphaModFix/>
          </a:blip>
          <a:stretch>
            <a:fillRect/>
          </a:stretch>
        </p:blipFill>
        <p:spPr>
          <a:xfrm>
            <a:off x="231938" y="1110831"/>
            <a:ext cx="8572517" cy="36084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8"/>
          <p:cNvSpPr txBox="1"/>
          <p:nvPr>
            <p:ph type="title"/>
          </p:nvPr>
        </p:nvSpPr>
        <p:spPr>
          <a:xfrm>
            <a:off x="390906" y="733806"/>
            <a:ext cx="8367000" cy="10974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rPr lang="en"/>
              <a:t>Links:</a:t>
            </a:r>
            <a:endParaRPr/>
          </a:p>
        </p:txBody>
      </p:sp>
      <p:sp>
        <p:nvSpPr>
          <p:cNvPr id="292" name="Google Shape;292;p38"/>
          <p:cNvSpPr txBox="1"/>
          <p:nvPr>
            <p:ph idx="1" type="body"/>
          </p:nvPr>
        </p:nvSpPr>
        <p:spPr>
          <a:xfrm>
            <a:off x="390906" y="1959256"/>
            <a:ext cx="8367000" cy="2825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Github: </a:t>
            </a:r>
            <a:r>
              <a:rPr lang="en" sz="1200"/>
              <a:t>https://github.com/htmw/CS691-Summer2026-Team1/wiki#sprint-0</a:t>
            </a:r>
            <a:r>
              <a:rPr lang="en" sz="1100"/>
              <a:t> </a:t>
            </a:r>
            <a:endParaRPr/>
          </a:p>
          <a:p>
            <a:pPr indent="0" lvl="0" marL="0" rtl="0" algn="l">
              <a:spcBef>
                <a:spcPts val="1200"/>
              </a:spcBef>
              <a:spcAft>
                <a:spcPts val="1200"/>
              </a:spcAft>
              <a:buNone/>
            </a:pPr>
            <a:r>
              <a:rPr lang="en"/>
              <a:t>Kanban Board: https://github.com/orgs/2026-PaceU-Capstone/projects/2/views/1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